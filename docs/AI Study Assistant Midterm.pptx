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DM Sans" pitchFamily="34"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Ali Belhrak. My project is the AI Study Assistant. This is a quick status update: who I am, what the project is, and the diagrams I have made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working on this project by myself, so I cover all the roles: I manage the project, do the analysis and design, and build it. Everything is in my team repository, GVSU-CIS641-AIStudyAssistant.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keep their work in many different places. Due dates are in Blackboard, study time is in a calendar, notes are in a folder, and nobody really tracks how many hours they studied for each course. Because these tools don’t talk to each other, you can see an exam is coming but not that you’re behind on it. Most students only notice a day or two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system puts everything in one place. Students add their courses with a weekly study goal, add assignments and exams with due dates and priorities, plan study sessions, upload materials, and track hours studied. The main feature is the AI recommendation: it tells the student which course to focus on and gives a plan of study sessions they can accept or dismiss.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to reveal each step. The recommender is a hybrid. First, rules calculate the study gap for each upcoming task: the hours it needs minus the hours already studied and planned. Then the rules rank the gaps and build a plan. Only then does a language model write a short message and reason. The model never changes the numbers. If the model is down, the system uses rule-based text instead. Finally the student accepts or dismisses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The student uses the React app in the browser. It talks to the Express server only through /api. The server has three parts: the REST API with login, the rule engine, and the LLM service. It stores data in MongoDB and files in an uploads folder. The LLM is optional; I use Llama 3.2 locally with Ollama, so it costs nothing. Docker Compose starts everything with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class diagram. A Student creates Courses, and each Course contains Tasks, Materials and Study Logs. The Student has one Study Schedule made of Study Sessions. On the left, the RecommendationEngine analyzes the student and creates Recommendations. Each Recommendation is about one Task and proposes one or more Study Sessions. Tasks also trigger Reminders.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CRC cards for the three most important classes. The RecommendationEngine finds upcoming tasks, calculates the study gap, ranks them and builds a plan. The Course keeps its tasks, files and study time and reports progress against the weekly goal. A Recommendation knows its message and the task it is about, and adds its sessions to the schedule when the student accepts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to reveal each group of steps. This sequence diagram shows the main use case. The student opens the dashboard, and the server gets their deadlines and study hours from the database. Then it asks the AI model for the advice, and the recommendation is shown to the student. When the student clicks Accept, the server saves the new study sessions and the schedule updates. Solid arrows are messages and dashed arrows are replies.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state machine shows the life of one recommendation. It is created when the student has a deadline coming and has not studied enough. It stays Pending until the student decides. If they accept, it becomes Accepted and the sessions go into the schedule. If they dismiss it, it becomes Dismissed and is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I have the proposal, the requirements specification, and all the design diagrams, plus an early prototype of the main screens and the recommendation rules. Next I’ll connect the screens to the real back end, add accounts, plug in the local Llama model, and test each objective, for example that a student with an exam in three days and no study time gets that course recommended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my status update. Thank you, and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D2A3A"/>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40"/>
            <a:ext cx="10566400" cy="4480560"/>
          </a:xfrm>
          <a:prstGeom prst="rect">
            <a:avLst/>
          </a:prstGeom>
          <a:noFill/>
          <a:ln/>
        </p:spPr>
        <p:txBody>
          <a:bodyPr wrap="square" lIns="0" tIns="0" rIns="0" bIns="0" rtlCol="0" anchor="t"/>
          <a:lstStyle>
            <a:lvl1pPr algn="l" indent="0" marL="0">
              <a:lnSpc>
                <a:spcPct val="140000"/>
              </a:lnSpc>
              <a:buNone/>
              <a:defRPr lang="en-US" sz="1600" dirty="0">
                <a:solidFill>
                  <a:srgbClr val="141413"/>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F6F5F1"/>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40"/>
            <a:ext cx="10566400" cy="4480560"/>
          </a:xfrm>
          <a:prstGeom prst="rect">
            <a:avLst/>
          </a:prstGeom>
          <a:noFill/>
          <a:ln/>
        </p:spPr>
        <p:txBody>
          <a:bodyPr wrap="square" lIns="0" tIns="0" rIns="0" bIns="0" rtlCol="0" anchor="t"/>
          <a:lstStyle>
            <a:lvl1pPr algn="l" indent="0" marL="0">
              <a:lnSpc>
                <a:spcPct val="140000"/>
              </a:lnSpc>
              <a:buNone/>
              <a:defRPr lang="en-US" sz="1600" dirty="0">
                <a:solidFill>
                  <a:srgbClr val="F6F5F1"/>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D2A3A"/>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40"/>
            <a:ext cx="10566400" cy="4480560"/>
          </a:xfrm>
          <a:prstGeom prst="rect">
            <a:avLst/>
          </a:prstGeom>
          <a:noFill/>
          <a:ln/>
        </p:spPr>
        <p:txBody>
          <a:bodyPr wrap="square" lIns="0" tIns="0" rIns="0" bIns="0" rtlCol="0" anchor="t"/>
          <a:lstStyle>
            <a:lvl1pPr algn="l" indent="0" marL="0">
              <a:lnSpc>
                <a:spcPct val="140000"/>
              </a:lnSpc>
              <a:buNone/>
              <a:defRPr lang="en-US" sz="1600" dirty="0">
                <a:solidFill>
                  <a:srgbClr val="141413"/>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7493000" y="762000"/>
            <a:ext cx="4064000" cy="4064000"/>
          </a:xfrm>
          <a:prstGeom prst="rect">
            <a:avLst/>
          </a:prstGeom>
        </p:spPr>
      </p:pic>
      <p:pic>
        <p:nvPicPr>
          <p:cNvPr id="3" name="Image 1" descr="ellipse">    </p:cNvPr>
          <p:cNvPicPr>
            <a:picLocks noChangeAspect="1"/>
          </p:cNvPicPr>
          <p:nvPr/>
        </p:nvPicPr>
        <p:blipFill>
          <a:blip r:embed="rId2"/>
          <a:srcRect l="0" r="0" t="0" b="0"/>
          <a:stretch/>
        </p:blipFill>
        <p:spPr>
          <a:xfrm>
            <a:off x="8763000" y="2032000"/>
            <a:ext cx="1905000" cy="1905000"/>
          </a:xfrm>
          <a:prstGeom prst="rect">
            <a:avLst/>
          </a:prstGeom>
        </p:spPr>
      </p:pic>
      <p:pic>
        <p:nvPicPr>
          <p:cNvPr id="4" name="Image 2" descr="ellipse">    </p:cNvPr>
          <p:cNvPicPr>
            <a:picLocks noChangeAspect="1"/>
          </p:cNvPicPr>
          <p:nvPr/>
        </p:nvPicPr>
        <p:blipFill>
          <a:blip r:embed="rId3"/>
          <a:srcRect l="0" r="0" t="0" b="0"/>
          <a:stretch/>
        </p:blipFill>
        <p:spPr>
          <a:xfrm>
            <a:off x="10414000" y="1143000"/>
            <a:ext cx="355600" cy="355600"/>
          </a:xfrm>
          <a:prstGeom prst="rect">
            <a:avLst/>
          </a:prstGeom>
        </p:spPr>
      </p:pic>
      <p:sp>
        <p:nvSpPr>
          <p:cNvPr id="5" name="Text 0"/>
          <p:cNvSpPr/>
          <p:nvPr/>
        </p:nvSpPr>
        <p:spPr>
          <a:xfrm>
            <a:off x="812800" y="1905000"/>
            <a:ext cx="7848600" cy="309880"/>
          </a:xfrm>
          <a:prstGeom prst="rect">
            <a:avLst/>
          </a:prstGeom>
          <a:noFill/>
          <a:ln/>
        </p:spPr>
        <p:txBody>
          <a:bodyPr wrap="square" lIns="0" tIns="0" rIns="0" bIns="0" rtlCol="0" anchor="t">
            <a:normAutofit/>
          </a:bodyPr>
          <a:lstStyle/>
          <a:p>
            <a:pPr algn="l" indent="0" marL="0">
              <a:lnSpc>
                <a:spcPts val="2240"/>
              </a:lnSpc>
              <a:buNone/>
            </a:pPr>
            <a:r>
              <a:rPr lang="en-US" sz="1600" spc="100" kern="0" dirty="0">
                <a:solidFill>
                  <a:srgbClr val="8FB8E3"/>
                </a:solidFill>
                <a:latin typeface="DM Sans" pitchFamily="34" charset="0"/>
                <a:ea typeface="DM Sans" pitchFamily="34" charset="-122"/>
                <a:cs typeface="DM Sans" pitchFamily="34" charset="-120"/>
              </a:rPr>
              <a:t>CIS 641 · MIDTERM STATUS UPDATE</a:t>
            </a:r>
            <a:endParaRPr lang="en-US" sz="1600" dirty="0"/>
          </a:p>
        </p:txBody>
      </p:sp>
      <p:sp>
        <p:nvSpPr>
          <p:cNvPr id="6" name="Text 1"/>
          <p:cNvSpPr/>
          <p:nvPr>
            <p:ph type="title"/>
          </p:nvPr>
        </p:nvSpPr>
        <p:spPr>
          <a:xfrm>
            <a:off x="812800" y="2286000"/>
            <a:ext cx="8502650"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5F1"/>
                </a:solidFill>
                <a:latin typeface="DM Sans" pitchFamily="34" charset="0"/>
                <a:ea typeface="DM Sans" pitchFamily="34" charset="-122"/>
                <a:cs typeface="DM Sans" pitchFamily="34" charset="-120"/>
              </a:rPr>
              <a:t>AI Study Assistant</a:t>
            </a:r>
            <a:endParaRPr lang="en-US" sz="6000" dirty="0"/>
          </a:p>
        </p:txBody>
      </p:sp>
      <p:sp>
        <p:nvSpPr>
          <p:cNvPr id="7" name="Text 2"/>
          <p:cNvSpPr/>
          <p:nvPr/>
        </p:nvSpPr>
        <p:spPr>
          <a:xfrm>
            <a:off x="812800" y="3365500"/>
            <a:ext cx="719455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3DF"/>
                </a:solidFill>
                <a:latin typeface="DM Sans" pitchFamily="34" charset="0"/>
                <a:ea typeface="DM Sans" pitchFamily="34" charset="-122"/>
                <a:cs typeface="DM Sans" pitchFamily="34" charset="-120"/>
              </a:rPr>
              <a:t>One place for a student’s courses, deadlines and study plan, with AI advice on what to study next</a:t>
            </a:r>
            <a:endParaRPr lang="en-US" sz="2200" dirty="0"/>
          </a:p>
        </p:txBody>
      </p:sp>
      <p:sp>
        <p:nvSpPr>
          <p:cNvPr id="8" name="Shape 3"/>
          <p:cNvSpPr/>
          <p:nvPr/>
        </p:nvSpPr>
        <p:spPr>
          <a:xfrm>
            <a:off x="812800" y="4572000"/>
            <a:ext cx="1016000" cy="50800"/>
          </a:xfrm>
          <a:prstGeom prst="roundRect">
            <a:avLst>
              <a:gd name="adj" fmla="val 50000"/>
            </a:avLst>
          </a:prstGeom>
          <a:solidFill>
            <a:srgbClr val="F2B36B"/>
          </a:solidFill>
          <a:ln/>
        </p:spPr>
      </p:sp>
      <p:sp>
        <p:nvSpPr>
          <p:cNvPr id="9" name="Text 4"/>
          <p:cNvSpPr/>
          <p:nvPr/>
        </p:nvSpPr>
        <p:spPr>
          <a:xfrm>
            <a:off x="812800" y="5963920"/>
            <a:ext cx="78486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DF"/>
                </a:solidFill>
                <a:latin typeface="DM Sans" pitchFamily="34" charset="0"/>
                <a:ea typeface="DM Sans" pitchFamily="34" charset="-122"/>
                <a:cs typeface="DM Sans" pitchFamily="34" charset="-120"/>
              </a:rPr>
              <a:t>Ali Belhrak · Team AIStudyAssistant · October 28,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6F5F1"/>
              </a:gs>
              <a:gs pos="100000">
                <a:srgbClr val="ECEAE3"/>
              </a:gs>
            </a:gsLst>
            <a:lin ang="5400000" scaled="0"/>
          </a:gradFill>
          <a:ln/>
        </p:spPr>
      </p:sp>
      <p:sp>
        <p:nvSpPr>
          <p:cNvPr id="3" name="Shape 1"/>
          <p:cNvSpPr/>
          <p:nvPr/>
        </p:nvSpPr>
        <p:spPr>
          <a:xfrm>
            <a:off x="812800" y="584200"/>
            <a:ext cx="609600" cy="50800"/>
          </a:xfrm>
          <a:prstGeom prst="roundRect">
            <a:avLst>
              <a:gd name="adj" fmla="val 50000"/>
            </a:avLst>
          </a:prstGeom>
          <a:solidFill>
            <a:srgbClr val="2E6AA8"/>
          </a:solidFill>
          <a:ln/>
        </p:spPr>
      </p:sp>
      <p:pic>
        <p:nvPicPr>
          <p:cNvPr id="4" name="Image 0" descr="ellipse">    </p:cNvPr>
          <p:cNvPicPr>
            <a:picLocks noChangeAspect="1"/>
          </p:cNvPicPr>
          <p:nvPr/>
        </p:nvPicPr>
        <p:blipFill>
          <a:blip r:embed="rId1"/>
          <a:srcRect l="0" r="0" t="0" b="0"/>
          <a:stretch/>
        </p:blipFill>
        <p:spPr>
          <a:xfrm>
            <a:off x="9906000" y="254000"/>
            <a:ext cx="1651000" cy="1651000"/>
          </a:xfrm>
          <a:prstGeom prst="rect">
            <a:avLst/>
          </a:prstGeom>
        </p:spPr>
      </p:pic>
      <p:sp>
        <p:nvSpPr>
          <p:cNvPr id="5" name="Text 2"/>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D2A3A"/>
                </a:solidFill>
                <a:latin typeface="DM Sans" pitchFamily="34" charset="0"/>
                <a:ea typeface="DM Sans" pitchFamily="34" charset="-122"/>
                <a:cs typeface="DM Sans" pitchFamily="34" charset="-120"/>
              </a:rPr>
              <a:t>Team AIStudyAssistant</a:t>
            </a:r>
            <a:endParaRPr lang="en-US" sz="3200" dirty="0"/>
          </a:p>
        </p:txBody>
      </p:sp>
      <p:sp>
        <p:nvSpPr>
          <p:cNvPr id="6" name="Shape 3"/>
          <p:cNvSpPr/>
          <p:nvPr/>
        </p:nvSpPr>
        <p:spPr>
          <a:xfrm>
            <a:off x="815975" y="1590675"/>
            <a:ext cx="5124450" cy="3168650"/>
          </a:xfrm>
          <a:prstGeom prst="roundRect">
            <a:avLst>
              <a:gd name="adj" fmla="val 3908"/>
            </a:avLst>
          </a:prstGeom>
          <a:solidFill>
            <a:srgbClr val="FFFFFF"/>
          </a:solidFill>
          <a:ln w="6350">
            <a:solidFill>
              <a:srgbClr val="DDD9CE"/>
            </a:solidFill>
            <a:prstDash val="solid"/>
          </a:ln>
          <a:effectLst>
            <a:outerShdw sx="100000" sy="100000" kx="0" ky="0" algn="bl" rotWithShape="0" blurRad="254000" dist="114300" dir="5400000">
              <a:srgbClr val="1D2A3A">
                <a:alpha val="10000"/>
              </a:srgbClr>
            </a:outerShdw>
          </a:effectLst>
        </p:spPr>
      </p:sp>
      <p:sp>
        <p:nvSpPr>
          <p:cNvPr id="7" name="Text 4"/>
          <p:cNvSpPr/>
          <p:nvPr/>
        </p:nvSpPr>
        <p:spPr>
          <a:xfrm>
            <a:off x="1173480" y="1948180"/>
            <a:ext cx="454172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AA8"/>
                </a:solidFill>
                <a:latin typeface="DM Sans" pitchFamily="34" charset="0"/>
                <a:ea typeface="DM Sans" pitchFamily="34" charset="-122"/>
                <a:cs typeface="DM Sans" pitchFamily="34" charset="-120"/>
              </a:rPr>
              <a:t>TEAM MEMBER</a:t>
            </a:r>
            <a:endParaRPr lang="en-US" sz="1200" dirty="0"/>
          </a:p>
        </p:txBody>
      </p:sp>
      <p:sp>
        <p:nvSpPr>
          <p:cNvPr id="8" name="Text 5"/>
          <p:cNvSpPr/>
          <p:nvPr/>
        </p:nvSpPr>
        <p:spPr>
          <a:xfrm>
            <a:off x="1173480" y="2288540"/>
            <a:ext cx="454172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D2A3A"/>
                </a:solidFill>
                <a:latin typeface="DM Sans" pitchFamily="34" charset="0"/>
                <a:ea typeface="DM Sans" pitchFamily="34" charset="-122"/>
                <a:cs typeface="DM Sans" pitchFamily="34" charset="-120"/>
              </a:rPr>
              <a:t>Ali Belhrak</a:t>
            </a:r>
            <a:endParaRPr lang="en-US" sz="2800" dirty="0"/>
          </a:p>
        </p:txBody>
      </p:sp>
      <p:sp>
        <p:nvSpPr>
          <p:cNvPr id="9" name="Text 6"/>
          <p:cNvSpPr/>
          <p:nvPr/>
        </p:nvSpPr>
        <p:spPr>
          <a:xfrm>
            <a:off x="1173480" y="2806700"/>
            <a:ext cx="4541723"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M.S. Applied Computer Science, Grand Valley State University</a:t>
            </a:r>
            <a:endParaRPr lang="en-US" sz="1600" dirty="0"/>
          </a:p>
        </p:txBody>
      </p:sp>
      <p:sp>
        <p:nvSpPr>
          <p:cNvPr id="10" name="Text 7"/>
          <p:cNvSpPr/>
          <p:nvPr/>
        </p:nvSpPr>
        <p:spPr>
          <a:xfrm>
            <a:off x="1173480" y="3502660"/>
            <a:ext cx="4541723"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Solo project: I present every part today</a:t>
            </a:r>
            <a:endParaRPr lang="en-US" sz="1600" dirty="0"/>
          </a:p>
        </p:txBody>
      </p:sp>
      <p:sp>
        <p:nvSpPr>
          <p:cNvPr id="11" name="Shape 8"/>
          <p:cNvSpPr/>
          <p:nvPr/>
        </p:nvSpPr>
        <p:spPr>
          <a:xfrm>
            <a:off x="6248400" y="1587500"/>
            <a:ext cx="5130800" cy="3175000"/>
          </a:xfrm>
          <a:prstGeom prst="roundRect">
            <a:avLst>
              <a:gd name="adj" fmla="val 4000"/>
            </a:avLst>
          </a:prstGeom>
          <a:solidFill>
            <a:srgbClr val="1D2A3A"/>
          </a:solidFill>
          <a:ln/>
          <a:effectLst>
            <a:outerShdw sx="100000" sy="100000" kx="0" ky="0" algn="bl" rotWithShape="0" blurRad="254000" dist="114300" dir="5400000">
              <a:srgbClr val="1D2A3A">
                <a:alpha val="18000"/>
              </a:srgbClr>
            </a:outerShdw>
          </a:effectLst>
        </p:spPr>
      </p:sp>
      <p:sp>
        <p:nvSpPr>
          <p:cNvPr id="12" name="Text 9"/>
          <p:cNvSpPr/>
          <p:nvPr/>
        </p:nvSpPr>
        <p:spPr>
          <a:xfrm>
            <a:off x="6604000" y="1943100"/>
            <a:ext cx="4552188"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B8E3"/>
                </a:solidFill>
                <a:latin typeface="DM Sans" pitchFamily="34" charset="0"/>
                <a:ea typeface="DM Sans" pitchFamily="34" charset="-122"/>
                <a:cs typeface="DM Sans" pitchFamily="34" charset="-120"/>
              </a:rPr>
              <a:t>ROLES</a:t>
            </a:r>
            <a:endParaRPr lang="en-US" sz="1200" dirty="0"/>
          </a:p>
        </p:txBody>
      </p:sp>
      <p:sp>
        <p:nvSpPr>
          <p:cNvPr id="13" name="Text 10"/>
          <p:cNvSpPr/>
          <p:nvPr/>
        </p:nvSpPr>
        <p:spPr>
          <a:xfrm>
            <a:off x="6647434" y="2308860"/>
            <a:ext cx="4501134" cy="1488440"/>
          </a:xfrm>
          <a:prstGeom prst="rect">
            <a:avLst/>
          </a:prstGeom>
          <a:noFill/>
          <a:ln/>
        </p:spPr>
        <p:txBody>
          <a:bodyPr wrap="square" lIns="0" tIns="0" rIns="0" bIns="0" rtlCol="0" anchor="t">
            <a:normAutofit/>
          </a:bodyPr>
          <a:lstStyle/>
          <a:p>
            <a:pPr algn="l" marL="210566" indent="-210566">
              <a:lnSpc>
                <a:spcPts val="2880"/>
              </a:lnSpc>
              <a:buSzPct val="100000"/>
              <a:buChar char="•"/>
            </a:pPr>
            <a:r>
              <a:rPr lang="en-US" sz="1800" dirty="0">
                <a:solidFill>
                  <a:srgbClr val="F6F5F1"/>
                </a:solidFill>
                <a:latin typeface="DM Sans" pitchFamily="34" charset="0"/>
                <a:ea typeface="DM Sans" pitchFamily="34" charset="-122"/>
                <a:cs typeface="DM Sans" pitchFamily="34" charset="-120"/>
              </a:rPr>
              <a:t>Project manager</a:t>
            </a:r>
            <a:endParaRPr lang="en-US" sz="1800" dirty="0"/>
          </a:p>
          <a:p>
            <a:pPr algn="l" marL="210566" indent="-210566">
              <a:lnSpc>
                <a:spcPts val="2880"/>
              </a:lnSpc>
              <a:buSzPct val="100000"/>
              <a:buChar char="•"/>
            </a:pPr>
            <a:r>
              <a:rPr lang="en-US" sz="1800" dirty="0">
                <a:solidFill>
                  <a:srgbClr val="F6F5F1"/>
                </a:solidFill>
                <a:latin typeface="DM Sans" pitchFamily="34" charset="0"/>
                <a:ea typeface="DM Sans" pitchFamily="34" charset="-122"/>
                <a:cs typeface="DM Sans" pitchFamily="34" charset="-120"/>
              </a:rPr>
              <a:t>Systems analyst</a:t>
            </a:r>
            <a:endParaRPr lang="en-US" sz="1800" dirty="0"/>
          </a:p>
          <a:p>
            <a:pPr algn="l" marL="210566" indent="-210566">
              <a:lnSpc>
                <a:spcPts val="2880"/>
              </a:lnSpc>
              <a:buSzPct val="100000"/>
              <a:buChar char="•"/>
            </a:pPr>
            <a:r>
              <a:rPr lang="en-US" sz="1800" dirty="0">
                <a:solidFill>
                  <a:srgbClr val="F6F5F1"/>
                </a:solidFill>
                <a:latin typeface="DM Sans" pitchFamily="34" charset="0"/>
                <a:ea typeface="DM Sans" pitchFamily="34" charset="-122"/>
                <a:cs typeface="DM Sans" pitchFamily="34" charset="-120"/>
              </a:rPr>
              <a:t>Designer</a:t>
            </a:r>
            <a:endParaRPr lang="en-US" sz="1800" dirty="0"/>
          </a:p>
          <a:p>
            <a:pPr algn="l" marL="210566" indent="-210566">
              <a:lnSpc>
                <a:spcPts val="2880"/>
              </a:lnSpc>
              <a:buSzPct val="100000"/>
              <a:buChar char="•"/>
            </a:pPr>
            <a:r>
              <a:rPr lang="en-US" sz="1800" dirty="0">
                <a:solidFill>
                  <a:srgbClr val="F6F5F1"/>
                </a:solidFill>
                <a:latin typeface="DM Sans" pitchFamily="34" charset="0"/>
                <a:ea typeface="DM Sans" pitchFamily="34" charset="-122"/>
                <a:cs typeface="DM Sans" pitchFamily="34" charset="-120"/>
              </a:rPr>
              <a:t>Developer</a:t>
            </a:r>
            <a:endParaRPr lang="en-US" sz="1800" dirty="0"/>
          </a:p>
        </p:txBody>
      </p:sp>
      <p:sp>
        <p:nvSpPr>
          <p:cNvPr id="14" name="Text 11"/>
          <p:cNvSpPr/>
          <p:nvPr/>
        </p:nvSpPr>
        <p:spPr>
          <a:xfrm>
            <a:off x="812800" y="6238241"/>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github.com/alibelhrak/GVSU-CIS641-AIStudyAssistant</a:t>
            </a:r>
            <a:endParaRPr lang="en-US" sz="1200" dirty="0"/>
          </a:p>
        </p:txBody>
      </p:sp>
      <p:sp>
        <p:nvSpPr>
          <p:cNvPr id="15" name="Text 12"/>
          <p:cNvSpPr/>
          <p:nvPr/>
        </p:nvSpPr>
        <p:spPr>
          <a:xfrm>
            <a:off x="10693400" y="6238241"/>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6F5F1"/>
              </a:gs>
              <a:gs pos="100000">
                <a:srgbClr val="ECEAE3"/>
              </a:gs>
            </a:gsLst>
            <a:lin ang="5400000" scaled="0"/>
          </a:gradFill>
          <a:ln/>
        </p:spPr>
      </p:sp>
      <p:sp>
        <p:nvSpPr>
          <p:cNvPr id="3" name="Shape 1"/>
          <p:cNvSpPr/>
          <p:nvPr/>
        </p:nvSpPr>
        <p:spPr>
          <a:xfrm>
            <a:off x="812800" y="584200"/>
            <a:ext cx="609600" cy="50800"/>
          </a:xfrm>
          <a:prstGeom prst="roundRect">
            <a:avLst>
              <a:gd name="adj" fmla="val 50000"/>
            </a:avLst>
          </a:prstGeom>
          <a:solidFill>
            <a:srgbClr val="2E6AA8"/>
          </a:solidFill>
          <a:ln/>
        </p:spPr>
      </p:sp>
      <p:sp>
        <p:nvSpPr>
          <p:cNvPr id="4" name="Text 2"/>
          <p:cNvSpPr/>
          <p:nvPr>
            <p:ph type="title"/>
          </p:nvPr>
        </p:nvSpPr>
        <p:spPr>
          <a:xfrm>
            <a:off x="812800" y="812800"/>
            <a:ext cx="9156700"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D2A3A"/>
                </a:solidFill>
                <a:latin typeface="DM Sans" pitchFamily="34" charset="0"/>
                <a:ea typeface="DM Sans" pitchFamily="34" charset="-122"/>
                <a:cs typeface="DM Sans" pitchFamily="34" charset="-120"/>
              </a:rPr>
              <a:t>The problem: school work is spread across many tools</a:t>
            </a:r>
            <a:endParaRPr lang="en-US" sz="3200" dirty="0"/>
          </a:p>
        </p:txBody>
      </p:sp>
      <p:sp>
        <p:nvSpPr>
          <p:cNvPr id="5" name="Shape 3"/>
          <p:cNvSpPr/>
          <p:nvPr/>
        </p:nvSpPr>
        <p:spPr>
          <a:xfrm>
            <a:off x="815975" y="2035175"/>
            <a:ext cx="2501900" cy="1898650"/>
          </a:xfrm>
          <a:prstGeom prst="roundRect">
            <a:avLst>
              <a:gd name="adj" fmla="val 6522"/>
            </a:avLst>
          </a:prstGeom>
          <a:solidFill>
            <a:srgbClr val="FFFFFF"/>
          </a:solidFill>
          <a:ln w="6350">
            <a:solidFill>
              <a:srgbClr val="DDD9CE"/>
            </a:solidFill>
            <a:prstDash val="solid"/>
          </a:ln>
          <a:effectLst>
            <a:outerShdw sx="100000" sy="100000" kx="0" ky="0" algn="bl" rotWithShape="0" blurRad="203200" dist="88900" dir="5400000">
              <a:srgbClr val="1D2A3A">
                <a:alpha val="8000"/>
              </a:srgbClr>
            </a:outerShdw>
          </a:effectLst>
        </p:spPr>
      </p:sp>
      <p:pic>
        <p:nvPicPr>
          <p:cNvPr id="6" name="Image 0" descr="Book">    </p:cNvPr>
          <p:cNvPicPr>
            <a:picLocks noChangeAspect="1"/>
          </p:cNvPicPr>
          <p:nvPr/>
        </p:nvPicPr>
        <p:blipFill>
          <a:blip r:embed="rId1"/>
          <a:srcRect l="0" r="0" t="0" b="0"/>
          <a:stretch/>
        </p:blipFill>
        <p:spPr>
          <a:xfrm>
            <a:off x="1071880" y="2291080"/>
            <a:ext cx="355600" cy="355600"/>
          </a:xfrm>
          <a:prstGeom prst="rect">
            <a:avLst/>
          </a:prstGeom>
        </p:spPr>
      </p:pic>
      <p:sp>
        <p:nvSpPr>
          <p:cNvPr id="7" name="Text 4"/>
          <p:cNvSpPr/>
          <p:nvPr/>
        </p:nvSpPr>
        <p:spPr>
          <a:xfrm>
            <a:off x="1071880" y="2748280"/>
            <a:ext cx="204979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2A3A"/>
                </a:solidFill>
                <a:latin typeface="DM Sans" pitchFamily="34" charset="0"/>
                <a:ea typeface="DM Sans" pitchFamily="34" charset="-122"/>
                <a:cs typeface="DM Sans" pitchFamily="34" charset="-120"/>
              </a:rPr>
              <a:t>Due dates</a:t>
            </a:r>
            <a:endParaRPr lang="en-US" sz="1800" dirty="0"/>
          </a:p>
        </p:txBody>
      </p:sp>
      <p:sp>
        <p:nvSpPr>
          <p:cNvPr id="8" name="Text 5"/>
          <p:cNvSpPr/>
          <p:nvPr/>
        </p:nvSpPr>
        <p:spPr>
          <a:xfrm>
            <a:off x="1071880" y="3124200"/>
            <a:ext cx="204979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in the learning management system</a:t>
            </a:r>
            <a:endParaRPr lang="en-US" sz="1400" dirty="0"/>
          </a:p>
        </p:txBody>
      </p:sp>
      <p:sp>
        <p:nvSpPr>
          <p:cNvPr id="9" name="Shape 6"/>
          <p:cNvSpPr/>
          <p:nvPr/>
        </p:nvSpPr>
        <p:spPr>
          <a:xfrm>
            <a:off x="3502025" y="2035175"/>
            <a:ext cx="2501900" cy="1898650"/>
          </a:xfrm>
          <a:prstGeom prst="roundRect">
            <a:avLst>
              <a:gd name="adj" fmla="val 6522"/>
            </a:avLst>
          </a:prstGeom>
          <a:solidFill>
            <a:srgbClr val="FFFFFF"/>
          </a:solidFill>
          <a:ln w="6350">
            <a:solidFill>
              <a:srgbClr val="DDD9CE"/>
            </a:solidFill>
            <a:prstDash val="solid"/>
          </a:ln>
          <a:effectLst>
            <a:outerShdw sx="100000" sy="100000" kx="0" ky="0" algn="bl" rotWithShape="0" blurRad="203200" dist="88900" dir="5400000">
              <a:srgbClr val="1D2A3A">
                <a:alpha val="8000"/>
              </a:srgbClr>
            </a:outerShdw>
          </a:effectLst>
        </p:spPr>
      </p:sp>
      <p:pic>
        <p:nvPicPr>
          <p:cNvPr id="10" name="Image 1" descr="Clock">    </p:cNvPr>
          <p:cNvPicPr>
            <a:picLocks noChangeAspect="1"/>
          </p:cNvPicPr>
          <p:nvPr/>
        </p:nvPicPr>
        <p:blipFill>
          <a:blip r:embed="rId2"/>
          <a:srcRect l="0" r="0" t="0" b="0"/>
          <a:stretch/>
        </p:blipFill>
        <p:spPr>
          <a:xfrm>
            <a:off x="3757930" y="2291080"/>
            <a:ext cx="355600" cy="355600"/>
          </a:xfrm>
          <a:prstGeom prst="rect">
            <a:avLst/>
          </a:prstGeom>
        </p:spPr>
      </p:pic>
      <p:sp>
        <p:nvSpPr>
          <p:cNvPr id="11" name="Text 7"/>
          <p:cNvSpPr/>
          <p:nvPr/>
        </p:nvSpPr>
        <p:spPr>
          <a:xfrm>
            <a:off x="3757930" y="2748280"/>
            <a:ext cx="204979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2A3A"/>
                </a:solidFill>
                <a:latin typeface="DM Sans" pitchFamily="34" charset="0"/>
                <a:ea typeface="DM Sans" pitchFamily="34" charset="-122"/>
                <a:cs typeface="DM Sans" pitchFamily="34" charset="-120"/>
              </a:rPr>
              <a:t>Study time</a:t>
            </a:r>
            <a:endParaRPr lang="en-US" sz="1800" dirty="0"/>
          </a:p>
        </p:txBody>
      </p:sp>
      <p:sp>
        <p:nvSpPr>
          <p:cNvPr id="12" name="Text 8"/>
          <p:cNvSpPr/>
          <p:nvPr/>
        </p:nvSpPr>
        <p:spPr>
          <a:xfrm>
            <a:off x="3757930" y="3124200"/>
            <a:ext cx="204979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in a calendar or a paper planner</a:t>
            </a:r>
            <a:endParaRPr lang="en-US" sz="1400" dirty="0"/>
          </a:p>
        </p:txBody>
      </p:sp>
      <p:sp>
        <p:nvSpPr>
          <p:cNvPr id="13" name="Shape 9"/>
          <p:cNvSpPr/>
          <p:nvPr/>
        </p:nvSpPr>
        <p:spPr>
          <a:xfrm>
            <a:off x="6188075" y="2035175"/>
            <a:ext cx="2501900" cy="1898650"/>
          </a:xfrm>
          <a:prstGeom prst="roundRect">
            <a:avLst>
              <a:gd name="adj" fmla="val 6522"/>
            </a:avLst>
          </a:prstGeom>
          <a:solidFill>
            <a:srgbClr val="FFFFFF"/>
          </a:solidFill>
          <a:ln w="6350">
            <a:solidFill>
              <a:srgbClr val="DDD9CE"/>
            </a:solidFill>
            <a:prstDash val="solid"/>
          </a:ln>
          <a:effectLst>
            <a:outerShdw sx="100000" sy="100000" kx="0" ky="0" algn="bl" rotWithShape="0" blurRad="203200" dist="88900" dir="5400000">
              <a:srgbClr val="1D2A3A">
                <a:alpha val="8000"/>
              </a:srgbClr>
            </a:outerShdw>
          </a:effectLst>
        </p:spPr>
      </p:sp>
      <p:pic>
        <p:nvPicPr>
          <p:cNvPr id="14" name="Image 2" descr="Cloud">    </p:cNvPr>
          <p:cNvPicPr>
            <a:picLocks noChangeAspect="1"/>
          </p:cNvPicPr>
          <p:nvPr/>
        </p:nvPicPr>
        <p:blipFill>
          <a:blip r:embed="rId3"/>
          <a:srcRect l="0" r="0" t="0" b="0"/>
          <a:stretch/>
        </p:blipFill>
        <p:spPr>
          <a:xfrm>
            <a:off x="6443980" y="2291080"/>
            <a:ext cx="355600" cy="355600"/>
          </a:xfrm>
          <a:prstGeom prst="rect">
            <a:avLst/>
          </a:prstGeom>
        </p:spPr>
      </p:pic>
      <p:sp>
        <p:nvSpPr>
          <p:cNvPr id="15" name="Text 10"/>
          <p:cNvSpPr/>
          <p:nvPr/>
        </p:nvSpPr>
        <p:spPr>
          <a:xfrm>
            <a:off x="6443980" y="2748280"/>
            <a:ext cx="204979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2A3A"/>
                </a:solidFill>
                <a:latin typeface="DM Sans" pitchFamily="34" charset="0"/>
                <a:ea typeface="DM Sans" pitchFamily="34" charset="-122"/>
                <a:cs typeface="DM Sans" pitchFamily="34" charset="-120"/>
              </a:rPr>
              <a:t>Materials</a:t>
            </a:r>
            <a:endParaRPr lang="en-US" sz="1800" dirty="0"/>
          </a:p>
        </p:txBody>
      </p:sp>
      <p:sp>
        <p:nvSpPr>
          <p:cNvPr id="16" name="Text 11"/>
          <p:cNvSpPr/>
          <p:nvPr/>
        </p:nvSpPr>
        <p:spPr>
          <a:xfrm>
            <a:off x="6443980" y="3124200"/>
            <a:ext cx="204979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in a notes app or cloud folder</a:t>
            </a:r>
            <a:endParaRPr lang="en-US" sz="1400" dirty="0"/>
          </a:p>
        </p:txBody>
      </p:sp>
      <p:sp>
        <p:nvSpPr>
          <p:cNvPr id="17" name="Shape 12"/>
          <p:cNvSpPr/>
          <p:nvPr/>
        </p:nvSpPr>
        <p:spPr>
          <a:xfrm>
            <a:off x="8877300" y="2038350"/>
            <a:ext cx="2495550" cy="1892300"/>
          </a:xfrm>
          <a:prstGeom prst="roundRect">
            <a:avLst>
              <a:gd name="adj" fmla="val 6376"/>
            </a:avLst>
          </a:prstGeom>
          <a:solidFill>
            <a:srgbClr val="FFF6EE"/>
          </a:solidFill>
          <a:ln w="12700">
            <a:solidFill>
              <a:srgbClr val="C8662F"/>
            </a:solidFill>
            <a:prstDash val="solid"/>
          </a:ln>
          <a:effectLst>
            <a:outerShdw sx="100000" sy="100000" kx="0" ky="0" algn="bl" rotWithShape="0" blurRad="203200" dist="88900" dir="5400000">
              <a:srgbClr val="C8662F">
                <a:alpha val="15000"/>
              </a:srgbClr>
            </a:outerShdw>
          </a:effectLst>
        </p:spPr>
      </p:sp>
      <p:pic>
        <p:nvPicPr>
          <p:cNvPr id="18" name="Image 3" descr="Warning">    </p:cNvPr>
          <p:cNvPicPr>
            <a:picLocks noChangeAspect="1"/>
          </p:cNvPicPr>
          <p:nvPr/>
        </p:nvPicPr>
        <p:blipFill>
          <a:blip r:embed="rId4"/>
          <a:srcRect l="0" r="0" t="0" b="0"/>
          <a:stretch/>
        </p:blipFill>
        <p:spPr>
          <a:xfrm>
            <a:off x="9135110" y="2296161"/>
            <a:ext cx="355600" cy="355600"/>
          </a:xfrm>
          <a:prstGeom prst="rect">
            <a:avLst/>
          </a:prstGeom>
        </p:spPr>
      </p:pic>
      <p:sp>
        <p:nvSpPr>
          <p:cNvPr id="19" name="Text 13"/>
          <p:cNvSpPr/>
          <p:nvPr/>
        </p:nvSpPr>
        <p:spPr>
          <a:xfrm>
            <a:off x="9135110" y="2753361"/>
            <a:ext cx="203932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2A3A"/>
                </a:solidFill>
                <a:latin typeface="DM Sans" pitchFamily="34" charset="0"/>
                <a:ea typeface="DM Sans" pitchFamily="34" charset="-122"/>
                <a:cs typeface="DM Sans" pitchFamily="34" charset="-120"/>
              </a:rPr>
              <a:t>Hours studied</a:t>
            </a:r>
            <a:endParaRPr lang="en-US" sz="1800" dirty="0"/>
          </a:p>
        </p:txBody>
      </p:sp>
      <p:sp>
        <p:nvSpPr>
          <p:cNvPr id="20" name="Text 14"/>
          <p:cNvSpPr/>
          <p:nvPr/>
        </p:nvSpPr>
        <p:spPr>
          <a:xfrm>
            <a:off x="9135110" y="3129280"/>
            <a:ext cx="203932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usually not tracked at all</a:t>
            </a:r>
            <a:endParaRPr lang="en-US" sz="1400" dirty="0"/>
          </a:p>
        </p:txBody>
      </p:sp>
      <p:sp>
        <p:nvSpPr>
          <p:cNvPr id="21" name="Text 15"/>
          <p:cNvSpPr/>
          <p:nvPr/>
        </p:nvSpPr>
        <p:spPr>
          <a:xfrm>
            <a:off x="812800" y="4318000"/>
            <a:ext cx="10137775"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1D2A3A"/>
                </a:solidFill>
                <a:latin typeface="DM Sans" pitchFamily="34" charset="0"/>
                <a:ea typeface="DM Sans" pitchFamily="34" charset="-122"/>
                <a:cs typeface="DM Sans" pitchFamily="34" charset="-120"/>
              </a:rPr>
              <a:t>A student can see that an exam is coming, but not that they have barely studied for it, until a day or two before.</a:t>
            </a:r>
            <a:endParaRPr lang="en-US" sz="2000" dirty="0"/>
          </a:p>
        </p:txBody>
      </p:sp>
      <p:sp>
        <p:nvSpPr>
          <p:cNvPr id="22" name="Text 16"/>
          <p:cNvSpPr/>
          <p:nvPr/>
        </p:nvSpPr>
        <p:spPr>
          <a:xfrm>
            <a:off x="10693400" y="6238241"/>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6F5F1"/>
              </a:gs>
              <a:gs pos="100000">
                <a:srgbClr val="ECEAE3"/>
              </a:gs>
            </a:gsLst>
            <a:lin ang="5400000" scaled="0"/>
          </a:gradFill>
          <a:ln/>
        </p:spPr>
      </p:sp>
      <p:sp>
        <p:nvSpPr>
          <p:cNvPr id="3" name="Shape 1"/>
          <p:cNvSpPr/>
          <p:nvPr/>
        </p:nvSpPr>
        <p:spPr>
          <a:xfrm>
            <a:off x="812800" y="584200"/>
            <a:ext cx="609600" cy="50800"/>
          </a:xfrm>
          <a:prstGeom prst="roundRect">
            <a:avLst>
              <a:gd name="adj" fmla="val 50000"/>
            </a:avLst>
          </a:prstGeom>
          <a:solidFill>
            <a:srgbClr val="2E6AA8"/>
          </a:solidFill>
          <a:ln/>
        </p:spPr>
      </p:sp>
      <p:sp>
        <p:nvSpPr>
          <p:cNvPr id="4" name="Text 2"/>
          <p:cNvSpPr/>
          <p:nvPr>
            <p:ph type="title"/>
          </p:nvPr>
        </p:nvSpPr>
        <p:spPr>
          <a:xfrm>
            <a:off x="812800" y="812800"/>
            <a:ext cx="9156700"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D2A3A"/>
                </a:solidFill>
                <a:latin typeface="DM Sans" pitchFamily="34" charset="0"/>
                <a:ea typeface="DM Sans" pitchFamily="34" charset="-122"/>
                <a:cs typeface="DM Sans" pitchFamily="34" charset="-120"/>
              </a:rPr>
              <a:t>The AI Study Assistant puts it all in one web app</a:t>
            </a:r>
            <a:endParaRPr lang="en-US" sz="3200" dirty="0"/>
          </a:p>
        </p:txBody>
      </p:sp>
      <p:sp>
        <p:nvSpPr>
          <p:cNvPr id="5" name="Shape 3"/>
          <p:cNvSpPr/>
          <p:nvPr/>
        </p:nvSpPr>
        <p:spPr>
          <a:xfrm>
            <a:off x="815975" y="2035175"/>
            <a:ext cx="2520950" cy="1835150"/>
          </a:xfrm>
          <a:prstGeom prst="roundRect">
            <a:avLst>
              <a:gd name="adj" fmla="val 5363"/>
            </a:avLst>
          </a:prstGeom>
          <a:solidFill>
            <a:srgbClr val="FFFFFF"/>
          </a:solidFill>
          <a:ln w="6350">
            <a:solidFill>
              <a:srgbClr val="DDD9CE"/>
            </a:solidFill>
            <a:prstDash val="solid"/>
          </a:ln>
          <a:effectLst>
            <a:outerShdw sx="100000" sy="100000" kx="0" ky="0" algn="bl" rotWithShape="0" blurRad="177800" dist="76200" dir="5400000">
              <a:srgbClr val="1D2A3A">
                <a:alpha val="8000"/>
              </a:srgbClr>
            </a:outerShdw>
          </a:effectLst>
        </p:spPr>
      </p:sp>
      <p:pic>
        <p:nvPicPr>
          <p:cNvPr id="6" name="Image 0" descr="GraduationCap">    </p:cNvPr>
          <p:cNvPicPr>
            <a:picLocks noChangeAspect="1"/>
          </p:cNvPicPr>
          <p:nvPr/>
        </p:nvPicPr>
        <p:blipFill>
          <a:blip r:embed="rId1"/>
          <a:srcRect l="0" r="0" t="0" b="0"/>
          <a:stretch/>
        </p:blipFill>
        <p:spPr>
          <a:xfrm>
            <a:off x="1021080" y="2240280"/>
            <a:ext cx="304800" cy="304800"/>
          </a:xfrm>
          <a:prstGeom prst="rect">
            <a:avLst/>
          </a:prstGeom>
        </p:spPr>
      </p:pic>
      <p:sp>
        <p:nvSpPr>
          <p:cNvPr id="7" name="Text 4"/>
          <p:cNvSpPr/>
          <p:nvPr/>
        </p:nvSpPr>
        <p:spPr>
          <a:xfrm>
            <a:off x="1021080" y="2621280"/>
            <a:ext cx="21740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A3A"/>
                </a:solidFill>
                <a:latin typeface="DM Sans" pitchFamily="34" charset="0"/>
                <a:ea typeface="DM Sans" pitchFamily="34" charset="-122"/>
                <a:cs typeface="DM Sans" pitchFamily="34" charset="-120"/>
              </a:rPr>
              <a:t>Courses</a:t>
            </a:r>
            <a:endParaRPr lang="en-US" sz="1600" dirty="0"/>
          </a:p>
        </p:txBody>
      </p:sp>
      <p:sp>
        <p:nvSpPr>
          <p:cNvPr id="8" name="Text 5"/>
          <p:cNvSpPr/>
          <p:nvPr/>
        </p:nvSpPr>
        <p:spPr>
          <a:xfrm>
            <a:off x="1021080" y="2941320"/>
            <a:ext cx="217406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with a weekly study goal</a:t>
            </a:r>
            <a:endParaRPr lang="en-US" sz="1300" dirty="0"/>
          </a:p>
        </p:txBody>
      </p:sp>
      <p:sp>
        <p:nvSpPr>
          <p:cNvPr id="9" name="Shape 6"/>
          <p:cNvSpPr/>
          <p:nvPr/>
        </p:nvSpPr>
        <p:spPr>
          <a:xfrm>
            <a:off x="3495675" y="2035175"/>
            <a:ext cx="2520950" cy="1835150"/>
          </a:xfrm>
          <a:prstGeom prst="roundRect">
            <a:avLst>
              <a:gd name="adj" fmla="val 5363"/>
            </a:avLst>
          </a:prstGeom>
          <a:solidFill>
            <a:srgbClr val="FFFFFF"/>
          </a:solidFill>
          <a:ln w="6350">
            <a:solidFill>
              <a:srgbClr val="DDD9CE"/>
            </a:solidFill>
            <a:prstDash val="solid"/>
          </a:ln>
          <a:effectLst>
            <a:outerShdw sx="100000" sy="100000" kx="0" ky="0" algn="bl" rotWithShape="0" blurRad="177800" dist="76200" dir="5400000">
              <a:srgbClr val="1D2A3A">
                <a:alpha val="8000"/>
              </a:srgbClr>
            </a:outerShdw>
          </a:effectLst>
        </p:spPr>
      </p:sp>
      <p:pic>
        <p:nvPicPr>
          <p:cNvPr id="10" name="Image 1" descr="Check">    </p:cNvPr>
          <p:cNvPicPr>
            <a:picLocks noChangeAspect="1"/>
          </p:cNvPicPr>
          <p:nvPr/>
        </p:nvPicPr>
        <p:blipFill>
          <a:blip r:embed="rId2"/>
          <a:srcRect l="0" r="0" t="0" b="0"/>
          <a:stretch/>
        </p:blipFill>
        <p:spPr>
          <a:xfrm>
            <a:off x="3700780" y="2240280"/>
            <a:ext cx="304800" cy="304800"/>
          </a:xfrm>
          <a:prstGeom prst="rect">
            <a:avLst/>
          </a:prstGeom>
        </p:spPr>
      </p:pic>
      <p:sp>
        <p:nvSpPr>
          <p:cNvPr id="11" name="Text 7"/>
          <p:cNvSpPr/>
          <p:nvPr/>
        </p:nvSpPr>
        <p:spPr>
          <a:xfrm>
            <a:off x="3700780" y="2621280"/>
            <a:ext cx="21740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A3A"/>
                </a:solidFill>
                <a:latin typeface="DM Sans" pitchFamily="34" charset="0"/>
                <a:ea typeface="DM Sans" pitchFamily="34" charset="-122"/>
                <a:cs typeface="DM Sans" pitchFamily="34" charset="-120"/>
              </a:rPr>
              <a:t>Tasks</a:t>
            </a:r>
            <a:endParaRPr lang="en-US" sz="1600" dirty="0"/>
          </a:p>
        </p:txBody>
      </p:sp>
      <p:sp>
        <p:nvSpPr>
          <p:cNvPr id="12" name="Text 8"/>
          <p:cNvSpPr/>
          <p:nvPr/>
        </p:nvSpPr>
        <p:spPr>
          <a:xfrm>
            <a:off x="3700780" y="2941320"/>
            <a:ext cx="217406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assignments, exams, quizzes</a:t>
            </a:r>
            <a:endParaRPr lang="en-US" sz="1300" dirty="0"/>
          </a:p>
        </p:txBody>
      </p:sp>
      <p:sp>
        <p:nvSpPr>
          <p:cNvPr id="13" name="Shape 9"/>
          <p:cNvSpPr/>
          <p:nvPr/>
        </p:nvSpPr>
        <p:spPr>
          <a:xfrm>
            <a:off x="6175375" y="2035175"/>
            <a:ext cx="2520950" cy="1835150"/>
          </a:xfrm>
          <a:prstGeom prst="roundRect">
            <a:avLst>
              <a:gd name="adj" fmla="val 5363"/>
            </a:avLst>
          </a:prstGeom>
          <a:solidFill>
            <a:srgbClr val="FFFFFF"/>
          </a:solidFill>
          <a:ln w="6350">
            <a:solidFill>
              <a:srgbClr val="DDD9CE"/>
            </a:solidFill>
            <a:prstDash val="solid"/>
          </a:ln>
          <a:effectLst>
            <a:outerShdw sx="100000" sy="100000" kx="0" ky="0" algn="bl" rotWithShape="0" blurRad="177800" dist="76200" dir="5400000">
              <a:srgbClr val="1D2A3A">
                <a:alpha val="8000"/>
              </a:srgbClr>
            </a:outerShdw>
          </a:effectLst>
        </p:spPr>
      </p:sp>
      <p:pic>
        <p:nvPicPr>
          <p:cNvPr id="14" name="Image 2" descr="Clock">    </p:cNvPr>
          <p:cNvPicPr>
            <a:picLocks noChangeAspect="1"/>
          </p:cNvPicPr>
          <p:nvPr/>
        </p:nvPicPr>
        <p:blipFill>
          <a:blip r:embed="rId3"/>
          <a:srcRect l="0" r="0" t="0" b="0"/>
          <a:stretch/>
        </p:blipFill>
        <p:spPr>
          <a:xfrm>
            <a:off x="6380480" y="2240280"/>
            <a:ext cx="304800" cy="304800"/>
          </a:xfrm>
          <a:prstGeom prst="rect">
            <a:avLst/>
          </a:prstGeom>
        </p:spPr>
      </p:pic>
      <p:sp>
        <p:nvSpPr>
          <p:cNvPr id="15" name="Text 10"/>
          <p:cNvSpPr/>
          <p:nvPr/>
        </p:nvSpPr>
        <p:spPr>
          <a:xfrm>
            <a:off x="6380480" y="2621280"/>
            <a:ext cx="21740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A3A"/>
                </a:solidFill>
                <a:latin typeface="DM Sans" pitchFamily="34" charset="0"/>
                <a:ea typeface="DM Sans" pitchFamily="34" charset="-122"/>
                <a:cs typeface="DM Sans" pitchFamily="34" charset="-120"/>
              </a:rPr>
              <a:t>Deadlines</a:t>
            </a:r>
            <a:endParaRPr lang="en-US" sz="1600" dirty="0"/>
          </a:p>
        </p:txBody>
      </p:sp>
      <p:sp>
        <p:nvSpPr>
          <p:cNvPr id="16" name="Text 11"/>
          <p:cNvSpPr/>
          <p:nvPr/>
        </p:nvSpPr>
        <p:spPr>
          <a:xfrm>
            <a:off x="6380480" y="2941320"/>
            <a:ext cx="217406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priorities and reminders</a:t>
            </a:r>
            <a:endParaRPr lang="en-US" sz="1300" dirty="0"/>
          </a:p>
        </p:txBody>
      </p:sp>
      <p:sp>
        <p:nvSpPr>
          <p:cNvPr id="17" name="Shape 12"/>
          <p:cNvSpPr/>
          <p:nvPr/>
        </p:nvSpPr>
        <p:spPr>
          <a:xfrm>
            <a:off x="8855075" y="2035175"/>
            <a:ext cx="2520950" cy="1835150"/>
          </a:xfrm>
          <a:prstGeom prst="roundRect">
            <a:avLst>
              <a:gd name="adj" fmla="val 5363"/>
            </a:avLst>
          </a:prstGeom>
          <a:solidFill>
            <a:srgbClr val="FFFFFF"/>
          </a:solidFill>
          <a:ln w="6350">
            <a:solidFill>
              <a:srgbClr val="DDD9CE"/>
            </a:solidFill>
            <a:prstDash val="solid"/>
          </a:ln>
          <a:effectLst>
            <a:outerShdw sx="100000" sy="100000" kx="0" ky="0" algn="bl" rotWithShape="0" blurRad="177800" dist="76200" dir="5400000">
              <a:srgbClr val="1D2A3A">
                <a:alpha val="8000"/>
              </a:srgbClr>
            </a:outerShdw>
          </a:effectLst>
        </p:spPr>
      </p:sp>
      <p:pic>
        <p:nvPicPr>
          <p:cNvPr id="18" name="Image 3" descr="Activity">    </p:cNvPr>
          <p:cNvPicPr>
            <a:picLocks noChangeAspect="1"/>
          </p:cNvPicPr>
          <p:nvPr/>
        </p:nvPicPr>
        <p:blipFill>
          <a:blip r:embed="rId4"/>
          <a:srcRect l="0" r="0" t="0" b="0"/>
          <a:stretch/>
        </p:blipFill>
        <p:spPr>
          <a:xfrm>
            <a:off x="9060180" y="2240280"/>
            <a:ext cx="304800" cy="304800"/>
          </a:xfrm>
          <a:prstGeom prst="rect">
            <a:avLst/>
          </a:prstGeom>
        </p:spPr>
      </p:pic>
      <p:sp>
        <p:nvSpPr>
          <p:cNvPr id="19" name="Text 13"/>
          <p:cNvSpPr/>
          <p:nvPr/>
        </p:nvSpPr>
        <p:spPr>
          <a:xfrm>
            <a:off x="9060180" y="2621280"/>
            <a:ext cx="21740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A3A"/>
                </a:solidFill>
                <a:latin typeface="DM Sans" pitchFamily="34" charset="0"/>
                <a:ea typeface="DM Sans" pitchFamily="34" charset="-122"/>
                <a:cs typeface="DM Sans" pitchFamily="34" charset="-120"/>
              </a:rPr>
              <a:t>Schedule</a:t>
            </a:r>
            <a:endParaRPr lang="en-US" sz="1600" dirty="0"/>
          </a:p>
        </p:txBody>
      </p:sp>
      <p:sp>
        <p:nvSpPr>
          <p:cNvPr id="20" name="Text 14"/>
          <p:cNvSpPr/>
          <p:nvPr/>
        </p:nvSpPr>
        <p:spPr>
          <a:xfrm>
            <a:off x="9060180" y="2941320"/>
            <a:ext cx="217406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weekly study sessions</a:t>
            </a:r>
            <a:endParaRPr lang="en-US" sz="1300" dirty="0"/>
          </a:p>
        </p:txBody>
      </p:sp>
      <p:sp>
        <p:nvSpPr>
          <p:cNvPr id="21" name="Shape 15"/>
          <p:cNvSpPr/>
          <p:nvPr/>
        </p:nvSpPr>
        <p:spPr>
          <a:xfrm>
            <a:off x="815975" y="4029075"/>
            <a:ext cx="2520950" cy="1708150"/>
          </a:xfrm>
          <a:prstGeom prst="roundRect">
            <a:avLst>
              <a:gd name="adj" fmla="val 5762"/>
            </a:avLst>
          </a:prstGeom>
          <a:solidFill>
            <a:srgbClr val="FFFFFF"/>
          </a:solidFill>
          <a:ln w="6350">
            <a:solidFill>
              <a:srgbClr val="DDD9CE"/>
            </a:solidFill>
            <a:prstDash val="solid"/>
          </a:ln>
          <a:effectLst>
            <a:outerShdw sx="100000" sy="100000" kx="0" ky="0" algn="bl" rotWithShape="0" blurRad="177800" dist="76200" dir="5400000">
              <a:srgbClr val="1D2A3A">
                <a:alpha val="8000"/>
              </a:srgbClr>
            </a:outerShdw>
          </a:effectLst>
        </p:spPr>
      </p:sp>
      <p:pic>
        <p:nvPicPr>
          <p:cNvPr id="22" name="Image 4" descr="Book">    </p:cNvPr>
          <p:cNvPicPr>
            <a:picLocks noChangeAspect="1"/>
          </p:cNvPicPr>
          <p:nvPr/>
        </p:nvPicPr>
        <p:blipFill>
          <a:blip r:embed="rId5"/>
          <a:srcRect l="0" r="0" t="0" b="0"/>
          <a:stretch/>
        </p:blipFill>
        <p:spPr>
          <a:xfrm>
            <a:off x="1021080" y="4234180"/>
            <a:ext cx="304800" cy="304800"/>
          </a:xfrm>
          <a:prstGeom prst="rect">
            <a:avLst/>
          </a:prstGeom>
        </p:spPr>
      </p:pic>
      <p:sp>
        <p:nvSpPr>
          <p:cNvPr id="23" name="Text 16"/>
          <p:cNvSpPr/>
          <p:nvPr/>
        </p:nvSpPr>
        <p:spPr>
          <a:xfrm>
            <a:off x="1021080" y="4615180"/>
            <a:ext cx="21740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A3A"/>
                </a:solidFill>
                <a:latin typeface="DM Sans" pitchFamily="34" charset="0"/>
                <a:ea typeface="DM Sans" pitchFamily="34" charset="-122"/>
                <a:cs typeface="DM Sans" pitchFamily="34" charset="-120"/>
              </a:rPr>
              <a:t>Materials</a:t>
            </a:r>
            <a:endParaRPr lang="en-US" sz="1600" dirty="0"/>
          </a:p>
        </p:txBody>
      </p:sp>
      <p:sp>
        <p:nvSpPr>
          <p:cNvPr id="24" name="Text 17"/>
          <p:cNvSpPr/>
          <p:nvPr/>
        </p:nvSpPr>
        <p:spPr>
          <a:xfrm>
            <a:off x="1021080" y="4935220"/>
            <a:ext cx="217406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files and links per course</a:t>
            </a:r>
            <a:endParaRPr lang="en-US" sz="1300" dirty="0"/>
          </a:p>
        </p:txBody>
      </p:sp>
      <p:sp>
        <p:nvSpPr>
          <p:cNvPr id="25" name="Shape 18"/>
          <p:cNvSpPr/>
          <p:nvPr/>
        </p:nvSpPr>
        <p:spPr>
          <a:xfrm>
            <a:off x="3495675" y="4029075"/>
            <a:ext cx="2520950" cy="1708150"/>
          </a:xfrm>
          <a:prstGeom prst="roundRect">
            <a:avLst>
              <a:gd name="adj" fmla="val 5762"/>
            </a:avLst>
          </a:prstGeom>
          <a:solidFill>
            <a:srgbClr val="FFFFFF"/>
          </a:solidFill>
          <a:ln w="6350">
            <a:solidFill>
              <a:srgbClr val="DDD9CE"/>
            </a:solidFill>
            <a:prstDash val="solid"/>
          </a:ln>
          <a:effectLst>
            <a:outerShdw sx="100000" sy="100000" kx="0" ky="0" algn="bl" rotWithShape="0" blurRad="177800" dist="76200" dir="5400000">
              <a:srgbClr val="1D2A3A">
                <a:alpha val="8000"/>
              </a:srgbClr>
            </a:outerShdw>
          </a:effectLst>
        </p:spPr>
      </p:sp>
      <p:pic>
        <p:nvPicPr>
          <p:cNvPr id="26" name="Image 5" descr="Chart">    </p:cNvPr>
          <p:cNvPicPr>
            <a:picLocks noChangeAspect="1"/>
          </p:cNvPicPr>
          <p:nvPr/>
        </p:nvPicPr>
        <p:blipFill>
          <a:blip r:embed="rId6"/>
          <a:srcRect l="0" r="0" t="0" b="0"/>
          <a:stretch/>
        </p:blipFill>
        <p:spPr>
          <a:xfrm>
            <a:off x="3700780" y="4234180"/>
            <a:ext cx="304800" cy="304800"/>
          </a:xfrm>
          <a:prstGeom prst="rect">
            <a:avLst/>
          </a:prstGeom>
        </p:spPr>
      </p:pic>
      <p:sp>
        <p:nvSpPr>
          <p:cNvPr id="27" name="Text 19"/>
          <p:cNvSpPr/>
          <p:nvPr/>
        </p:nvSpPr>
        <p:spPr>
          <a:xfrm>
            <a:off x="3700780" y="4615180"/>
            <a:ext cx="21740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A3A"/>
                </a:solidFill>
                <a:latin typeface="DM Sans" pitchFamily="34" charset="0"/>
                <a:ea typeface="DM Sans" pitchFamily="34" charset="-122"/>
                <a:cs typeface="DM Sans" pitchFamily="34" charset="-120"/>
              </a:rPr>
              <a:t>Progress</a:t>
            </a:r>
            <a:endParaRPr lang="en-US" sz="1600" dirty="0"/>
          </a:p>
        </p:txBody>
      </p:sp>
      <p:sp>
        <p:nvSpPr>
          <p:cNvPr id="28" name="Text 20"/>
          <p:cNvSpPr/>
          <p:nvPr/>
        </p:nvSpPr>
        <p:spPr>
          <a:xfrm>
            <a:off x="3700780" y="4935220"/>
            <a:ext cx="217406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hours studied vs. goal</a:t>
            </a:r>
            <a:endParaRPr lang="en-US" sz="1300" dirty="0"/>
          </a:p>
        </p:txBody>
      </p:sp>
      <p:sp>
        <p:nvSpPr>
          <p:cNvPr id="29" name="Shape 21"/>
          <p:cNvSpPr/>
          <p:nvPr/>
        </p:nvSpPr>
        <p:spPr>
          <a:xfrm>
            <a:off x="6172200" y="4025900"/>
            <a:ext cx="5207000" cy="1714500"/>
          </a:xfrm>
          <a:prstGeom prst="roundRect">
            <a:avLst>
              <a:gd name="adj" fmla="val 5926"/>
            </a:avLst>
          </a:prstGeom>
          <a:gradFill rotWithShape="1">
            <a:gsLst>
              <a:gs pos="0">
                <a:srgbClr val="1D2A3A"/>
              </a:gs>
              <a:gs pos="100000">
                <a:srgbClr val="2C4A6E"/>
              </a:gs>
            </a:gsLst>
            <a:lin ang="2700000" scaled="0"/>
          </a:gradFill>
          <a:ln/>
          <a:effectLst>
            <a:outerShdw sx="100000" sy="100000" kx="0" ky="0" algn="bl" rotWithShape="0" blurRad="228600" dist="101600" dir="5400000">
              <a:srgbClr val="1D2A3A">
                <a:alpha val="25000"/>
              </a:srgbClr>
            </a:outerShdw>
          </a:effectLst>
        </p:spPr>
      </p:sp>
      <p:pic>
        <p:nvPicPr>
          <p:cNvPr id="30" name="Image 6" descr="Lightbulb">    </p:cNvPr>
          <p:cNvPicPr>
            <a:picLocks noChangeAspect="1"/>
          </p:cNvPicPr>
          <p:nvPr/>
        </p:nvPicPr>
        <p:blipFill>
          <a:blip r:embed="rId7"/>
          <a:srcRect l="0" r="0" t="0" b="0"/>
          <a:stretch/>
        </p:blipFill>
        <p:spPr>
          <a:xfrm>
            <a:off x="6375400" y="4229100"/>
            <a:ext cx="304800" cy="304800"/>
          </a:xfrm>
          <a:prstGeom prst="rect">
            <a:avLst/>
          </a:prstGeom>
        </p:spPr>
      </p:pic>
      <p:sp>
        <p:nvSpPr>
          <p:cNvPr id="31" name="Text 22"/>
          <p:cNvSpPr/>
          <p:nvPr/>
        </p:nvSpPr>
        <p:spPr>
          <a:xfrm>
            <a:off x="6375400" y="4610100"/>
            <a:ext cx="494461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5F1"/>
                </a:solidFill>
                <a:latin typeface="DM Sans" pitchFamily="34" charset="0"/>
                <a:ea typeface="DM Sans" pitchFamily="34" charset="-122"/>
                <a:cs typeface="DM Sans" pitchFamily="34" charset="-120"/>
              </a:rPr>
              <a:t>AI recommendations</a:t>
            </a:r>
            <a:endParaRPr lang="en-US" sz="1600" dirty="0"/>
          </a:p>
        </p:txBody>
      </p:sp>
      <p:sp>
        <p:nvSpPr>
          <p:cNvPr id="32" name="Text 23"/>
          <p:cNvSpPr/>
          <p:nvPr/>
        </p:nvSpPr>
        <p:spPr>
          <a:xfrm>
            <a:off x="6375400" y="4930141"/>
            <a:ext cx="494461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DF"/>
                </a:solidFill>
                <a:latin typeface="DM Sans" pitchFamily="34" charset="0"/>
                <a:ea typeface="DM Sans" pitchFamily="34" charset="-122"/>
                <a:cs typeface="DM Sans" pitchFamily="34" charset="-120"/>
              </a:rPr>
              <a:t>what to study next, with a plan the student can accept or dismiss</a:t>
            </a:r>
            <a:endParaRPr lang="en-US" sz="1300" dirty="0"/>
          </a:p>
        </p:txBody>
      </p:sp>
      <p:sp>
        <p:nvSpPr>
          <p:cNvPr id="33" name="Text 24"/>
          <p:cNvSpPr/>
          <p:nvPr/>
        </p:nvSpPr>
        <p:spPr>
          <a:xfrm>
            <a:off x="10693400" y="6238239"/>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AE3"/>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ECEAE3"/>
              </a:gs>
              <a:gs pos="100000">
                <a:srgbClr val="E3E0D6"/>
              </a:gs>
            </a:gsLst>
            <a:lin ang="5400000" scaled="0"/>
          </a:gradFill>
          <a:ln/>
        </p:spPr>
      </p:sp>
      <p:sp>
        <p:nvSpPr>
          <p:cNvPr id="3" name="Shape 1"/>
          <p:cNvSpPr/>
          <p:nvPr/>
        </p:nvSpPr>
        <p:spPr>
          <a:xfrm>
            <a:off x="812800" y="584200"/>
            <a:ext cx="609600" cy="50800"/>
          </a:xfrm>
          <a:prstGeom prst="roundRect">
            <a:avLst>
              <a:gd name="adj" fmla="val 50000"/>
            </a:avLst>
          </a:prstGeom>
          <a:solidFill>
            <a:srgbClr val="2E6AA8"/>
          </a:solidFill>
          <a:ln/>
        </p:spPr>
      </p:sp>
      <p:sp>
        <p:nvSpPr>
          <p:cNvPr id="4" name="Text 2"/>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D2A3A"/>
                </a:solidFill>
                <a:latin typeface="DM Sans" pitchFamily="34" charset="0"/>
                <a:ea typeface="DM Sans" pitchFamily="34" charset="-122"/>
                <a:cs typeface="DM Sans" pitchFamily="34" charset="-120"/>
              </a:rPr>
              <a:t>How the AI recommendation works</a:t>
            </a:r>
            <a:endParaRPr lang="en-US" sz="3200" dirty="0"/>
          </a:p>
        </p:txBody>
      </p:sp>
      <p:sp>
        <p:nvSpPr>
          <p:cNvPr id="5" name="Shape 3"/>
          <p:cNvSpPr/>
          <p:nvPr/>
        </p:nvSpPr>
        <p:spPr>
          <a:xfrm>
            <a:off x="812800" y="1587500"/>
            <a:ext cx="2184400" cy="2349500"/>
          </a:xfrm>
          <a:prstGeom prst="roundRect">
            <a:avLst>
              <a:gd name="adj" fmla="val 4651"/>
            </a:avLst>
          </a:prstGeom>
          <a:solidFill>
            <a:srgbClr val="FFFFFF"/>
          </a:solidFill>
          <a:ln/>
          <a:effectLst>
            <a:outerShdw sx="100000" sy="100000" kx="0" ky="0" algn="bl" rotWithShape="0" blurRad="177800" dist="76200" dir="5400000">
              <a:srgbClr val="1D2A3A">
                <a:alpha val="10000"/>
              </a:srgbClr>
            </a:outerShdw>
          </a:effectLst>
        </p:spPr>
      </p:sp>
      <p:sp>
        <p:nvSpPr>
          <p:cNvPr id="6" name="Text 4"/>
          <p:cNvSpPr/>
          <p:nvPr/>
        </p:nvSpPr>
        <p:spPr>
          <a:xfrm>
            <a:off x="1041400" y="1816100"/>
            <a:ext cx="177901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6AA8"/>
                </a:solidFill>
                <a:latin typeface="DM Sans" pitchFamily="34" charset="0"/>
                <a:ea typeface="DM Sans" pitchFamily="34" charset="-122"/>
                <a:cs typeface="DM Sans" pitchFamily="34" charset="-120"/>
              </a:rPr>
              <a:t>STEP 1 · RULES</a:t>
            </a:r>
            <a:endParaRPr lang="en-US" sz="1200" dirty="0"/>
          </a:p>
        </p:txBody>
      </p:sp>
      <p:sp>
        <p:nvSpPr>
          <p:cNvPr id="7" name="Text 5"/>
          <p:cNvSpPr/>
          <p:nvPr/>
        </p:nvSpPr>
        <p:spPr>
          <a:xfrm>
            <a:off x="1041400" y="2118361"/>
            <a:ext cx="1779016" cy="5435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D2A3A"/>
                </a:solidFill>
                <a:latin typeface="DM Sans" pitchFamily="34" charset="0"/>
                <a:ea typeface="DM Sans" pitchFamily="34" charset="-122"/>
                <a:cs typeface="DM Sans" pitchFamily="34" charset="-120"/>
              </a:rPr>
              <a:t>Find the study gap</a:t>
            </a:r>
            <a:endParaRPr lang="en-US" sz="1700" dirty="0"/>
          </a:p>
        </p:txBody>
      </p:sp>
      <p:sp>
        <p:nvSpPr>
          <p:cNvPr id="8" name="Text 6"/>
          <p:cNvSpPr/>
          <p:nvPr/>
        </p:nvSpPr>
        <p:spPr>
          <a:xfrm>
            <a:off x="1041400" y="2725421"/>
            <a:ext cx="1779016"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gap = hours needed − hours studied − hours planned</a:t>
            </a:r>
            <a:endParaRPr lang="en-US" sz="1300" dirty="0"/>
          </a:p>
        </p:txBody>
      </p:sp>
      <p:pic>
        <p:nvPicPr>
          <p:cNvPr id="9" name="Image 0" descr="arrow-right">    </p:cNvPr>
          <p:cNvPicPr>
            <a:picLocks noChangeAspect="1"/>
          </p:cNvPicPr>
          <p:nvPr/>
        </p:nvPicPr>
        <p:blipFill>
          <a:blip r:embed="rId1"/>
          <a:srcRect l="0" r="0" t="0" b="0"/>
          <a:stretch/>
        </p:blipFill>
        <p:spPr>
          <a:xfrm>
            <a:off x="3124200" y="2660650"/>
            <a:ext cx="355600" cy="203200"/>
          </a:xfrm>
          <a:prstGeom prst="rect">
            <a:avLst/>
          </a:prstGeom>
        </p:spPr>
      </p:pic>
      <p:sp>
        <p:nvSpPr>
          <p:cNvPr id="10" name="Shape 7"/>
          <p:cNvSpPr/>
          <p:nvPr/>
        </p:nvSpPr>
        <p:spPr>
          <a:xfrm>
            <a:off x="3606800" y="1587500"/>
            <a:ext cx="2184400" cy="2349500"/>
          </a:xfrm>
          <a:prstGeom prst="roundRect">
            <a:avLst>
              <a:gd name="adj" fmla="val 4651"/>
            </a:avLst>
          </a:prstGeom>
          <a:solidFill>
            <a:srgbClr val="FFFFFF"/>
          </a:solidFill>
          <a:ln/>
          <a:effectLst>
            <a:outerShdw sx="100000" sy="100000" kx="0" ky="0" algn="bl" rotWithShape="0" blurRad="177800" dist="76200" dir="5400000">
              <a:srgbClr val="1D2A3A">
                <a:alpha val="10000"/>
              </a:srgbClr>
            </a:outerShdw>
          </a:effectLst>
        </p:spPr>
      </p:sp>
      <p:sp>
        <p:nvSpPr>
          <p:cNvPr id="11" name="Text 8"/>
          <p:cNvSpPr/>
          <p:nvPr/>
        </p:nvSpPr>
        <p:spPr>
          <a:xfrm>
            <a:off x="3835400" y="1816100"/>
            <a:ext cx="177901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6AA8"/>
                </a:solidFill>
                <a:latin typeface="DM Sans" pitchFamily="34" charset="0"/>
                <a:ea typeface="DM Sans" pitchFamily="34" charset="-122"/>
                <a:cs typeface="DM Sans" pitchFamily="34" charset="-120"/>
              </a:rPr>
              <a:t>STEP 2 · RULES</a:t>
            </a:r>
            <a:endParaRPr lang="en-US" sz="1200" dirty="0"/>
          </a:p>
        </p:txBody>
      </p:sp>
      <p:sp>
        <p:nvSpPr>
          <p:cNvPr id="12" name="Text 9"/>
          <p:cNvSpPr/>
          <p:nvPr/>
        </p:nvSpPr>
        <p:spPr>
          <a:xfrm>
            <a:off x="3835400" y="2118361"/>
            <a:ext cx="1779016"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D2A3A"/>
                </a:solidFill>
                <a:latin typeface="DM Sans" pitchFamily="34" charset="0"/>
                <a:ea typeface="DM Sans" pitchFamily="34" charset="-122"/>
                <a:cs typeface="DM Sans" pitchFamily="34" charset="-120"/>
              </a:rPr>
              <a:t>Rank and plan</a:t>
            </a:r>
            <a:endParaRPr lang="en-US" sz="1700" dirty="0"/>
          </a:p>
        </p:txBody>
      </p:sp>
      <p:sp>
        <p:nvSpPr>
          <p:cNvPr id="13" name="Text 10"/>
          <p:cNvSpPr/>
          <p:nvPr/>
        </p:nvSpPr>
        <p:spPr>
          <a:xfrm>
            <a:off x="3835400" y="2466339"/>
            <a:ext cx="1779016"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top 3 by deadline, priority and task type; sessions of up to 2 hours</a:t>
            </a:r>
            <a:endParaRPr lang="en-US" sz="1300" dirty="0"/>
          </a:p>
        </p:txBody>
      </p:sp>
      <p:pic>
        <p:nvPicPr>
          <p:cNvPr id="14" name="Image 1" descr="arrow-right">    </p:cNvPr>
          <p:cNvPicPr>
            <a:picLocks noChangeAspect="1"/>
          </p:cNvPicPr>
          <p:nvPr/>
        </p:nvPicPr>
        <p:blipFill>
          <a:blip r:embed="rId2"/>
          <a:srcRect l="0" r="0" t="0" b="0"/>
          <a:stretch/>
        </p:blipFill>
        <p:spPr>
          <a:xfrm>
            <a:off x="5918200" y="2660650"/>
            <a:ext cx="355600" cy="203200"/>
          </a:xfrm>
          <a:prstGeom prst="rect">
            <a:avLst/>
          </a:prstGeom>
        </p:spPr>
      </p:pic>
      <p:sp>
        <p:nvSpPr>
          <p:cNvPr id="15" name="Shape 11"/>
          <p:cNvSpPr/>
          <p:nvPr/>
        </p:nvSpPr>
        <p:spPr>
          <a:xfrm>
            <a:off x="6400800" y="1587500"/>
            <a:ext cx="2184400" cy="2349500"/>
          </a:xfrm>
          <a:prstGeom prst="roundRect">
            <a:avLst>
              <a:gd name="adj" fmla="val 4651"/>
            </a:avLst>
          </a:prstGeom>
          <a:solidFill>
            <a:srgbClr val="FFFFFF"/>
          </a:solidFill>
          <a:ln/>
          <a:effectLst>
            <a:outerShdw sx="100000" sy="100000" kx="0" ky="0" algn="bl" rotWithShape="0" blurRad="177800" dist="76200" dir="5400000">
              <a:srgbClr val="1D2A3A">
                <a:alpha val="10000"/>
              </a:srgbClr>
            </a:outerShdw>
          </a:effectLst>
        </p:spPr>
      </p:sp>
      <p:sp>
        <p:nvSpPr>
          <p:cNvPr id="16" name="Text 12"/>
          <p:cNvSpPr/>
          <p:nvPr/>
        </p:nvSpPr>
        <p:spPr>
          <a:xfrm>
            <a:off x="6629400" y="1816100"/>
            <a:ext cx="177901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8662F"/>
                </a:solidFill>
                <a:latin typeface="DM Sans" pitchFamily="34" charset="0"/>
                <a:ea typeface="DM Sans" pitchFamily="34" charset="-122"/>
                <a:cs typeface="DM Sans" pitchFamily="34" charset="-120"/>
              </a:rPr>
              <a:t>STEP 3 · LLM</a:t>
            </a:r>
            <a:endParaRPr lang="en-US" sz="1200" dirty="0"/>
          </a:p>
        </p:txBody>
      </p:sp>
      <p:sp>
        <p:nvSpPr>
          <p:cNvPr id="17" name="Text 13"/>
          <p:cNvSpPr/>
          <p:nvPr/>
        </p:nvSpPr>
        <p:spPr>
          <a:xfrm>
            <a:off x="6629400" y="2118361"/>
            <a:ext cx="1779016"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D2A3A"/>
                </a:solidFill>
                <a:latin typeface="DM Sans" pitchFamily="34" charset="0"/>
                <a:ea typeface="DM Sans" pitchFamily="34" charset="-122"/>
                <a:cs typeface="DM Sans" pitchFamily="34" charset="-120"/>
              </a:rPr>
              <a:t>Explain it</a:t>
            </a:r>
            <a:endParaRPr lang="en-US" sz="1700" dirty="0"/>
          </a:p>
        </p:txBody>
      </p:sp>
      <p:sp>
        <p:nvSpPr>
          <p:cNvPr id="18" name="Text 14"/>
          <p:cNvSpPr/>
          <p:nvPr/>
        </p:nvSpPr>
        <p:spPr>
          <a:xfrm>
            <a:off x="6629400" y="2466339"/>
            <a:ext cx="1779016"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writes the message and reason; rule-based text if it fails</a:t>
            </a:r>
            <a:endParaRPr lang="en-US" sz="1300" dirty="0"/>
          </a:p>
        </p:txBody>
      </p:sp>
      <p:pic>
        <p:nvPicPr>
          <p:cNvPr id="19" name="Image 2" descr="arrow-right">    </p:cNvPr>
          <p:cNvPicPr>
            <a:picLocks noChangeAspect="1"/>
          </p:cNvPicPr>
          <p:nvPr/>
        </p:nvPicPr>
        <p:blipFill>
          <a:blip r:embed="rId3"/>
          <a:srcRect l="0" r="0" t="0" b="0"/>
          <a:stretch/>
        </p:blipFill>
        <p:spPr>
          <a:xfrm>
            <a:off x="8712200" y="2660650"/>
            <a:ext cx="355600" cy="203200"/>
          </a:xfrm>
          <a:prstGeom prst="rect">
            <a:avLst/>
          </a:prstGeom>
        </p:spPr>
      </p:pic>
      <p:sp>
        <p:nvSpPr>
          <p:cNvPr id="20" name="Shape 15"/>
          <p:cNvSpPr/>
          <p:nvPr/>
        </p:nvSpPr>
        <p:spPr>
          <a:xfrm>
            <a:off x="9194800" y="1587500"/>
            <a:ext cx="2184400" cy="2349500"/>
          </a:xfrm>
          <a:prstGeom prst="roundRect">
            <a:avLst>
              <a:gd name="adj" fmla="val 4651"/>
            </a:avLst>
          </a:prstGeom>
          <a:gradFill rotWithShape="1">
            <a:gsLst>
              <a:gs pos="0">
                <a:srgbClr val="1D2A3A"/>
              </a:gs>
              <a:gs pos="100000">
                <a:srgbClr val="2C4A6E"/>
              </a:gs>
            </a:gsLst>
            <a:lin ang="2700000" scaled="0"/>
          </a:gradFill>
          <a:ln/>
          <a:effectLst>
            <a:outerShdw sx="100000" sy="100000" kx="0" ky="0" algn="bl" rotWithShape="0" blurRad="228600" dist="101600" dir="5400000">
              <a:srgbClr val="1D2A3A">
                <a:alpha val="25000"/>
              </a:srgbClr>
            </a:outerShdw>
          </a:effectLst>
        </p:spPr>
      </p:sp>
      <p:sp>
        <p:nvSpPr>
          <p:cNvPr id="21" name="Text 16"/>
          <p:cNvSpPr/>
          <p:nvPr/>
        </p:nvSpPr>
        <p:spPr>
          <a:xfrm>
            <a:off x="9423400" y="1816100"/>
            <a:ext cx="177901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8E3"/>
                </a:solidFill>
                <a:latin typeface="DM Sans" pitchFamily="34" charset="0"/>
                <a:ea typeface="DM Sans" pitchFamily="34" charset="-122"/>
                <a:cs typeface="DM Sans" pitchFamily="34" charset="-120"/>
              </a:rPr>
              <a:t>STEP 4 · STUDENT</a:t>
            </a:r>
            <a:endParaRPr lang="en-US" sz="1200" dirty="0"/>
          </a:p>
        </p:txBody>
      </p:sp>
      <p:sp>
        <p:nvSpPr>
          <p:cNvPr id="22" name="Text 17"/>
          <p:cNvSpPr/>
          <p:nvPr/>
        </p:nvSpPr>
        <p:spPr>
          <a:xfrm>
            <a:off x="9423400" y="2118361"/>
            <a:ext cx="1779016" cy="5435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5F1"/>
                </a:solidFill>
                <a:latin typeface="DM Sans" pitchFamily="34" charset="0"/>
                <a:ea typeface="DM Sans" pitchFamily="34" charset="-122"/>
                <a:cs typeface="DM Sans" pitchFamily="34" charset="-120"/>
              </a:rPr>
              <a:t>Accept or dismiss</a:t>
            </a:r>
            <a:endParaRPr lang="en-US" sz="1700" dirty="0"/>
          </a:p>
        </p:txBody>
      </p:sp>
      <p:sp>
        <p:nvSpPr>
          <p:cNvPr id="23" name="Text 18"/>
          <p:cNvSpPr/>
          <p:nvPr/>
        </p:nvSpPr>
        <p:spPr>
          <a:xfrm>
            <a:off x="9423400" y="2725421"/>
            <a:ext cx="1779016"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DF"/>
                </a:solidFill>
                <a:latin typeface="DM Sans" pitchFamily="34" charset="0"/>
                <a:ea typeface="DM Sans" pitchFamily="34" charset="-122"/>
                <a:cs typeface="DM Sans" pitchFamily="34" charset="-120"/>
              </a:rPr>
              <a:t>accepting adds the sessions to the schedule</a:t>
            </a:r>
            <a:endParaRPr lang="en-US" sz="1300" dirty="0"/>
          </a:p>
        </p:txBody>
      </p:sp>
      <p:sp>
        <p:nvSpPr>
          <p:cNvPr id="24" name="Text 19"/>
          <p:cNvSpPr/>
          <p:nvPr/>
        </p:nvSpPr>
        <p:spPr>
          <a:xfrm>
            <a:off x="812800" y="4318000"/>
            <a:ext cx="10464800" cy="6654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D2A3A"/>
                </a:solidFill>
                <a:latin typeface="DM Sans" pitchFamily="34" charset="0"/>
                <a:ea typeface="DM Sans" pitchFamily="34" charset="-122"/>
                <a:cs typeface="DM Sans" pitchFamily="34" charset="-120"/>
              </a:rPr>
              <a:t>Key design choice:</a:t>
            </a:r>
            <a:r>
              <a:rPr lang="en-US" sz="1800" dirty="0">
                <a:solidFill>
                  <a:srgbClr val="1D2A3A"/>
                </a:solidFill>
                <a:latin typeface="DM Sans" pitchFamily="34" charset="0"/>
                <a:ea typeface="DM Sans" pitchFamily="34" charset="-122"/>
                <a:cs typeface="DM Sans" pitchFamily="34" charset="-120"/>
              </a:rPr>
              <a:t> the LLM never sets the hours or dates, so it can’t invent numbers in the student’s schedule.</a:t>
            </a:r>
            <a:endParaRPr lang="en-US" sz="1800" dirty="0"/>
          </a:p>
        </p:txBody>
      </p:sp>
      <p:sp>
        <p:nvSpPr>
          <p:cNvPr id="25" name="Text 20"/>
          <p:cNvSpPr/>
          <p:nvPr/>
        </p:nvSpPr>
        <p:spPr>
          <a:xfrm>
            <a:off x="10693400" y="6238239"/>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6F5F1"/>
              </a:gs>
              <a:gs pos="100000">
                <a:srgbClr val="ECEAE3"/>
              </a:gs>
            </a:gsLst>
            <a:lin ang="5400000" scaled="0"/>
          </a:gradFill>
          <a:ln/>
        </p:spPr>
      </p:sp>
      <p:sp>
        <p:nvSpPr>
          <p:cNvPr id="3" name="Shape 1"/>
          <p:cNvSpPr/>
          <p:nvPr/>
        </p:nvSpPr>
        <p:spPr>
          <a:xfrm>
            <a:off x="812800" y="584200"/>
            <a:ext cx="609600" cy="50800"/>
          </a:xfrm>
          <a:prstGeom prst="roundRect">
            <a:avLst>
              <a:gd name="adj" fmla="val 50000"/>
            </a:avLst>
          </a:prstGeom>
          <a:solidFill>
            <a:srgbClr val="2E6AA8"/>
          </a:solidFill>
          <a:ln/>
        </p:spPr>
      </p:sp>
      <p:sp>
        <p:nvSpPr>
          <p:cNvPr id="4" name="Text 2"/>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D2A3A"/>
                </a:solidFill>
                <a:latin typeface="DM Sans" pitchFamily="34" charset="0"/>
                <a:ea typeface="DM Sans" pitchFamily="34" charset="-122"/>
                <a:cs typeface="DM Sans" pitchFamily="34" charset="-120"/>
              </a:rPr>
              <a:t>Architecture: a MERN web app in Docker</a:t>
            </a:r>
            <a:endParaRPr lang="en-US" sz="3200" dirty="0"/>
          </a:p>
        </p:txBody>
      </p:sp>
      <p:sp>
        <p:nvSpPr>
          <p:cNvPr id="5" name="Shape 3"/>
          <p:cNvSpPr/>
          <p:nvPr/>
        </p:nvSpPr>
        <p:spPr>
          <a:xfrm>
            <a:off x="815975" y="1590675"/>
            <a:ext cx="7283450" cy="3911600"/>
          </a:xfrm>
          <a:prstGeom prst="roundRect">
            <a:avLst>
              <a:gd name="adj" fmla="val 2516"/>
            </a:avLst>
          </a:prstGeom>
          <a:solidFill>
            <a:srgbClr val="FFFFFF"/>
          </a:solidFill>
          <a:ln w="6350">
            <a:solidFill>
              <a:srgbClr val="DDD9CE"/>
            </a:solidFill>
            <a:prstDash val="solid"/>
          </a:ln>
          <a:effectLst>
            <a:outerShdw sx="100000" sy="100000" kx="0" ky="0" algn="bl" rotWithShape="0" blurRad="254000" dist="114300" dir="5400000">
              <a:srgbClr val="1D2A3A">
                <a:alpha val="10000"/>
              </a:srgbClr>
            </a:outerShdw>
          </a:effectLst>
        </p:spPr>
      </p:sp>
      <p:pic>
        <p:nvPicPr>
          <p:cNvPr id="6" name="Image 0" descr="Architecture diagram: the student’s browser loads the React client, which calls the Express server through /api; the server holds the REST API, the rule engine and the LLM service, and uses MongoDB, an uploads folder and an optional LLM">    </p:cNvPr>
          <p:cNvPicPr>
            <a:picLocks noChangeAspect="1"/>
          </p:cNvPicPr>
          <p:nvPr/>
        </p:nvPicPr>
        <p:blipFill>
          <a:blip r:embed="rId1"/>
          <a:srcRect l="-105" r="-105" t="0" b="0"/>
          <a:stretch/>
        </p:blipFill>
        <p:spPr>
          <a:xfrm>
            <a:off x="970280" y="1744982"/>
            <a:ext cx="6985000" cy="3602990"/>
          </a:xfrm>
          <a:prstGeom prst="rect">
            <a:avLst/>
          </a:prstGeom>
        </p:spPr>
      </p:pic>
      <p:sp>
        <p:nvSpPr>
          <p:cNvPr id="7" name="Text 4"/>
          <p:cNvSpPr/>
          <p:nvPr/>
        </p:nvSpPr>
        <p:spPr>
          <a:xfrm>
            <a:off x="8407400" y="2095500"/>
            <a:ext cx="306095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A3A"/>
                </a:solidFill>
                <a:latin typeface="DM Sans" pitchFamily="34" charset="0"/>
                <a:ea typeface="DM Sans" pitchFamily="34" charset="-122"/>
                <a:cs typeface="DM Sans" pitchFamily="34" charset="-120"/>
              </a:rPr>
              <a:t>React</a:t>
            </a:r>
            <a:r>
              <a:rPr lang="en-US" sz="1400" dirty="0">
                <a:solidFill>
                  <a:srgbClr val="4A5568"/>
                </a:solidFill>
                <a:latin typeface="DM Sans" pitchFamily="34" charset="0"/>
                <a:ea typeface="DM Sans" pitchFamily="34" charset="-122"/>
                <a:cs typeface="DM Sans" pitchFamily="34" charset="-120"/>
              </a:rPr>
              <a:t> front end</a:t>
            </a:r>
            <a:endParaRPr lang="en-US" sz="1400" dirty="0"/>
          </a:p>
        </p:txBody>
      </p:sp>
      <p:sp>
        <p:nvSpPr>
          <p:cNvPr id="8" name="Text 5"/>
          <p:cNvSpPr/>
          <p:nvPr/>
        </p:nvSpPr>
        <p:spPr>
          <a:xfrm>
            <a:off x="8407400" y="2484121"/>
            <a:ext cx="306095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A3A"/>
                </a:solidFill>
                <a:latin typeface="DM Sans" pitchFamily="34" charset="0"/>
                <a:ea typeface="DM Sans" pitchFamily="34" charset="-122"/>
                <a:cs typeface="DM Sans" pitchFamily="34" charset="-120"/>
              </a:rPr>
              <a:t>Express + Node.js</a:t>
            </a:r>
            <a:r>
              <a:rPr lang="en-US" sz="1400" dirty="0">
                <a:solidFill>
                  <a:srgbClr val="4A5568"/>
                </a:solidFill>
                <a:latin typeface="DM Sans" pitchFamily="34" charset="0"/>
                <a:ea typeface="DM Sans" pitchFamily="34" charset="-122"/>
                <a:cs typeface="DM Sans" pitchFamily="34" charset="-120"/>
              </a:rPr>
              <a:t> API</a:t>
            </a:r>
            <a:endParaRPr lang="en-US" sz="1400" dirty="0"/>
          </a:p>
        </p:txBody>
      </p:sp>
      <p:sp>
        <p:nvSpPr>
          <p:cNvPr id="9" name="Text 6"/>
          <p:cNvSpPr/>
          <p:nvPr/>
        </p:nvSpPr>
        <p:spPr>
          <a:xfrm>
            <a:off x="8407400" y="2872739"/>
            <a:ext cx="306095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A3A"/>
                </a:solidFill>
                <a:latin typeface="DM Sans" pitchFamily="34" charset="0"/>
                <a:ea typeface="DM Sans" pitchFamily="34" charset="-122"/>
                <a:cs typeface="DM Sans" pitchFamily="34" charset="-120"/>
              </a:rPr>
              <a:t>MongoDB</a:t>
            </a:r>
            <a:r>
              <a:rPr lang="en-US" sz="1400" dirty="0">
                <a:solidFill>
                  <a:srgbClr val="4A5568"/>
                </a:solidFill>
                <a:latin typeface="DM Sans" pitchFamily="34" charset="0"/>
                <a:ea typeface="DM Sans" pitchFamily="34" charset="-122"/>
                <a:cs typeface="DM Sans" pitchFamily="34" charset="-120"/>
              </a:rPr>
              <a:t> database</a:t>
            </a:r>
            <a:endParaRPr lang="en-US" sz="1400" dirty="0"/>
          </a:p>
        </p:txBody>
      </p:sp>
      <p:sp>
        <p:nvSpPr>
          <p:cNvPr id="10" name="Text 7"/>
          <p:cNvSpPr/>
          <p:nvPr/>
        </p:nvSpPr>
        <p:spPr>
          <a:xfrm>
            <a:off x="8407400" y="3261361"/>
            <a:ext cx="306095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A3A"/>
                </a:solidFill>
                <a:latin typeface="DM Sans" pitchFamily="34" charset="0"/>
                <a:ea typeface="DM Sans" pitchFamily="34" charset="-122"/>
                <a:cs typeface="DM Sans" pitchFamily="34" charset="-120"/>
              </a:rPr>
              <a:t>Llama 3.2</a:t>
            </a:r>
            <a:r>
              <a:rPr lang="en-US" sz="1400" dirty="0">
                <a:solidFill>
                  <a:srgbClr val="4A5568"/>
                </a:solidFill>
                <a:latin typeface="DM Sans" pitchFamily="34" charset="0"/>
                <a:ea typeface="DM Sans" pitchFamily="34" charset="-122"/>
                <a:cs typeface="DM Sans" pitchFamily="34" charset="-120"/>
              </a:rPr>
              <a:t> via Ollama (optional)</a:t>
            </a:r>
            <a:endParaRPr lang="en-US" sz="1400" dirty="0"/>
          </a:p>
        </p:txBody>
      </p:sp>
      <p:sp>
        <p:nvSpPr>
          <p:cNvPr id="11" name="Text 8"/>
          <p:cNvSpPr/>
          <p:nvPr/>
        </p:nvSpPr>
        <p:spPr>
          <a:xfrm>
            <a:off x="8407400" y="3649982"/>
            <a:ext cx="306095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A3A"/>
                </a:solidFill>
                <a:latin typeface="DM Sans" pitchFamily="34" charset="0"/>
                <a:ea typeface="DM Sans" pitchFamily="34" charset="-122"/>
                <a:cs typeface="DM Sans" pitchFamily="34" charset="-120"/>
              </a:rPr>
              <a:t>Docker Compose</a:t>
            </a:r>
            <a:r>
              <a:rPr lang="en-US" sz="1400" dirty="0">
                <a:solidFill>
                  <a:srgbClr val="4A5568"/>
                </a:solidFill>
                <a:latin typeface="DM Sans" pitchFamily="34" charset="0"/>
                <a:ea typeface="DM Sans" pitchFamily="34" charset="-122"/>
                <a:cs typeface="DM Sans" pitchFamily="34" charset="-120"/>
              </a:rPr>
              <a:t> starts it all</a:t>
            </a:r>
            <a:endParaRPr lang="en-US" sz="1400" dirty="0"/>
          </a:p>
        </p:txBody>
      </p:sp>
      <p:sp>
        <p:nvSpPr>
          <p:cNvPr id="12" name="Text 9"/>
          <p:cNvSpPr/>
          <p:nvPr/>
        </p:nvSpPr>
        <p:spPr>
          <a:xfrm>
            <a:off x="10693400" y="6238239"/>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6F5F1"/>
              </a:gs>
              <a:gs pos="100000">
                <a:srgbClr val="ECEAE3"/>
              </a:gs>
            </a:gsLst>
            <a:lin ang="5400000" scaled="0"/>
          </a:gradFill>
          <a:ln/>
        </p:spPr>
      </p:sp>
      <p:sp>
        <p:nvSpPr>
          <p:cNvPr id="3" name="Shape 1"/>
          <p:cNvSpPr/>
          <p:nvPr/>
        </p:nvSpPr>
        <p:spPr>
          <a:xfrm>
            <a:off x="812800" y="584200"/>
            <a:ext cx="609600" cy="50800"/>
          </a:xfrm>
          <a:prstGeom prst="roundRect">
            <a:avLst>
              <a:gd name="adj" fmla="val 50000"/>
            </a:avLst>
          </a:prstGeom>
          <a:solidFill>
            <a:srgbClr val="2E6AA8"/>
          </a:solidFill>
          <a:ln/>
        </p:spPr>
      </p:sp>
      <p:sp>
        <p:nvSpPr>
          <p:cNvPr id="4" name="Text 2"/>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D2A3A"/>
                </a:solidFill>
                <a:latin typeface="DM Sans" pitchFamily="34" charset="0"/>
                <a:ea typeface="DM Sans" pitchFamily="34" charset="-122"/>
                <a:cs typeface="DM Sans" pitchFamily="34" charset="-120"/>
              </a:rPr>
              <a:t>UML class diagram</a:t>
            </a:r>
            <a:endParaRPr lang="en-US" sz="3200" dirty="0"/>
          </a:p>
        </p:txBody>
      </p:sp>
      <p:sp>
        <p:nvSpPr>
          <p:cNvPr id="5" name="Shape 3"/>
          <p:cNvSpPr/>
          <p:nvPr/>
        </p:nvSpPr>
        <p:spPr>
          <a:xfrm>
            <a:off x="815975" y="1590675"/>
            <a:ext cx="10560050" cy="3130550"/>
          </a:xfrm>
          <a:prstGeom prst="roundRect">
            <a:avLst>
              <a:gd name="adj" fmla="val 3144"/>
            </a:avLst>
          </a:prstGeom>
          <a:solidFill>
            <a:srgbClr val="FFFFFF"/>
          </a:solidFill>
          <a:ln w="6350">
            <a:solidFill>
              <a:srgbClr val="DDD9CE"/>
            </a:solidFill>
            <a:prstDash val="solid"/>
          </a:ln>
          <a:effectLst>
            <a:outerShdw sx="100000" sy="100000" kx="0" ky="0" algn="bl" rotWithShape="0" blurRad="254000" dist="114300" dir="5400000">
              <a:srgbClr val="1D2A3A">
                <a:alpha val="10000"/>
              </a:srgbClr>
            </a:outerShdw>
          </a:effectLst>
        </p:spPr>
      </p:sp>
      <p:pic>
        <p:nvPicPr>
          <p:cNvPr id="6" name="Image 0" descr="UML class diagram with Student, Course, Task, Material, StudyLog, StudySchedule, StudySession, Reminder, RecommendationEngine and Recommendation, and the relationships between them">    </p:cNvPr>
          <p:cNvPicPr>
            <a:picLocks noChangeAspect="1"/>
          </p:cNvPicPr>
          <p:nvPr/>
        </p:nvPicPr>
        <p:blipFill>
          <a:blip r:embed="rId1"/>
          <a:srcRect l="-130" r="-130" t="0" b="0"/>
          <a:stretch/>
        </p:blipFill>
        <p:spPr>
          <a:xfrm>
            <a:off x="970280" y="1744982"/>
            <a:ext cx="10261600" cy="2821940"/>
          </a:xfrm>
          <a:prstGeom prst="rect">
            <a:avLst/>
          </a:prstGeom>
        </p:spPr>
      </p:pic>
      <p:sp>
        <p:nvSpPr>
          <p:cNvPr id="7" name="Text 4"/>
          <p:cNvSpPr/>
          <p:nvPr/>
        </p:nvSpPr>
        <p:spPr>
          <a:xfrm>
            <a:off x="812800" y="4953000"/>
            <a:ext cx="1046480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A </a:t>
            </a:r>
            <a:r>
              <a:rPr lang="en-US" sz="1600" b="1" dirty="0">
                <a:solidFill>
                  <a:srgbClr val="1D2A3A"/>
                </a:solidFill>
                <a:latin typeface="DM Sans" pitchFamily="34" charset="0"/>
                <a:ea typeface="DM Sans" pitchFamily="34" charset="-122"/>
                <a:cs typeface="DM Sans" pitchFamily="34" charset="-120"/>
              </a:rPr>
              <a:t>Student</a:t>
            </a:r>
            <a:r>
              <a:rPr lang="en-US" sz="1600" dirty="0">
                <a:solidFill>
                  <a:srgbClr val="4A5568"/>
                </a:solidFill>
                <a:latin typeface="DM Sans" pitchFamily="34" charset="0"/>
                <a:ea typeface="DM Sans" pitchFamily="34" charset="-122"/>
                <a:cs typeface="DM Sans" pitchFamily="34" charset="-120"/>
              </a:rPr>
              <a:t> creates </a:t>
            </a:r>
            <a:r>
              <a:rPr lang="en-US" sz="1600" b="1" dirty="0">
                <a:solidFill>
                  <a:srgbClr val="1D2A3A"/>
                </a:solidFill>
                <a:latin typeface="DM Sans" pitchFamily="34" charset="0"/>
                <a:ea typeface="DM Sans" pitchFamily="34" charset="-122"/>
                <a:cs typeface="DM Sans" pitchFamily="34" charset="-120"/>
              </a:rPr>
              <a:t>Courses</a:t>
            </a:r>
            <a:r>
              <a:rPr lang="en-US" sz="1600" dirty="0">
                <a:solidFill>
                  <a:srgbClr val="4A5568"/>
                </a:solidFill>
                <a:latin typeface="DM Sans" pitchFamily="34" charset="0"/>
                <a:ea typeface="DM Sans" pitchFamily="34" charset="-122"/>
                <a:cs typeface="DM Sans" pitchFamily="34" charset="-120"/>
              </a:rPr>
              <a:t>, which hold Tasks, Materials and Study Logs. The </a:t>
            </a:r>
            <a:r>
              <a:rPr lang="en-US" sz="1600" b="1" dirty="0">
                <a:solidFill>
                  <a:srgbClr val="1D2A3A"/>
                </a:solidFill>
                <a:latin typeface="DM Sans" pitchFamily="34" charset="0"/>
                <a:ea typeface="DM Sans" pitchFamily="34" charset="-122"/>
                <a:cs typeface="DM Sans" pitchFamily="34" charset="-120"/>
              </a:rPr>
              <a:t>RecommendationEngine</a:t>
            </a:r>
            <a:r>
              <a:rPr lang="en-US" sz="1600" dirty="0">
                <a:solidFill>
                  <a:srgbClr val="4A5568"/>
                </a:solidFill>
                <a:latin typeface="DM Sans" pitchFamily="34" charset="0"/>
                <a:ea typeface="DM Sans" pitchFamily="34" charset="-122"/>
                <a:cs typeface="DM Sans" pitchFamily="34" charset="-120"/>
              </a:rPr>
              <a:t> reads the student’s data and creates </a:t>
            </a:r>
            <a:r>
              <a:rPr lang="en-US" sz="1600" b="1" dirty="0">
                <a:solidFill>
                  <a:srgbClr val="1D2A3A"/>
                </a:solidFill>
                <a:latin typeface="DM Sans" pitchFamily="34" charset="0"/>
                <a:ea typeface="DM Sans" pitchFamily="34" charset="-122"/>
                <a:cs typeface="DM Sans" pitchFamily="34" charset="-120"/>
              </a:rPr>
              <a:t>Recommendations</a:t>
            </a:r>
            <a:r>
              <a:rPr lang="en-US" sz="1600" dirty="0">
                <a:solidFill>
                  <a:srgbClr val="4A5568"/>
                </a:solidFill>
                <a:latin typeface="DM Sans" pitchFamily="34" charset="0"/>
                <a:ea typeface="DM Sans" pitchFamily="34" charset="-122"/>
                <a:cs typeface="DM Sans" pitchFamily="34" charset="-120"/>
              </a:rPr>
              <a:t> that propose Study Sessions.</a:t>
            </a:r>
            <a:endParaRPr lang="en-US" sz="1600" dirty="0"/>
          </a:p>
        </p:txBody>
      </p:sp>
      <p:sp>
        <p:nvSpPr>
          <p:cNvPr id="8" name="Text 5"/>
          <p:cNvSpPr/>
          <p:nvPr/>
        </p:nvSpPr>
        <p:spPr>
          <a:xfrm>
            <a:off x="10693400" y="6238239"/>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6F5F1"/>
              </a:gs>
              <a:gs pos="100000">
                <a:srgbClr val="ECEAE3"/>
              </a:gs>
            </a:gsLst>
            <a:lin ang="5400000" scaled="0"/>
          </a:gradFill>
          <a:ln/>
        </p:spPr>
      </p:sp>
      <p:sp>
        <p:nvSpPr>
          <p:cNvPr id="3" name="Shape 1"/>
          <p:cNvSpPr/>
          <p:nvPr/>
        </p:nvSpPr>
        <p:spPr>
          <a:xfrm>
            <a:off x="812800" y="584200"/>
            <a:ext cx="609600" cy="50800"/>
          </a:xfrm>
          <a:prstGeom prst="roundRect">
            <a:avLst>
              <a:gd name="adj" fmla="val 50000"/>
            </a:avLst>
          </a:prstGeom>
          <a:solidFill>
            <a:srgbClr val="2E6AA8"/>
          </a:solidFill>
          <a:ln/>
        </p:spPr>
      </p:sp>
      <p:sp>
        <p:nvSpPr>
          <p:cNvPr id="4" name="Text 2"/>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D2A3A"/>
                </a:solidFill>
                <a:latin typeface="DM Sans" pitchFamily="34" charset="0"/>
                <a:ea typeface="DM Sans" pitchFamily="34" charset="-122"/>
                <a:cs typeface="DM Sans" pitchFamily="34" charset="-120"/>
              </a:rPr>
              <a:t>CRC cards for the main classes</a:t>
            </a:r>
            <a:endParaRPr lang="en-US" sz="3200" dirty="0"/>
          </a:p>
        </p:txBody>
      </p:sp>
      <p:sp>
        <p:nvSpPr>
          <p:cNvPr id="5" name="Shape 3"/>
          <p:cNvSpPr/>
          <p:nvPr/>
        </p:nvSpPr>
        <p:spPr>
          <a:xfrm>
            <a:off x="815975" y="1590675"/>
            <a:ext cx="3397250" cy="3549650"/>
          </a:xfrm>
          <a:prstGeom prst="roundRect">
            <a:avLst>
              <a:gd name="adj" fmla="val 2150"/>
            </a:avLst>
          </a:prstGeom>
          <a:solidFill>
            <a:srgbClr val="FFFFFF"/>
          </a:solidFill>
          <a:ln w="6350">
            <a:solidFill>
              <a:srgbClr val="DDD9CE"/>
            </a:solidFill>
            <a:prstDash val="solid"/>
          </a:ln>
          <a:effectLst>
            <a:outerShdw sx="100000" sy="100000" kx="0" ky="0" algn="bl" rotWithShape="0" blurRad="203200" dist="88900" dir="5400000">
              <a:srgbClr val="1D2A3A">
                <a:alpha val="10000"/>
              </a:srgbClr>
            </a:outerShdw>
          </a:effectLst>
        </p:spPr>
      </p:sp>
      <p:sp>
        <p:nvSpPr>
          <p:cNvPr id="6" name="Text 4"/>
          <p:cNvSpPr/>
          <p:nvPr/>
        </p:nvSpPr>
        <p:spPr>
          <a:xfrm>
            <a:off x="1021080" y="1795782"/>
            <a:ext cx="307665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A3A"/>
                </a:solidFill>
                <a:latin typeface="DM Sans" pitchFamily="34" charset="0"/>
                <a:ea typeface="DM Sans" pitchFamily="34" charset="-122"/>
                <a:cs typeface="DM Sans" pitchFamily="34" charset="-120"/>
              </a:rPr>
              <a:t>RecommendationEngine</a:t>
            </a:r>
            <a:endParaRPr lang="en-US" sz="1600" dirty="0"/>
          </a:p>
        </p:txBody>
      </p:sp>
      <p:sp>
        <p:nvSpPr>
          <p:cNvPr id="7" name="Text 5"/>
          <p:cNvSpPr/>
          <p:nvPr/>
        </p:nvSpPr>
        <p:spPr>
          <a:xfrm>
            <a:off x="1021080" y="2128521"/>
            <a:ext cx="307665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6AA8"/>
                </a:solidFill>
                <a:latin typeface="DM Sans" pitchFamily="34" charset="0"/>
                <a:ea typeface="DM Sans" pitchFamily="34" charset="-122"/>
                <a:cs typeface="DM Sans" pitchFamily="34" charset="-120"/>
              </a:rPr>
              <a:t>RESPONSIBILITIES</a:t>
            </a:r>
            <a:endParaRPr lang="en-US" sz="1200" dirty="0"/>
          </a:p>
        </p:txBody>
      </p:sp>
      <p:sp>
        <p:nvSpPr>
          <p:cNvPr id="8" name="Text 6"/>
          <p:cNvSpPr/>
          <p:nvPr/>
        </p:nvSpPr>
        <p:spPr>
          <a:xfrm>
            <a:off x="1119886" y="2430782"/>
            <a:ext cx="2970225" cy="1130300"/>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4A5568"/>
                </a:solidFill>
                <a:latin typeface="DM Sans" pitchFamily="34" charset="0"/>
                <a:ea typeface="DM Sans" pitchFamily="34" charset="-122"/>
                <a:cs typeface="DM Sans" pitchFamily="34" charset="-120"/>
              </a:rPr>
              <a:t>Find tasks due in 14 days</a:t>
            </a:r>
            <a:endParaRPr lang="en-US" sz="1200" dirty="0"/>
          </a:p>
          <a:p>
            <a:pPr algn="l" marL="155194" indent="-155194">
              <a:lnSpc>
                <a:spcPts val="1740"/>
              </a:lnSpc>
              <a:buSzPct val="100000"/>
              <a:buChar char="•"/>
            </a:pPr>
            <a:r>
              <a:rPr lang="en-US" sz="1200" dirty="0">
                <a:solidFill>
                  <a:srgbClr val="4A5568"/>
                </a:solidFill>
                <a:latin typeface="DM Sans" pitchFamily="34" charset="0"/>
                <a:ea typeface="DM Sans" pitchFamily="34" charset="-122"/>
                <a:cs typeface="DM Sans" pitchFamily="34" charset="-120"/>
              </a:rPr>
              <a:t>Calculate each study gap</a:t>
            </a:r>
            <a:endParaRPr lang="en-US" sz="1200" dirty="0"/>
          </a:p>
          <a:p>
            <a:pPr algn="l" marL="155194" indent="-155194">
              <a:lnSpc>
                <a:spcPts val="1740"/>
              </a:lnSpc>
              <a:buSzPct val="100000"/>
              <a:buChar char="•"/>
            </a:pPr>
            <a:r>
              <a:rPr lang="en-US" sz="1200" dirty="0">
                <a:solidFill>
                  <a:srgbClr val="4A5568"/>
                </a:solidFill>
                <a:latin typeface="DM Sans" pitchFamily="34" charset="0"/>
                <a:ea typeface="DM Sans" pitchFamily="34" charset="-122"/>
                <a:cs typeface="DM Sans" pitchFamily="34" charset="-120"/>
              </a:rPr>
              <a:t>Rank the gaps</a:t>
            </a:r>
            <a:endParaRPr lang="en-US" sz="1200" dirty="0"/>
          </a:p>
          <a:p>
            <a:pPr algn="l" marL="155194" indent="-155194">
              <a:lnSpc>
                <a:spcPts val="1740"/>
              </a:lnSpc>
              <a:buSzPct val="100000"/>
              <a:buChar char="•"/>
            </a:pPr>
            <a:r>
              <a:rPr lang="en-US" sz="1200" dirty="0">
                <a:solidFill>
                  <a:srgbClr val="4A5568"/>
                </a:solidFill>
                <a:latin typeface="DM Sans" pitchFamily="34" charset="0"/>
                <a:ea typeface="DM Sans" pitchFamily="34" charset="-122"/>
                <a:cs typeface="DM Sans" pitchFamily="34" charset="-120"/>
              </a:rPr>
              <a:t>Build a session plan</a:t>
            </a:r>
            <a:endParaRPr lang="en-US" sz="1200" dirty="0"/>
          </a:p>
          <a:p>
            <a:pPr algn="l" marL="155194" indent="-155194">
              <a:lnSpc>
                <a:spcPts val="1740"/>
              </a:lnSpc>
              <a:buSzPct val="100000"/>
              <a:buChar char="•"/>
            </a:pPr>
            <a:r>
              <a:rPr lang="en-US" sz="1200" dirty="0">
                <a:solidFill>
                  <a:srgbClr val="4A5568"/>
                </a:solidFill>
                <a:latin typeface="DM Sans" pitchFamily="34" charset="0"/>
                <a:ea typeface="DM Sans" pitchFamily="34" charset="-122"/>
                <a:cs typeface="DM Sans" pitchFamily="34" charset="-120"/>
              </a:rPr>
              <a:t>Create recommendations</a:t>
            </a:r>
            <a:endParaRPr lang="en-US" sz="1200" dirty="0"/>
          </a:p>
        </p:txBody>
      </p:sp>
      <p:sp>
        <p:nvSpPr>
          <p:cNvPr id="9" name="Text 7"/>
          <p:cNvSpPr/>
          <p:nvPr/>
        </p:nvSpPr>
        <p:spPr>
          <a:xfrm>
            <a:off x="1021080" y="3624582"/>
            <a:ext cx="307665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6AA8"/>
                </a:solidFill>
                <a:latin typeface="DM Sans" pitchFamily="34" charset="0"/>
                <a:ea typeface="DM Sans" pitchFamily="34" charset="-122"/>
                <a:cs typeface="DM Sans" pitchFamily="34" charset="-120"/>
              </a:rPr>
              <a:t>COLLABORATORS</a:t>
            </a:r>
            <a:endParaRPr lang="en-US" sz="1200" dirty="0"/>
          </a:p>
        </p:txBody>
      </p:sp>
      <p:sp>
        <p:nvSpPr>
          <p:cNvPr id="10" name="Text 8"/>
          <p:cNvSpPr/>
          <p:nvPr/>
        </p:nvSpPr>
        <p:spPr>
          <a:xfrm>
            <a:off x="1021080" y="3926839"/>
            <a:ext cx="3076651"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DM Sans" pitchFamily="34" charset="0"/>
                <a:ea typeface="DM Sans" pitchFamily="34" charset="-122"/>
                <a:cs typeface="DM Sans" pitchFamily="34" charset="-120"/>
              </a:rPr>
              <a:t>Student, Task, Course, StudySchedule, StudySession, Recommendation</a:t>
            </a:r>
            <a:endParaRPr lang="en-US" sz="1200" dirty="0"/>
          </a:p>
        </p:txBody>
      </p:sp>
      <p:sp>
        <p:nvSpPr>
          <p:cNvPr id="11" name="Shape 9"/>
          <p:cNvSpPr/>
          <p:nvPr/>
        </p:nvSpPr>
        <p:spPr>
          <a:xfrm>
            <a:off x="4397375" y="1590675"/>
            <a:ext cx="3397250" cy="3549650"/>
          </a:xfrm>
          <a:prstGeom prst="roundRect">
            <a:avLst>
              <a:gd name="adj" fmla="val 2150"/>
            </a:avLst>
          </a:prstGeom>
          <a:solidFill>
            <a:srgbClr val="FFFFFF"/>
          </a:solidFill>
          <a:ln w="6350">
            <a:solidFill>
              <a:srgbClr val="DDD9CE"/>
            </a:solidFill>
            <a:prstDash val="solid"/>
          </a:ln>
          <a:effectLst>
            <a:outerShdw sx="100000" sy="100000" kx="0" ky="0" algn="bl" rotWithShape="0" blurRad="203200" dist="88900" dir="5400000">
              <a:srgbClr val="1D2A3A">
                <a:alpha val="10000"/>
              </a:srgbClr>
            </a:outerShdw>
          </a:effectLst>
        </p:spPr>
      </p:sp>
      <p:sp>
        <p:nvSpPr>
          <p:cNvPr id="12" name="Text 10"/>
          <p:cNvSpPr/>
          <p:nvPr/>
        </p:nvSpPr>
        <p:spPr>
          <a:xfrm>
            <a:off x="4602480" y="1795782"/>
            <a:ext cx="307665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A3A"/>
                </a:solidFill>
                <a:latin typeface="DM Sans" pitchFamily="34" charset="0"/>
                <a:ea typeface="DM Sans" pitchFamily="34" charset="-122"/>
                <a:cs typeface="DM Sans" pitchFamily="34" charset="-120"/>
              </a:rPr>
              <a:t>Course</a:t>
            </a:r>
            <a:endParaRPr lang="en-US" sz="1600" dirty="0"/>
          </a:p>
        </p:txBody>
      </p:sp>
      <p:sp>
        <p:nvSpPr>
          <p:cNvPr id="13" name="Text 11"/>
          <p:cNvSpPr/>
          <p:nvPr/>
        </p:nvSpPr>
        <p:spPr>
          <a:xfrm>
            <a:off x="4602480" y="2128521"/>
            <a:ext cx="307665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6AA8"/>
                </a:solidFill>
                <a:latin typeface="DM Sans" pitchFamily="34" charset="0"/>
                <a:ea typeface="DM Sans" pitchFamily="34" charset="-122"/>
                <a:cs typeface="DM Sans" pitchFamily="34" charset="-120"/>
              </a:rPr>
              <a:t>RESPONSIBILITIES</a:t>
            </a:r>
            <a:endParaRPr lang="en-US" sz="1200" dirty="0"/>
          </a:p>
        </p:txBody>
      </p:sp>
      <p:sp>
        <p:nvSpPr>
          <p:cNvPr id="14" name="Text 12"/>
          <p:cNvSpPr/>
          <p:nvPr/>
        </p:nvSpPr>
        <p:spPr>
          <a:xfrm>
            <a:off x="4701286" y="2430782"/>
            <a:ext cx="2970225" cy="1130300"/>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4A5568"/>
                </a:solidFill>
                <a:latin typeface="DM Sans" pitchFamily="34" charset="0"/>
                <a:ea typeface="DM Sans" pitchFamily="34" charset="-122"/>
                <a:cs typeface="DM Sans" pitchFamily="34" charset="-120"/>
              </a:rPr>
              <a:t>Know its code, name and goal</a:t>
            </a:r>
            <a:endParaRPr lang="en-US" sz="1200" dirty="0"/>
          </a:p>
          <a:p>
            <a:pPr algn="l" marL="155194" indent="-155194">
              <a:lnSpc>
                <a:spcPts val="1740"/>
              </a:lnSpc>
              <a:buSzPct val="100000"/>
              <a:buChar char="•"/>
            </a:pPr>
            <a:r>
              <a:rPr lang="en-US" sz="1200" dirty="0">
                <a:solidFill>
                  <a:srgbClr val="4A5568"/>
                </a:solidFill>
                <a:latin typeface="DM Sans" pitchFamily="34" charset="0"/>
                <a:ea typeface="DM Sans" pitchFamily="34" charset="-122"/>
                <a:cs typeface="DM Sans" pitchFamily="34" charset="-120"/>
              </a:rPr>
              <a:t>Keep its tasks</a:t>
            </a:r>
            <a:endParaRPr lang="en-US" sz="1200" dirty="0"/>
          </a:p>
          <a:p>
            <a:pPr algn="l" marL="155194" indent="-155194">
              <a:lnSpc>
                <a:spcPts val="1740"/>
              </a:lnSpc>
              <a:buSzPct val="100000"/>
              <a:buChar char="•"/>
            </a:pPr>
            <a:r>
              <a:rPr lang="en-US" sz="1200" dirty="0">
                <a:solidFill>
                  <a:srgbClr val="4A5568"/>
                </a:solidFill>
                <a:latin typeface="DM Sans" pitchFamily="34" charset="0"/>
                <a:ea typeface="DM Sans" pitchFamily="34" charset="-122"/>
                <a:cs typeface="DM Sans" pitchFamily="34" charset="-120"/>
              </a:rPr>
              <a:t>Keep its files and links</a:t>
            </a:r>
            <a:endParaRPr lang="en-US" sz="1200" dirty="0"/>
          </a:p>
          <a:p>
            <a:pPr algn="l" marL="155194" indent="-155194">
              <a:lnSpc>
                <a:spcPts val="1740"/>
              </a:lnSpc>
              <a:buSzPct val="100000"/>
              <a:buChar char="•"/>
            </a:pPr>
            <a:r>
              <a:rPr lang="en-US" sz="1200" dirty="0">
                <a:solidFill>
                  <a:srgbClr val="4A5568"/>
                </a:solidFill>
                <a:latin typeface="DM Sans" pitchFamily="34" charset="0"/>
                <a:ea typeface="DM Sans" pitchFamily="34" charset="-122"/>
                <a:cs typeface="DM Sans" pitchFamily="34" charset="-120"/>
              </a:rPr>
              <a:t>Record study time</a:t>
            </a:r>
            <a:endParaRPr lang="en-US" sz="1200" dirty="0"/>
          </a:p>
          <a:p>
            <a:pPr algn="l" marL="155194" indent="-155194">
              <a:lnSpc>
                <a:spcPts val="1740"/>
              </a:lnSpc>
              <a:buSzPct val="100000"/>
              <a:buChar char="•"/>
            </a:pPr>
            <a:r>
              <a:rPr lang="en-US" sz="1200" dirty="0">
                <a:solidFill>
                  <a:srgbClr val="4A5568"/>
                </a:solidFill>
                <a:latin typeface="DM Sans" pitchFamily="34" charset="0"/>
                <a:ea typeface="DM Sans" pitchFamily="34" charset="-122"/>
                <a:cs typeface="DM Sans" pitchFamily="34" charset="-120"/>
              </a:rPr>
              <a:t>Report weekly progress</a:t>
            </a:r>
            <a:endParaRPr lang="en-US" sz="1200" dirty="0"/>
          </a:p>
        </p:txBody>
      </p:sp>
      <p:sp>
        <p:nvSpPr>
          <p:cNvPr id="15" name="Text 13"/>
          <p:cNvSpPr/>
          <p:nvPr/>
        </p:nvSpPr>
        <p:spPr>
          <a:xfrm>
            <a:off x="4602480" y="3624582"/>
            <a:ext cx="307665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6AA8"/>
                </a:solidFill>
                <a:latin typeface="DM Sans" pitchFamily="34" charset="0"/>
                <a:ea typeface="DM Sans" pitchFamily="34" charset="-122"/>
                <a:cs typeface="DM Sans" pitchFamily="34" charset="-120"/>
              </a:rPr>
              <a:t>COLLABORATORS</a:t>
            </a:r>
            <a:endParaRPr lang="en-US" sz="1200" dirty="0"/>
          </a:p>
        </p:txBody>
      </p:sp>
      <p:sp>
        <p:nvSpPr>
          <p:cNvPr id="16" name="Text 14"/>
          <p:cNvSpPr/>
          <p:nvPr/>
        </p:nvSpPr>
        <p:spPr>
          <a:xfrm>
            <a:off x="4602480" y="3926839"/>
            <a:ext cx="3076651"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DM Sans" pitchFamily="34" charset="0"/>
                <a:ea typeface="DM Sans" pitchFamily="34" charset="-122"/>
                <a:cs typeface="DM Sans" pitchFamily="34" charset="-120"/>
              </a:rPr>
              <a:t>Task, Material, StudyLog, StudySession</a:t>
            </a:r>
            <a:endParaRPr lang="en-US" sz="1200" dirty="0"/>
          </a:p>
        </p:txBody>
      </p:sp>
      <p:sp>
        <p:nvSpPr>
          <p:cNvPr id="17" name="Shape 15"/>
          <p:cNvSpPr/>
          <p:nvPr/>
        </p:nvSpPr>
        <p:spPr>
          <a:xfrm>
            <a:off x="7978775" y="1590675"/>
            <a:ext cx="3397250" cy="3549650"/>
          </a:xfrm>
          <a:prstGeom prst="roundRect">
            <a:avLst>
              <a:gd name="adj" fmla="val 2150"/>
            </a:avLst>
          </a:prstGeom>
          <a:solidFill>
            <a:srgbClr val="FFFFFF"/>
          </a:solidFill>
          <a:ln w="6350">
            <a:solidFill>
              <a:srgbClr val="DDD9CE"/>
            </a:solidFill>
            <a:prstDash val="solid"/>
          </a:ln>
          <a:effectLst>
            <a:outerShdw sx="100000" sy="100000" kx="0" ky="0" algn="bl" rotWithShape="0" blurRad="203200" dist="88900" dir="5400000">
              <a:srgbClr val="1D2A3A">
                <a:alpha val="10000"/>
              </a:srgbClr>
            </a:outerShdw>
          </a:effectLst>
        </p:spPr>
      </p:sp>
      <p:sp>
        <p:nvSpPr>
          <p:cNvPr id="18" name="Text 16"/>
          <p:cNvSpPr/>
          <p:nvPr/>
        </p:nvSpPr>
        <p:spPr>
          <a:xfrm>
            <a:off x="8183880" y="1795782"/>
            <a:ext cx="307665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A3A"/>
                </a:solidFill>
                <a:latin typeface="DM Sans" pitchFamily="34" charset="0"/>
                <a:ea typeface="DM Sans" pitchFamily="34" charset="-122"/>
                <a:cs typeface="DM Sans" pitchFamily="34" charset="-120"/>
              </a:rPr>
              <a:t>Recommendation</a:t>
            </a:r>
            <a:endParaRPr lang="en-US" sz="1600" dirty="0"/>
          </a:p>
        </p:txBody>
      </p:sp>
      <p:sp>
        <p:nvSpPr>
          <p:cNvPr id="19" name="Text 17"/>
          <p:cNvSpPr/>
          <p:nvPr/>
        </p:nvSpPr>
        <p:spPr>
          <a:xfrm>
            <a:off x="8183880" y="2128521"/>
            <a:ext cx="307665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6AA8"/>
                </a:solidFill>
                <a:latin typeface="DM Sans" pitchFamily="34" charset="0"/>
                <a:ea typeface="DM Sans" pitchFamily="34" charset="-122"/>
                <a:cs typeface="DM Sans" pitchFamily="34" charset="-120"/>
              </a:rPr>
              <a:t>RESPONSIBILITIES</a:t>
            </a:r>
            <a:endParaRPr lang="en-US" sz="1200" dirty="0"/>
          </a:p>
        </p:txBody>
      </p:sp>
      <p:sp>
        <p:nvSpPr>
          <p:cNvPr id="20" name="Text 18"/>
          <p:cNvSpPr/>
          <p:nvPr/>
        </p:nvSpPr>
        <p:spPr>
          <a:xfrm>
            <a:off x="8282686" y="2430782"/>
            <a:ext cx="2970225" cy="1130300"/>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4A5568"/>
                </a:solidFill>
                <a:latin typeface="DM Sans" pitchFamily="34" charset="0"/>
                <a:ea typeface="DM Sans" pitchFamily="34" charset="-122"/>
                <a:cs typeface="DM Sans" pitchFamily="34" charset="-120"/>
              </a:rPr>
              <a:t>Know its message and reason</a:t>
            </a:r>
            <a:endParaRPr lang="en-US" sz="1200" dirty="0"/>
          </a:p>
          <a:p>
            <a:pPr algn="l" marL="155194" indent="-155194">
              <a:lnSpc>
                <a:spcPts val="1740"/>
              </a:lnSpc>
              <a:buSzPct val="100000"/>
              <a:buChar char="•"/>
            </a:pPr>
            <a:r>
              <a:rPr lang="en-US" sz="1200" dirty="0">
                <a:solidFill>
                  <a:srgbClr val="4A5568"/>
                </a:solidFill>
                <a:latin typeface="DM Sans" pitchFamily="34" charset="0"/>
                <a:ea typeface="DM Sans" pitchFamily="34" charset="-122"/>
                <a:cs typeface="DM Sans" pitchFamily="34" charset="-120"/>
              </a:rPr>
              <a:t>Know which task it is about</a:t>
            </a:r>
            <a:endParaRPr lang="en-US" sz="1200" dirty="0"/>
          </a:p>
          <a:p>
            <a:pPr algn="l" marL="155194" indent="-155194">
              <a:lnSpc>
                <a:spcPts val="1740"/>
              </a:lnSpc>
              <a:buSzPct val="100000"/>
              <a:buChar char="•"/>
            </a:pPr>
            <a:r>
              <a:rPr lang="en-US" sz="1200" dirty="0">
                <a:solidFill>
                  <a:srgbClr val="4A5568"/>
                </a:solidFill>
                <a:latin typeface="DM Sans" pitchFamily="34" charset="0"/>
                <a:ea typeface="DM Sans" pitchFamily="34" charset="-122"/>
                <a:cs typeface="DM Sans" pitchFamily="34" charset="-120"/>
              </a:rPr>
              <a:t>Hold the proposed sessions</a:t>
            </a:r>
            <a:endParaRPr lang="en-US" sz="1200" dirty="0"/>
          </a:p>
          <a:p>
            <a:pPr algn="l" marL="155194" indent="-155194">
              <a:lnSpc>
                <a:spcPts val="1740"/>
              </a:lnSpc>
              <a:buSzPct val="100000"/>
              <a:buChar char="•"/>
            </a:pPr>
            <a:r>
              <a:rPr lang="en-US" sz="1200" dirty="0">
                <a:solidFill>
                  <a:srgbClr val="4A5568"/>
                </a:solidFill>
                <a:latin typeface="DM Sans" pitchFamily="34" charset="0"/>
                <a:ea typeface="DM Sans" pitchFamily="34" charset="-122"/>
                <a:cs typeface="DM Sans" pitchFamily="34" charset="-120"/>
              </a:rPr>
              <a:t>Add sessions when accepted</a:t>
            </a:r>
            <a:endParaRPr lang="en-US" sz="1200" dirty="0"/>
          </a:p>
          <a:p>
            <a:pPr algn="l" marL="155194" indent="-155194">
              <a:lnSpc>
                <a:spcPts val="1740"/>
              </a:lnSpc>
              <a:buSzPct val="100000"/>
              <a:buChar char="•"/>
            </a:pPr>
            <a:r>
              <a:rPr lang="en-US" sz="1200" dirty="0">
                <a:solidFill>
                  <a:srgbClr val="4A5568"/>
                </a:solidFill>
                <a:latin typeface="DM Sans" pitchFamily="34" charset="0"/>
                <a:ea typeface="DM Sans" pitchFamily="34" charset="-122"/>
                <a:cs typeface="DM Sans" pitchFamily="34" charset="-120"/>
              </a:rPr>
              <a:t>Hide itself when dismissed</a:t>
            </a:r>
            <a:endParaRPr lang="en-US" sz="1200" dirty="0"/>
          </a:p>
        </p:txBody>
      </p:sp>
      <p:sp>
        <p:nvSpPr>
          <p:cNvPr id="21" name="Text 19"/>
          <p:cNvSpPr/>
          <p:nvPr/>
        </p:nvSpPr>
        <p:spPr>
          <a:xfrm>
            <a:off x="8183880" y="3624582"/>
            <a:ext cx="307665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6AA8"/>
                </a:solidFill>
                <a:latin typeface="DM Sans" pitchFamily="34" charset="0"/>
                <a:ea typeface="DM Sans" pitchFamily="34" charset="-122"/>
                <a:cs typeface="DM Sans" pitchFamily="34" charset="-120"/>
              </a:rPr>
              <a:t>COLLABORATORS</a:t>
            </a:r>
            <a:endParaRPr lang="en-US" sz="1200" dirty="0"/>
          </a:p>
        </p:txBody>
      </p:sp>
      <p:sp>
        <p:nvSpPr>
          <p:cNvPr id="22" name="Text 20"/>
          <p:cNvSpPr/>
          <p:nvPr/>
        </p:nvSpPr>
        <p:spPr>
          <a:xfrm>
            <a:off x="8183880" y="3926839"/>
            <a:ext cx="3076651"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DM Sans" pitchFamily="34" charset="0"/>
                <a:ea typeface="DM Sans" pitchFamily="34" charset="-122"/>
                <a:cs typeface="DM Sans" pitchFamily="34" charset="-120"/>
              </a:rPr>
              <a:t>Task, StudySession, StudySchedule</a:t>
            </a:r>
            <a:endParaRPr lang="en-US" sz="1200" dirty="0"/>
          </a:p>
        </p:txBody>
      </p:sp>
      <p:sp>
        <p:nvSpPr>
          <p:cNvPr id="23" name="Text 21"/>
          <p:cNvSpPr/>
          <p:nvPr/>
        </p:nvSpPr>
        <p:spPr>
          <a:xfrm>
            <a:off x="10693400" y="6238242"/>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6F5F1"/>
              </a:gs>
              <a:gs pos="100000">
                <a:srgbClr val="ECEAE3"/>
              </a:gs>
            </a:gsLst>
            <a:lin ang="5400000" scaled="0"/>
          </a:gradFill>
          <a:ln/>
        </p:spPr>
      </p:sp>
      <p:sp>
        <p:nvSpPr>
          <p:cNvPr id="3" name="Shape 1"/>
          <p:cNvSpPr/>
          <p:nvPr/>
        </p:nvSpPr>
        <p:spPr>
          <a:xfrm>
            <a:off x="812800" y="584200"/>
            <a:ext cx="609600" cy="50800"/>
          </a:xfrm>
          <a:prstGeom prst="roundRect">
            <a:avLst>
              <a:gd name="adj" fmla="val 50000"/>
            </a:avLst>
          </a:prstGeom>
          <a:solidFill>
            <a:srgbClr val="2E6AA8"/>
          </a:solidFill>
          <a:ln/>
        </p:spPr>
      </p:sp>
      <p:sp>
        <p:nvSpPr>
          <p:cNvPr id="4" name="Text 2"/>
          <p:cNvSpPr/>
          <p:nvPr>
            <p:ph type="title"/>
          </p:nvPr>
        </p:nvSpPr>
        <p:spPr>
          <a:xfrm>
            <a:off x="812800" y="812800"/>
            <a:ext cx="9810750"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D2A3A"/>
                </a:solidFill>
                <a:latin typeface="DM Sans" pitchFamily="34" charset="0"/>
                <a:ea typeface="DM Sans" pitchFamily="34" charset="-122"/>
                <a:cs typeface="DM Sans" pitchFamily="34" charset="-120"/>
              </a:rPr>
              <a:t>Sequence diagram: getting and accepting a recommendation</a:t>
            </a:r>
            <a:endParaRPr lang="en-US" sz="3200" dirty="0"/>
          </a:p>
        </p:txBody>
      </p:sp>
      <p:sp>
        <p:nvSpPr>
          <p:cNvPr id="5" name="Shape 3"/>
          <p:cNvSpPr/>
          <p:nvPr/>
        </p:nvSpPr>
        <p:spPr>
          <a:xfrm>
            <a:off x="815975" y="1971675"/>
            <a:ext cx="6464300" cy="3803650"/>
          </a:xfrm>
          <a:prstGeom prst="roundRect">
            <a:avLst>
              <a:gd name="adj" fmla="val 2588"/>
            </a:avLst>
          </a:prstGeom>
          <a:solidFill>
            <a:srgbClr val="FFFFFF"/>
          </a:solidFill>
          <a:ln w="6350">
            <a:solidFill>
              <a:srgbClr val="DDD9CE"/>
            </a:solidFill>
            <a:prstDash val="solid"/>
          </a:ln>
          <a:effectLst>
            <a:outerShdw sx="100000" sy="100000" kx="0" ky="0" algn="bl" rotWithShape="0" blurRad="254000" dist="114300" dir="5400000">
              <a:srgbClr val="1D2A3A">
                <a:alpha val="10000"/>
              </a:srgbClr>
            </a:outerShdw>
          </a:effectLst>
        </p:spPr>
      </p:sp>
      <p:pic>
        <p:nvPicPr>
          <p:cNvPr id="6" name="Image 0" descr="Sequence diagram between Student, Web App, Server, Database and AI Model, in 12 numbered steps from opening the dashboard to showing the updated schedule">    </p:cNvPr>
          <p:cNvPicPr>
            <a:picLocks noChangeAspect="1"/>
          </p:cNvPicPr>
          <p:nvPr/>
        </p:nvPicPr>
        <p:blipFill>
          <a:blip r:embed="rId1"/>
          <a:srcRect l="-151" r="-151" t="0" b="0"/>
          <a:stretch/>
        </p:blipFill>
        <p:spPr>
          <a:xfrm>
            <a:off x="944880" y="2100579"/>
            <a:ext cx="6216650" cy="3545840"/>
          </a:xfrm>
          <a:prstGeom prst="rect">
            <a:avLst/>
          </a:prstGeom>
        </p:spPr>
      </p:pic>
      <p:sp>
        <p:nvSpPr>
          <p:cNvPr id="7" name="Text 4"/>
          <p:cNvSpPr/>
          <p:nvPr/>
        </p:nvSpPr>
        <p:spPr>
          <a:xfrm>
            <a:off x="7588250" y="2413000"/>
            <a:ext cx="3904678"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A3A"/>
                </a:solidFill>
                <a:latin typeface="DM Sans" pitchFamily="34" charset="0"/>
                <a:ea typeface="DM Sans" pitchFamily="34" charset="-122"/>
                <a:cs typeface="DM Sans" pitchFamily="34" charset="-120"/>
              </a:rPr>
              <a:t>Steps 1–4:</a:t>
            </a:r>
            <a:r>
              <a:rPr lang="en-US" sz="1400" dirty="0">
                <a:solidFill>
                  <a:srgbClr val="4A5568"/>
                </a:solidFill>
                <a:latin typeface="DM Sans" pitchFamily="34" charset="0"/>
                <a:ea typeface="DM Sans" pitchFamily="34" charset="-122"/>
                <a:cs typeface="DM Sans" pitchFamily="34" charset="-120"/>
              </a:rPr>
              <a:t> the server gets deadlines and study hours</a:t>
            </a:r>
            <a:endParaRPr lang="en-US" sz="1400" dirty="0"/>
          </a:p>
        </p:txBody>
      </p:sp>
      <p:sp>
        <p:nvSpPr>
          <p:cNvPr id="8" name="Text 5"/>
          <p:cNvSpPr/>
          <p:nvPr/>
        </p:nvSpPr>
        <p:spPr>
          <a:xfrm>
            <a:off x="7588250" y="3365500"/>
            <a:ext cx="418538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A3A"/>
                </a:solidFill>
                <a:latin typeface="DM Sans" pitchFamily="34" charset="0"/>
                <a:ea typeface="DM Sans" pitchFamily="34" charset="-122"/>
                <a:cs typeface="DM Sans" pitchFamily="34" charset="-120"/>
              </a:rPr>
              <a:t>Steps 5–8:</a:t>
            </a:r>
            <a:r>
              <a:rPr lang="en-US" sz="1400" dirty="0">
                <a:solidFill>
                  <a:srgbClr val="4A5568"/>
                </a:solidFill>
                <a:latin typeface="DM Sans" pitchFamily="34" charset="0"/>
                <a:ea typeface="DM Sans" pitchFamily="34" charset="-122"/>
                <a:cs typeface="DM Sans" pitchFamily="34" charset="-120"/>
              </a:rPr>
              <a:t> the AI model writes the advice</a:t>
            </a:r>
            <a:endParaRPr lang="en-US" sz="1400" dirty="0"/>
          </a:p>
        </p:txBody>
      </p:sp>
      <p:sp>
        <p:nvSpPr>
          <p:cNvPr id="9" name="Text 6"/>
          <p:cNvSpPr/>
          <p:nvPr/>
        </p:nvSpPr>
        <p:spPr>
          <a:xfrm>
            <a:off x="7588250" y="4318000"/>
            <a:ext cx="3904678"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A3A"/>
                </a:solidFill>
                <a:latin typeface="DM Sans" pitchFamily="34" charset="0"/>
                <a:ea typeface="DM Sans" pitchFamily="34" charset="-122"/>
                <a:cs typeface="DM Sans" pitchFamily="34" charset="-120"/>
              </a:rPr>
              <a:t>Steps 9–12:</a:t>
            </a:r>
            <a:r>
              <a:rPr lang="en-US" sz="1400" dirty="0">
                <a:solidFill>
                  <a:srgbClr val="4A5568"/>
                </a:solidFill>
                <a:latin typeface="DM Sans" pitchFamily="34" charset="0"/>
                <a:ea typeface="DM Sans" pitchFamily="34" charset="-122"/>
                <a:cs typeface="DM Sans" pitchFamily="34" charset="-120"/>
              </a:rPr>
              <a:t> the student accepts and the schedule updates</a:t>
            </a:r>
            <a:endParaRPr lang="en-US" sz="1400" dirty="0"/>
          </a:p>
        </p:txBody>
      </p:sp>
      <p:sp>
        <p:nvSpPr>
          <p:cNvPr id="10" name="Text 7"/>
          <p:cNvSpPr/>
          <p:nvPr/>
        </p:nvSpPr>
        <p:spPr>
          <a:xfrm>
            <a:off x="10693400" y="6238242"/>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6F5F1"/>
              </a:gs>
              <a:gs pos="100000">
                <a:srgbClr val="ECEAE3"/>
              </a:gs>
            </a:gsLst>
            <a:lin ang="5400000" scaled="0"/>
          </a:gradFill>
          <a:ln/>
        </p:spPr>
      </p:sp>
      <p:sp>
        <p:nvSpPr>
          <p:cNvPr id="3" name="Shape 1"/>
          <p:cNvSpPr/>
          <p:nvPr/>
        </p:nvSpPr>
        <p:spPr>
          <a:xfrm>
            <a:off x="812800" y="584200"/>
            <a:ext cx="609600" cy="50800"/>
          </a:xfrm>
          <a:prstGeom prst="roundRect">
            <a:avLst>
              <a:gd name="adj" fmla="val 50000"/>
            </a:avLst>
          </a:prstGeom>
          <a:solidFill>
            <a:srgbClr val="2E6AA8"/>
          </a:solidFill>
          <a:ln/>
        </p:spPr>
      </p:sp>
      <p:sp>
        <p:nvSpPr>
          <p:cNvPr id="4" name="Text 2"/>
          <p:cNvSpPr/>
          <p:nvPr>
            <p:ph type="title"/>
          </p:nvPr>
        </p:nvSpPr>
        <p:spPr>
          <a:xfrm>
            <a:off x="812800" y="812800"/>
            <a:ext cx="9810750"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D2A3A"/>
                </a:solidFill>
                <a:latin typeface="DM Sans" pitchFamily="34" charset="0"/>
                <a:ea typeface="DM Sans" pitchFamily="34" charset="-122"/>
                <a:cs typeface="DM Sans" pitchFamily="34" charset="-120"/>
              </a:rPr>
              <a:t>State machine diagram: a recommendation’s life</a:t>
            </a:r>
            <a:endParaRPr lang="en-US" sz="3200" dirty="0"/>
          </a:p>
        </p:txBody>
      </p:sp>
      <p:sp>
        <p:nvSpPr>
          <p:cNvPr id="5" name="Shape 3"/>
          <p:cNvSpPr/>
          <p:nvPr/>
        </p:nvSpPr>
        <p:spPr>
          <a:xfrm>
            <a:off x="815975" y="2035175"/>
            <a:ext cx="7029450" cy="3200400"/>
          </a:xfrm>
          <a:prstGeom prst="roundRect">
            <a:avLst>
              <a:gd name="adj" fmla="val 3075"/>
            </a:avLst>
          </a:prstGeom>
          <a:solidFill>
            <a:srgbClr val="FFFFFF"/>
          </a:solidFill>
          <a:ln w="6350">
            <a:solidFill>
              <a:srgbClr val="DDD9CE"/>
            </a:solidFill>
            <a:prstDash val="solid"/>
          </a:ln>
          <a:effectLst>
            <a:outerShdw sx="100000" sy="100000" kx="0" ky="0" algn="bl" rotWithShape="0" blurRad="254000" dist="114300" dir="5400000">
              <a:srgbClr val="1D2A3A">
                <a:alpha val="10000"/>
              </a:srgbClr>
            </a:outerShdw>
          </a:effectLst>
        </p:spPr>
      </p:sp>
      <p:pic>
        <p:nvPicPr>
          <p:cNvPr id="6" name="Image 0" descr="State machine: Start goes to Pending when created; Pending goes to Accepted when the student accepts or to Dismissed when the student dismisses; both go to End">    </p:cNvPr>
          <p:cNvPicPr>
            <a:picLocks noChangeAspect="1"/>
          </p:cNvPicPr>
          <p:nvPr/>
        </p:nvPicPr>
        <p:blipFill>
          <a:blip r:embed="rId1"/>
          <a:srcRect l="-212" r="-212" t="0" b="0"/>
          <a:stretch/>
        </p:blipFill>
        <p:spPr>
          <a:xfrm>
            <a:off x="970280" y="2189479"/>
            <a:ext cx="6731000" cy="2891790"/>
          </a:xfrm>
          <a:prstGeom prst="rect">
            <a:avLst/>
          </a:prstGeom>
        </p:spPr>
      </p:pic>
      <p:sp>
        <p:nvSpPr>
          <p:cNvPr id="7" name="Text 4"/>
          <p:cNvSpPr/>
          <p:nvPr/>
        </p:nvSpPr>
        <p:spPr>
          <a:xfrm>
            <a:off x="8153400" y="2540000"/>
            <a:ext cx="3322574"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A3A"/>
                </a:solidFill>
                <a:latin typeface="DM Sans" pitchFamily="34" charset="0"/>
                <a:ea typeface="DM Sans" pitchFamily="34" charset="-122"/>
                <a:cs typeface="DM Sans" pitchFamily="34" charset="-120"/>
              </a:rPr>
              <a:t>Pending:</a:t>
            </a:r>
            <a:r>
              <a:rPr lang="en-US" sz="1400" dirty="0">
                <a:solidFill>
                  <a:srgbClr val="4A5568"/>
                </a:solidFill>
                <a:latin typeface="DM Sans" pitchFamily="34" charset="0"/>
                <a:ea typeface="DM Sans" pitchFamily="34" charset="-122"/>
                <a:cs typeface="DM Sans" pitchFamily="34" charset="-120"/>
              </a:rPr>
              <a:t> shown, waiting for the student</a:t>
            </a:r>
            <a:endParaRPr lang="en-US" sz="1400" dirty="0"/>
          </a:p>
        </p:txBody>
      </p:sp>
      <p:sp>
        <p:nvSpPr>
          <p:cNvPr id="8" name="Text 5"/>
          <p:cNvSpPr/>
          <p:nvPr/>
        </p:nvSpPr>
        <p:spPr>
          <a:xfrm>
            <a:off x="8153400" y="3215642"/>
            <a:ext cx="3322574"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A3A"/>
                </a:solidFill>
                <a:latin typeface="DM Sans" pitchFamily="34" charset="0"/>
                <a:ea typeface="DM Sans" pitchFamily="34" charset="-122"/>
                <a:cs typeface="DM Sans" pitchFamily="34" charset="-120"/>
              </a:rPr>
              <a:t>Accepted:</a:t>
            </a:r>
            <a:r>
              <a:rPr lang="en-US" sz="1400" dirty="0">
                <a:solidFill>
                  <a:srgbClr val="4A5568"/>
                </a:solidFill>
                <a:latin typeface="DM Sans" pitchFamily="34" charset="0"/>
                <a:ea typeface="DM Sans" pitchFamily="34" charset="-122"/>
                <a:cs typeface="DM Sans" pitchFamily="34" charset="-120"/>
              </a:rPr>
              <a:t> sessions added to the schedule</a:t>
            </a:r>
            <a:endParaRPr lang="en-US" sz="1400" dirty="0"/>
          </a:p>
        </p:txBody>
      </p:sp>
      <p:sp>
        <p:nvSpPr>
          <p:cNvPr id="9" name="Text 6"/>
          <p:cNvSpPr/>
          <p:nvPr/>
        </p:nvSpPr>
        <p:spPr>
          <a:xfrm>
            <a:off x="8153400" y="3891279"/>
            <a:ext cx="3322574"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A3A"/>
                </a:solidFill>
                <a:latin typeface="DM Sans" pitchFamily="34" charset="0"/>
                <a:ea typeface="DM Sans" pitchFamily="34" charset="-122"/>
                <a:cs typeface="DM Sans" pitchFamily="34" charset="-120"/>
              </a:rPr>
              <a:t>Dismissed:</a:t>
            </a:r>
            <a:r>
              <a:rPr lang="en-US" sz="1400" dirty="0">
                <a:solidFill>
                  <a:srgbClr val="4A5568"/>
                </a:solidFill>
                <a:latin typeface="DM Sans" pitchFamily="34" charset="0"/>
                <a:ea typeface="DM Sans" pitchFamily="34" charset="-122"/>
                <a:cs typeface="DM Sans" pitchFamily="34" charset="-120"/>
              </a:rPr>
              <a:t> hidden from the dashboard</a:t>
            </a:r>
            <a:endParaRPr lang="en-US" sz="1400" dirty="0"/>
          </a:p>
        </p:txBody>
      </p:sp>
      <p:sp>
        <p:nvSpPr>
          <p:cNvPr id="10" name="Text 7"/>
          <p:cNvSpPr/>
          <p:nvPr/>
        </p:nvSpPr>
        <p:spPr>
          <a:xfrm>
            <a:off x="10693400" y="6238242"/>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6F5F1"/>
              </a:gs>
              <a:gs pos="100000">
                <a:srgbClr val="ECEAE3"/>
              </a:gs>
            </a:gsLst>
            <a:lin ang="5400000" scaled="0"/>
          </a:gradFill>
          <a:ln/>
        </p:spPr>
      </p:sp>
      <p:sp>
        <p:nvSpPr>
          <p:cNvPr id="3" name="Shape 1"/>
          <p:cNvSpPr/>
          <p:nvPr/>
        </p:nvSpPr>
        <p:spPr>
          <a:xfrm>
            <a:off x="812800" y="584200"/>
            <a:ext cx="609600" cy="50800"/>
          </a:xfrm>
          <a:prstGeom prst="roundRect">
            <a:avLst>
              <a:gd name="adj" fmla="val 50000"/>
            </a:avLst>
          </a:prstGeom>
          <a:solidFill>
            <a:srgbClr val="2E6AA8"/>
          </a:solidFill>
          <a:ln/>
        </p:spPr>
      </p:sp>
      <p:sp>
        <p:nvSpPr>
          <p:cNvPr id="4" name="Text 2"/>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D2A3A"/>
                </a:solidFill>
                <a:latin typeface="DM Sans" pitchFamily="34" charset="0"/>
                <a:ea typeface="DM Sans" pitchFamily="34" charset="-122"/>
                <a:cs typeface="DM Sans" pitchFamily="34" charset="-120"/>
              </a:rPr>
              <a:t>Where the project stands</a:t>
            </a:r>
            <a:endParaRPr lang="en-US" sz="3200" dirty="0"/>
          </a:p>
        </p:txBody>
      </p:sp>
      <p:sp>
        <p:nvSpPr>
          <p:cNvPr id="5" name="Shape 3"/>
          <p:cNvSpPr/>
          <p:nvPr/>
        </p:nvSpPr>
        <p:spPr>
          <a:xfrm>
            <a:off x="815975" y="1590675"/>
            <a:ext cx="5149850" cy="3676650"/>
          </a:xfrm>
          <a:prstGeom prst="roundRect">
            <a:avLst>
              <a:gd name="adj" fmla="val 3368"/>
            </a:avLst>
          </a:prstGeom>
          <a:solidFill>
            <a:srgbClr val="FFFFFF"/>
          </a:solidFill>
          <a:ln w="6350">
            <a:solidFill>
              <a:srgbClr val="DDD9CE"/>
            </a:solidFill>
            <a:prstDash val="solid"/>
          </a:ln>
          <a:effectLst>
            <a:outerShdw sx="100000" sy="100000" kx="0" ky="0" algn="bl" rotWithShape="0" blurRad="203200" dist="88900" dir="5400000">
              <a:srgbClr val="1D2A3A">
                <a:alpha val="10000"/>
              </a:srgbClr>
            </a:outerShdw>
          </a:effectLst>
        </p:spPr>
      </p:sp>
      <p:sp>
        <p:nvSpPr>
          <p:cNvPr id="6" name="Text 4"/>
          <p:cNvSpPr/>
          <p:nvPr/>
        </p:nvSpPr>
        <p:spPr>
          <a:xfrm>
            <a:off x="1122680" y="1897379"/>
            <a:ext cx="467253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E6AA8"/>
                </a:solidFill>
                <a:latin typeface="DM Sans" pitchFamily="34" charset="0"/>
                <a:ea typeface="DM Sans" pitchFamily="34" charset="-122"/>
                <a:cs typeface="DM Sans" pitchFamily="34" charset="-120"/>
              </a:rPr>
              <a:t>DONE</a:t>
            </a:r>
            <a:endParaRPr lang="en-US" sz="1400" dirty="0"/>
          </a:p>
        </p:txBody>
      </p:sp>
      <p:sp>
        <p:nvSpPr>
          <p:cNvPr id="7" name="Text 5"/>
          <p:cNvSpPr/>
          <p:nvPr/>
        </p:nvSpPr>
        <p:spPr>
          <a:xfrm>
            <a:off x="1186688" y="2273300"/>
            <a:ext cx="4600905" cy="1915160"/>
          </a:xfrm>
          <a:prstGeom prst="rect">
            <a:avLst/>
          </a:prstGeom>
          <a:noFill/>
          <a:ln/>
        </p:spPr>
        <p:txBody>
          <a:bodyPr wrap="square" lIns="0" tIns="0" rIns="0" bIns="0" rtlCol="0" anchor="t">
            <a:normAutofit/>
          </a:bodyPr>
          <a:lstStyle/>
          <a:p>
            <a:pPr algn="l" marL="189992" indent="-189992">
              <a:lnSpc>
                <a:spcPts val="2480"/>
              </a:lnSpc>
              <a:buSzPct val="100000"/>
              <a:buChar char="•"/>
            </a:pPr>
            <a:r>
              <a:rPr lang="en-US" sz="1600" dirty="0">
                <a:solidFill>
                  <a:srgbClr val="1D2A3A"/>
                </a:solidFill>
                <a:latin typeface="DM Sans" pitchFamily="34" charset="0"/>
                <a:ea typeface="DM Sans" pitchFamily="34" charset="-122"/>
                <a:cs typeface="DM Sans" pitchFamily="34" charset="-120"/>
              </a:rPr>
              <a:t>Project proposal</a:t>
            </a:r>
            <a:endParaRPr lang="en-US" sz="1600" dirty="0"/>
          </a:p>
          <a:p>
            <a:pPr algn="l" marL="189992" indent="-189992">
              <a:lnSpc>
                <a:spcPts val="2480"/>
              </a:lnSpc>
              <a:buSzPct val="100000"/>
              <a:buChar char="•"/>
            </a:pPr>
            <a:r>
              <a:rPr lang="en-US" sz="1600" dirty="0">
                <a:solidFill>
                  <a:srgbClr val="1D2A3A"/>
                </a:solidFill>
                <a:latin typeface="DM Sans" pitchFamily="34" charset="0"/>
                <a:ea typeface="DM Sans" pitchFamily="34" charset="-122"/>
                <a:cs typeface="DM Sans" pitchFamily="34" charset="-120"/>
              </a:rPr>
              <a:t>Software requirements specification</a:t>
            </a:r>
            <a:endParaRPr lang="en-US" sz="1600" dirty="0"/>
          </a:p>
          <a:p>
            <a:pPr algn="l" marL="189992" indent="-189992">
              <a:lnSpc>
                <a:spcPts val="2480"/>
              </a:lnSpc>
              <a:buSzPct val="100000"/>
              <a:buChar char="•"/>
            </a:pPr>
            <a:r>
              <a:rPr lang="en-US" sz="1600" dirty="0">
                <a:solidFill>
                  <a:srgbClr val="1D2A3A"/>
                </a:solidFill>
                <a:latin typeface="DM Sans" pitchFamily="34" charset="0"/>
                <a:ea typeface="DM Sans" pitchFamily="34" charset="-122"/>
                <a:cs typeface="DM Sans" pitchFamily="34" charset="-120"/>
              </a:rPr>
              <a:t>Class diagram and CRC cards</a:t>
            </a:r>
            <a:endParaRPr lang="en-US" sz="1600" dirty="0"/>
          </a:p>
          <a:p>
            <a:pPr algn="l" marL="189992" indent="-189992">
              <a:lnSpc>
                <a:spcPts val="2480"/>
              </a:lnSpc>
              <a:buSzPct val="100000"/>
              <a:buChar char="•"/>
            </a:pPr>
            <a:r>
              <a:rPr lang="en-US" sz="1600" dirty="0">
                <a:solidFill>
                  <a:srgbClr val="1D2A3A"/>
                </a:solidFill>
                <a:latin typeface="DM Sans" pitchFamily="34" charset="0"/>
                <a:ea typeface="DM Sans" pitchFamily="34" charset="-122"/>
                <a:cs typeface="DM Sans" pitchFamily="34" charset="-120"/>
              </a:rPr>
              <a:t>Sequence and state machine diagrams</a:t>
            </a:r>
            <a:endParaRPr lang="en-US" sz="1600" dirty="0"/>
          </a:p>
          <a:p>
            <a:pPr algn="l" marL="189992" indent="-189992">
              <a:lnSpc>
                <a:spcPts val="2480"/>
              </a:lnSpc>
              <a:buSzPct val="100000"/>
              <a:buChar char="•"/>
            </a:pPr>
            <a:r>
              <a:rPr lang="en-US" sz="1600" dirty="0">
                <a:solidFill>
                  <a:srgbClr val="1D2A3A"/>
                </a:solidFill>
                <a:latin typeface="DM Sans" pitchFamily="34" charset="0"/>
                <a:ea typeface="DM Sans" pitchFamily="34" charset="-122"/>
                <a:cs typeface="DM Sans" pitchFamily="34" charset="-120"/>
              </a:rPr>
              <a:t>Early prototype of the main screens and the recommendation rules</a:t>
            </a:r>
            <a:endParaRPr lang="en-US" sz="1600" dirty="0"/>
          </a:p>
        </p:txBody>
      </p:sp>
      <p:sp>
        <p:nvSpPr>
          <p:cNvPr id="8" name="Shape 6"/>
          <p:cNvSpPr/>
          <p:nvPr/>
        </p:nvSpPr>
        <p:spPr>
          <a:xfrm>
            <a:off x="6226175" y="1590675"/>
            <a:ext cx="5149850" cy="3676650"/>
          </a:xfrm>
          <a:prstGeom prst="roundRect">
            <a:avLst>
              <a:gd name="adj" fmla="val 3368"/>
            </a:avLst>
          </a:prstGeom>
          <a:solidFill>
            <a:srgbClr val="FFF6EE"/>
          </a:solidFill>
          <a:ln w="6350">
            <a:solidFill>
              <a:srgbClr val="EBD3C1"/>
            </a:solidFill>
            <a:prstDash val="solid"/>
          </a:ln>
          <a:effectLst>
            <a:outerShdw sx="100000" sy="100000" kx="0" ky="0" algn="bl" rotWithShape="0" blurRad="203200" dist="88900" dir="5400000">
              <a:srgbClr val="C8662F">
                <a:alpha val="12000"/>
              </a:srgbClr>
            </a:outerShdw>
          </a:effectLst>
        </p:spPr>
      </p:sp>
      <p:sp>
        <p:nvSpPr>
          <p:cNvPr id="9" name="Text 7"/>
          <p:cNvSpPr/>
          <p:nvPr/>
        </p:nvSpPr>
        <p:spPr>
          <a:xfrm>
            <a:off x="6532880" y="1897379"/>
            <a:ext cx="467253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8662F"/>
                </a:solidFill>
                <a:latin typeface="DM Sans" pitchFamily="34" charset="0"/>
                <a:ea typeface="DM Sans" pitchFamily="34" charset="-122"/>
                <a:cs typeface="DM Sans" pitchFamily="34" charset="-120"/>
              </a:rPr>
              <a:t>NEXT</a:t>
            </a:r>
            <a:endParaRPr lang="en-US" sz="1400" dirty="0"/>
          </a:p>
        </p:txBody>
      </p:sp>
      <p:sp>
        <p:nvSpPr>
          <p:cNvPr id="10" name="Text 8"/>
          <p:cNvSpPr/>
          <p:nvPr/>
        </p:nvSpPr>
        <p:spPr>
          <a:xfrm>
            <a:off x="6596888" y="2273300"/>
            <a:ext cx="4600905" cy="1915160"/>
          </a:xfrm>
          <a:prstGeom prst="rect">
            <a:avLst/>
          </a:prstGeom>
          <a:noFill/>
          <a:ln/>
        </p:spPr>
        <p:txBody>
          <a:bodyPr wrap="square" lIns="0" tIns="0" rIns="0" bIns="0" rtlCol="0" anchor="t">
            <a:normAutofit/>
          </a:bodyPr>
          <a:lstStyle/>
          <a:p>
            <a:pPr algn="l" marL="189992" indent="-189992">
              <a:lnSpc>
                <a:spcPts val="2480"/>
              </a:lnSpc>
              <a:buSzPct val="100000"/>
              <a:buChar char="•"/>
            </a:pPr>
            <a:r>
              <a:rPr lang="en-US" sz="1600" dirty="0">
                <a:solidFill>
                  <a:srgbClr val="1D2A3A"/>
                </a:solidFill>
                <a:latin typeface="DM Sans" pitchFamily="34" charset="0"/>
                <a:ea typeface="DM Sans" pitchFamily="34" charset="-122"/>
                <a:cs typeface="DM Sans" pitchFamily="34" charset="-120"/>
              </a:rPr>
              <a:t>Connect the screens to the Express and MongoDB back end</a:t>
            </a:r>
            <a:endParaRPr lang="en-US" sz="1600" dirty="0"/>
          </a:p>
          <a:p>
            <a:pPr algn="l" marL="189992" indent="-189992">
              <a:lnSpc>
                <a:spcPts val="2480"/>
              </a:lnSpc>
              <a:buSzPct val="100000"/>
              <a:buChar char="•"/>
            </a:pPr>
            <a:r>
              <a:rPr lang="en-US" sz="1600" dirty="0">
                <a:solidFill>
                  <a:srgbClr val="1D2A3A"/>
                </a:solidFill>
                <a:latin typeface="DM Sans" pitchFamily="34" charset="0"/>
                <a:ea typeface="DM Sans" pitchFamily="34" charset="-122"/>
                <a:cs typeface="DM Sans" pitchFamily="34" charset="-120"/>
              </a:rPr>
              <a:t>Add student accounts</a:t>
            </a:r>
            <a:endParaRPr lang="en-US" sz="1600" dirty="0"/>
          </a:p>
          <a:p>
            <a:pPr algn="l" marL="189992" indent="-189992">
              <a:lnSpc>
                <a:spcPts val="2480"/>
              </a:lnSpc>
              <a:buSzPct val="100000"/>
              <a:buChar char="•"/>
            </a:pPr>
            <a:r>
              <a:rPr lang="en-US" sz="1600" dirty="0">
                <a:solidFill>
                  <a:srgbClr val="1D2A3A"/>
                </a:solidFill>
                <a:latin typeface="DM Sans" pitchFamily="34" charset="0"/>
                <a:ea typeface="DM Sans" pitchFamily="34" charset="-122"/>
                <a:cs typeface="DM Sans" pitchFamily="34" charset="-120"/>
              </a:rPr>
              <a:t>Plug in Llama 3.2 through Ollama</a:t>
            </a:r>
            <a:endParaRPr lang="en-US" sz="1600" dirty="0"/>
          </a:p>
          <a:p>
            <a:pPr algn="l" marL="189992" indent="-189992">
              <a:lnSpc>
                <a:spcPts val="2480"/>
              </a:lnSpc>
              <a:buSzPct val="100000"/>
              <a:buChar char="•"/>
            </a:pPr>
            <a:r>
              <a:rPr lang="en-US" sz="1600" dirty="0">
                <a:solidFill>
                  <a:srgbClr val="1D2A3A"/>
                </a:solidFill>
                <a:latin typeface="DM Sans" pitchFamily="34" charset="0"/>
                <a:ea typeface="DM Sans" pitchFamily="34" charset="-122"/>
                <a:cs typeface="DM Sans" pitchFamily="34" charset="-120"/>
              </a:rPr>
              <a:t>Test every objective</a:t>
            </a:r>
            <a:endParaRPr lang="en-US" sz="1600" dirty="0"/>
          </a:p>
          <a:p>
            <a:pPr algn="l" marL="189992" indent="-189992">
              <a:lnSpc>
                <a:spcPts val="2480"/>
              </a:lnSpc>
              <a:buSzPct val="100000"/>
              <a:buChar char="•"/>
            </a:pPr>
            <a:r>
              <a:rPr lang="en-US" sz="1600" dirty="0">
                <a:solidFill>
                  <a:srgbClr val="1D2A3A"/>
                </a:solidFill>
                <a:latin typeface="DM Sans" pitchFamily="34" charset="0"/>
                <a:ea typeface="DM Sans" pitchFamily="34" charset="-122"/>
                <a:cs typeface="DM Sans" pitchFamily="34" charset="-120"/>
              </a:rPr>
              <a:t>Final report and demo</a:t>
            </a:r>
            <a:endParaRPr lang="en-US" sz="1600" dirty="0"/>
          </a:p>
        </p:txBody>
      </p:sp>
      <p:sp>
        <p:nvSpPr>
          <p:cNvPr id="11" name="Text 9"/>
          <p:cNvSpPr/>
          <p:nvPr/>
        </p:nvSpPr>
        <p:spPr>
          <a:xfrm>
            <a:off x="10693400" y="6238242"/>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7493000" y="762000"/>
            <a:ext cx="4064000" cy="4064000"/>
          </a:xfrm>
          <a:prstGeom prst="rect">
            <a:avLst/>
          </a:prstGeom>
        </p:spPr>
      </p:pic>
      <p:pic>
        <p:nvPicPr>
          <p:cNvPr id="3" name="Image 1" descr="ellipse">    </p:cNvPr>
          <p:cNvPicPr>
            <a:picLocks noChangeAspect="1"/>
          </p:cNvPicPr>
          <p:nvPr/>
        </p:nvPicPr>
        <p:blipFill>
          <a:blip r:embed="rId2"/>
          <a:srcRect l="0" r="0" t="0" b="0"/>
          <a:stretch/>
        </p:blipFill>
        <p:spPr>
          <a:xfrm>
            <a:off x="8763000" y="2032000"/>
            <a:ext cx="1905000" cy="1905000"/>
          </a:xfrm>
          <a:prstGeom prst="rect">
            <a:avLst/>
          </a:prstGeom>
        </p:spPr>
      </p:pic>
      <p:pic>
        <p:nvPicPr>
          <p:cNvPr id="4" name="Image 2" descr="ellipse">    </p:cNvPr>
          <p:cNvPicPr>
            <a:picLocks noChangeAspect="1"/>
          </p:cNvPicPr>
          <p:nvPr/>
        </p:nvPicPr>
        <p:blipFill>
          <a:blip r:embed="rId3"/>
          <a:srcRect l="0" r="0" t="0" b="0"/>
          <a:stretch/>
        </p:blipFill>
        <p:spPr>
          <a:xfrm>
            <a:off x="10414000" y="1143000"/>
            <a:ext cx="355600" cy="355600"/>
          </a:xfrm>
          <a:prstGeom prst="rect">
            <a:avLst/>
          </a:prstGeom>
        </p:spPr>
      </p:pic>
      <p:sp>
        <p:nvSpPr>
          <p:cNvPr id="5" name="Text 0"/>
          <p:cNvSpPr/>
          <p:nvPr>
            <p:ph type="title"/>
          </p:nvPr>
        </p:nvSpPr>
        <p:spPr>
          <a:xfrm>
            <a:off x="812800" y="1905000"/>
            <a:ext cx="850265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5F1"/>
                </a:solidFill>
                <a:latin typeface="DM Sans" pitchFamily="34" charset="0"/>
                <a:ea typeface="DM Sans" pitchFamily="34" charset="-122"/>
                <a:cs typeface="DM Sans" pitchFamily="34" charset="-120"/>
              </a:rPr>
              <a:t>Thank you. Questions?</a:t>
            </a:r>
            <a:endParaRPr lang="en-US" sz="6000" dirty="0"/>
          </a:p>
        </p:txBody>
      </p:sp>
      <p:sp>
        <p:nvSpPr>
          <p:cNvPr id="6" name="Shape 1"/>
          <p:cNvSpPr/>
          <p:nvPr/>
        </p:nvSpPr>
        <p:spPr>
          <a:xfrm>
            <a:off x="812800" y="3810000"/>
            <a:ext cx="1016000" cy="50800"/>
          </a:xfrm>
          <a:prstGeom prst="roundRect">
            <a:avLst>
              <a:gd name="adj" fmla="val 50000"/>
            </a:avLst>
          </a:prstGeom>
          <a:solidFill>
            <a:srgbClr val="F2B36B"/>
          </a:solidFill>
          <a:ln/>
        </p:spPr>
      </p:sp>
      <p:sp>
        <p:nvSpPr>
          <p:cNvPr id="7" name="Text 2"/>
          <p:cNvSpPr/>
          <p:nvPr/>
        </p:nvSpPr>
        <p:spPr>
          <a:xfrm>
            <a:off x="812800" y="4127500"/>
            <a:ext cx="8502650" cy="368300"/>
          </a:xfrm>
          <a:prstGeom prst="rect">
            <a:avLst/>
          </a:prstGeom>
          <a:noFill/>
          <a:ln/>
        </p:spPr>
        <p:txBody>
          <a:bodyPr wrap="square" lIns="0" tIns="0" rIns="0" bIns="0" rtlCol="0" anchor="t">
            <a:normAutofit/>
          </a:bodyPr>
          <a:lstStyle/>
          <a:p>
            <a:pPr algn="l" indent="0" marL="0">
              <a:lnSpc>
                <a:spcPts val="2700"/>
              </a:lnSpc>
              <a:buNone/>
            </a:pPr>
            <a:r>
              <a:rPr lang="en-US" sz="1800" dirty="0">
                <a:solidFill>
                  <a:srgbClr val="C9D3DF"/>
                </a:solidFill>
                <a:latin typeface="DM Sans" pitchFamily="34" charset="0"/>
                <a:ea typeface="DM Sans" pitchFamily="34" charset="-122"/>
                <a:cs typeface="DM Sans" pitchFamily="34" charset="-120"/>
              </a:rPr>
              <a:t>Repository: github.com/alibelhrak/GVSU-CIS641-AIStudyAssistant</a:t>
            </a:r>
            <a:endParaRPr lang="en-US" sz="1800" dirty="0"/>
          </a:p>
        </p:txBody>
      </p:sp>
      <p:sp>
        <p:nvSpPr>
          <p:cNvPr id="8" name="Text 3"/>
          <p:cNvSpPr/>
          <p:nvPr/>
        </p:nvSpPr>
        <p:spPr>
          <a:xfrm>
            <a:off x="812800" y="4572000"/>
            <a:ext cx="8502650" cy="368300"/>
          </a:xfrm>
          <a:prstGeom prst="rect">
            <a:avLst/>
          </a:prstGeom>
          <a:noFill/>
          <a:ln/>
        </p:spPr>
        <p:txBody>
          <a:bodyPr wrap="square" lIns="0" tIns="0" rIns="0" bIns="0" rtlCol="0" anchor="t">
            <a:normAutofit/>
          </a:bodyPr>
          <a:lstStyle/>
          <a:p>
            <a:pPr algn="l" indent="0" marL="0">
              <a:lnSpc>
                <a:spcPts val="2700"/>
              </a:lnSpc>
              <a:buNone/>
            </a:pPr>
            <a:r>
              <a:rPr lang="en-US" sz="1800" dirty="0">
                <a:solidFill>
                  <a:srgbClr val="C9D3DF"/>
                </a:solidFill>
                <a:latin typeface="DM Sans" pitchFamily="34" charset="0"/>
                <a:ea typeface="DM Sans" pitchFamily="34" charset="-122"/>
                <a:cs typeface="DM Sans" pitchFamily="34" charset="-120"/>
              </a:rPr>
              <a:t>Portfolio: alibelhrak.github.io</a:t>
            </a:r>
            <a:endParaRPr lang="en-US" sz="1800" dirty="0"/>
          </a:p>
        </p:txBody>
      </p:sp>
      <p:sp>
        <p:nvSpPr>
          <p:cNvPr id="9" name="Text 4"/>
          <p:cNvSpPr/>
          <p:nvPr/>
        </p:nvSpPr>
        <p:spPr>
          <a:xfrm>
            <a:off x="812800" y="5999479"/>
            <a:ext cx="78486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FB8E3"/>
                </a:solidFill>
                <a:latin typeface="DM Sans" pitchFamily="34" charset="0"/>
                <a:ea typeface="DM Sans" pitchFamily="34" charset="-122"/>
                <a:cs typeface="DM Sans" pitchFamily="34" charset="-120"/>
              </a:rPr>
              <a:t>Ali Belhrak · CIS 641 · Midterm Status Update</a:t>
            </a:r>
            <a:endParaRPr lang="en-US" sz="1400" dirty="0"/>
          </a:p>
        </p:txBody>
      </p:sp>
    </p:spTree>
  </p:cSld>
  <p:clrMapOvr>
    <a:masterClrMapping/>
  </p:clrMapOvr>
</p:sld>
</file>

<file path=ppt/theme/theme1.xml><?xml version="1.0" encoding="utf-8"?>
<a:theme xmlns:a="http://schemas.openxmlformats.org/drawingml/2006/main" name="AI Study Assistant Midterm">
  <a:themeElements>
    <a:clrScheme name="AI Study Assistant Midterm">
      <a:dk1>
        <a:srgbClr val="141413"/>
      </a:dk1>
      <a:lt1>
        <a:srgbClr val="F6F5F1"/>
      </a:lt1>
      <a:dk2>
        <a:srgbClr val="4D4C4B"/>
      </a:dk2>
      <a:lt2>
        <a:srgbClr val="DFDFDB"/>
      </a:lt2>
      <a:accent1>
        <a:srgbClr val="2E6AA8"/>
      </a:accent1>
      <a:accent2>
        <a:srgbClr val="2C4A6E"/>
      </a:accent2>
      <a:accent3>
        <a:srgbClr val="8FB8E3"/>
      </a:accent3>
      <a:accent4>
        <a:srgbClr val="F2B36B"/>
      </a:accent4>
      <a:accent5>
        <a:srgbClr val="C8662F"/>
      </a:accent5>
      <a:accent6>
        <a:srgbClr val="1D2A3A"/>
      </a:accent6>
      <a:hlink>
        <a:srgbClr val="0563C1"/>
      </a:hlink>
      <a:folHlink>
        <a:srgbClr val="954F72"/>
      </a:folHlink>
    </a:clrScheme>
    <a:fontScheme name="AI Study Assistant Midterm">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Study Assistant Midterm</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2026-10-28T20:35:00Z</dcterms:created>
  <dcterms:modified xsi:type="dcterms:W3CDTF">2026-10-28T20:35:00Z</dcterms:modified>
</cp:coreProperties>
</file>