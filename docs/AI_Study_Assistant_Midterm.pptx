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Hi everyone, my name is Ali Belhrak. I'm a master's student in Applied Computer Science here at Grand Valley. My project for this class is called the AI Study Assistant. Today I'll give a quick update on where the project is: who is on the team, what the project is about, and the diagrams I made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My team is called AIStudyAssistant, and it's a team of one: I'm working on this project by myself. So I take all the roles. I'm the project manager, the systems analyst, the designer, and the developer. All my work, the proposal, the requirements and the diagrams, is in my team repository on GitHub, GVSU-CIS641-AIStudyAssistant.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So what problem am I trying to solve? As students, our school work is spread across many different tools. Due dates are in Blackboard. Study time is in a calendar or a paper planner. Notes and files are in a notes app or a cloud folder. And the hours we actually study for each course? Most of us don't track them at all.
The problem is that these tools don't talk to each other. A student can see that an exam is coming, but they can't see that they have barely studied for it. Usually they only notice a day or two before the exam, and by then it's too late to catch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My solution is one web app that puts all of this in one place. The student adds their courses, and each course has a weekly study goal. They add their tasks, like assignments, exams and quizzes, with a due date and a priority. They can plan study sessions in a weekly schedule, upload materials for each course, and log the hours they studied so they can see their progress against the goal.
And the main feature is the AI recommendations. The system tells the student which course they should focus on next and gives them a plan of study sessions, and the student can accept it or dismiss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5 clicks]
Now let me explain how the recommendation works, because this is the most important part.
[click] First, simple rules find the study gap for every task coming up in the next 14 days. The gap is the hours the task needs, minus the hours the student already studied, minus the hours they already planned.
[click] Second, the rules rank these gaps by deadline, priority and task type, keep the top three, and build a plan of study sessions, each one up to two hours.
[click] Third, and only at this point, the language model writes a short message explaining the advice. If the model is not available, the system just uses a simple rule-based message, so it still works.
[click] Fourth, the student decides: accept the plan, and the sessions go into their schedule, or dismiss it.
[click] The key design choice here is that the LLM never decides the hours or the dates. The numbers always come from the rules, so the AI can't make up anything in the student's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This is the architecture. It's a MERN web app. The student opens the React app in the browser. The React app talks to the Express server only through the /api route. Inside the server there are three parts: the REST API with login, the rule engine that does the calculations, and the LLM service that writes the text. The data is saved in MongoDB, and uploaded files go into an uploads folder.
The LLM is optional. I'm using Llama 3.2 running locally with Ollama, so it's free and the student data stays on the machine. And Docker Compose starts everything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Here is my UML class diagram. The Student is the center of the system. A Student creates Courses, and each Course holds its Tasks, Materials and Study Logs. The Student also has one Study Schedule, which is made of Study Sessions. Tasks can trigger Reminders.
On the left you can see the RecommendationEngine. It reads the student's data and creates Recommendations. Each Recommendation is about one Task, and it proposes one or more Study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These are CRC cards for the three most important classes.
The RecommendationEngine finds the tasks due in the next 14 days, calculates each study gap, ranks the gaps, builds the session plan and creates the recommendations. It works with almost every other class.
The Course knows its code, name and weekly goal, keeps its tasks and files, records study time and reports the weekly progress.
And the Recommendation knows its message and reason and which task it's about. It holds the proposed sessions, adds them to the schedule when the student accepts, and hides itself when the student dismisses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 clicks]
This sequence diagram shows the main use case: getting and accepting a recommendation. Solid arrows are messages and dashed arrows are replies.
[click] In steps 1 to 4, the student opens the dashboard, the web app asks the server for recommendations, and the server gets the deadlines and study hours from the database.
[click] In steps 5 to 8, the server sends the calculated plan to the AI model, the model sends back the advice, and the recommendation is shown to the student.
[click] In steps 9 to 12, the student clicks Accept, the server saves the new study sessions in the database, and the web app shows the updated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This state machine diagram shows the life of one recommendation. It is created when the student has a deadline coming and hasn't studied enough, and it starts in the Pending state, waiting for the student. If the student accepts it, it moves to Accepted and the sessions are added to the schedule. If the student dismisses it, it moves to Dismissed and is hidden from the dashboard. Either way, that's the end of its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So where does the project stand? So far I finished the project proposal, the software requirements specification, the class diagram and CRC cards, the sequence and state machine diagrams, and an early prototype of the main screens and the recommendation rules.
Next, I will connect the screens to the real Express and MongoDB back end, add student accounts, plug in Llama 3.2 through Ollama, and test every objective. For example, one test is that a student with an exam in three days and no study time gets that course recommended first. And then the final report and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That's my update. You can find everything in my repository, and my portfolio is at alibelhrak.github.io. Thank you for listening, and I'm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_AL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rtlCol="0"/>
          <a:lstStyle>
            <a:lvl1pPr algn="l" indent="0" marL="0">
              <a:buNone/>
              <a:defRPr lang="en-US" sz="3200" b="1" dirty="0">
                <a:solidFill>
                  <a:srgbClr val="1D2A3A"/>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AL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rtlCol="0"/>
          <a:lstStyle>
            <a:lvl1pPr algn="l" indent="0" marL="0">
              <a:buNone/>
              <a:defRPr lang="en-US" sz="3200" b="1" dirty="0">
                <a:solidFill>
                  <a:srgbClr val="1D2A3A"/>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0_0_zoom_ring"/>
          <p:cNvSpPr/>
          <p:nvPr/>
        </p:nvSpPr>
        <p:spPr>
          <a:xfrm>
            <a:off x="7493000" y="762000"/>
            <a:ext cx="4064000" cy="4064000"/>
          </a:xfrm>
          <a:prstGeom prst="ellipse">
            <a:avLst/>
          </a:prstGeom>
          <a:ln w="19050">
            <a:solidFill>
              <a:srgbClr val="3E6C9E">
                <a:alpha val="70000"/>
              </a:srgbClr>
            </a:solidFill>
            <a:prstDash val="solid"/>
          </a:ln>
        </p:spPr>
      </p:sp>
      <p:sp>
        <p:nvSpPr>
          <p:cNvPr id="3" name="A0_250_zoom_disc"/>
          <p:cNvSpPr/>
          <p:nvPr/>
        </p:nvSpPr>
        <p:spPr>
          <a:xfrm>
            <a:off x="8763000" y="2032000"/>
            <a:ext cx="1905000" cy="1905000"/>
          </a:xfrm>
          <a:prstGeom prst="ellipse">
            <a:avLst/>
          </a:prstGeom>
          <a:solidFill>
            <a:srgbClr val="2E6AA8">
              <a:alpha val="35000"/>
            </a:srgbClr>
          </a:solidFill>
          <a:ln/>
        </p:spPr>
      </p:sp>
      <p:sp>
        <p:nvSpPr>
          <p:cNvPr id="4" name="A0_500_zoom_dot"/>
          <p:cNvSpPr/>
          <p:nvPr/>
        </p:nvSpPr>
        <p:spPr>
          <a:xfrm>
            <a:off x="10414000" y="1143000"/>
            <a:ext cx="355600" cy="355600"/>
          </a:xfrm>
          <a:prstGeom prst="ellipse">
            <a:avLst/>
          </a:prstGeom>
          <a:solidFill>
            <a:srgbClr val="F2B36B"/>
          </a:solidFill>
          <a:ln/>
        </p:spPr>
      </p:sp>
      <p:sp>
        <p:nvSpPr>
          <p:cNvPr id="5" name="A0_700_fade_eyebrow"/>
          <p:cNvSpPr txBox="1"/>
          <p:nvPr/>
        </p:nvSpPr>
        <p:spPr>
          <a:xfrm>
            <a:off x="812800" y="1905000"/>
            <a:ext cx="7620000" cy="317500"/>
          </a:xfrm>
          <a:prstGeom prst="rect">
            <a:avLst/>
          </a:prstGeom>
          <a:noFill/>
          <a:ln/>
        </p:spPr>
        <p:txBody>
          <a:bodyPr wrap="square" lIns="0" tIns="0" rIns="0" bIns="0" rtlCol="0" anchor="t"/>
          <a:lstStyle/>
          <a:p>
            <a:pPr indent="0" marL="0">
              <a:buNone/>
            </a:pPr>
            <a:r>
              <a:rPr lang="en-US" sz="1600" b="1" spc="200" kern="0" dirty="0">
                <a:solidFill>
                  <a:srgbClr val="8FB8E3"/>
                </a:solidFill>
                <a:latin typeface="Calibri" pitchFamily="34" charset="0"/>
                <a:ea typeface="Calibri" pitchFamily="34" charset="-122"/>
                <a:cs typeface="Calibri" pitchFamily="34" charset="-120"/>
              </a:rPr>
              <a:t>CIS 641 · MIDTERM STATUS UPDATE</a:t>
            </a:r>
            <a:endParaRPr lang="en-US" sz="1600" dirty="0"/>
          </a:p>
        </p:txBody>
      </p:sp>
      <p:sp>
        <p:nvSpPr>
          <p:cNvPr id="6" name="A0_900_rise_title"/>
          <p:cNvSpPr txBox="1"/>
          <p:nvPr/>
        </p:nvSpPr>
        <p:spPr>
          <a:xfrm>
            <a:off x="812800" y="2317750"/>
            <a:ext cx="8255000" cy="889000"/>
          </a:xfrm>
          <a:prstGeom prst="rect">
            <a:avLst/>
          </a:prstGeom>
          <a:noFill/>
          <a:ln/>
        </p:spPr>
        <p:txBody>
          <a:bodyPr wrap="square" lIns="0" tIns="0" rIns="0" bIns="0" rtlCol="0" anchor="t"/>
          <a:lstStyle/>
          <a:p>
            <a:pPr indent="0" marL="0">
              <a:buNone/>
            </a:pPr>
            <a:r>
              <a:rPr lang="en-US" sz="6000" b="1" dirty="0">
                <a:solidFill>
                  <a:srgbClr val="F6F5F1"/>
                </a:solidFill>
                <a:latin typeface="Calibri" pitchFamily="34" charset="0"/>
                <a:ea typeface="Calibri" pitchFamily="34" charset="-122"/>
                <a:cs typeface="Calibri" pitchFamily="34" charset="-120"/>
              </a:rPr>
              <a:t>AI Study Assistant</a:t>
            </a:r>
            <a:endParaRPr lang="en-US" sz="6000" dirty="0"/>
          </a:p>
        </p:txBody>
      </p:sp>
      <p:sp>
        <p:nvSpPr>
          <p:cNvPr id="7" name="A0_1150_rise_sub"/>
          <p:cNvSpPr txBox="1"/>
          <p:nvPr/>
        </p:nvSpPr>
        <p:spPr>
          <a:xfrm>
            <a:off x="812800" y="3365500"/>
            <a:ext cx="6667500" cy="889000"/>
          </a:xfrm>
          <a:prstGeom prst="rect">
            <a:avLst/>
          </a:prstGeom>
          <a:noFill/>
          <a:ln/>
        </p:spPr>
        <p:txBody>
          <a:bodyPr wrap="square" lIns="0" tIns="0" rIns="0" bIns="0" rtlCol="0" anchor="t"/>
          <a:lstStyle/>
          <a:p>
            <a:pPr indent="0" marL="0">
              <a:lnSpc>
                <a:spcPct val="110000"/>
              </a:lnSpc>
              <a:buNone/>
            </a:pPr>
            <a:r>
              <a:rPr lang="en-US" sz="2200" dirty="0">
                <a:solidFill>
                  <a:srgbClr val="C9D3DF"/>
                </a:solidFill>
                <a:latin typeface="Calibri" pitchFamily="34" charset="0"/>
                <a:ea typeface="Calibri" pitchFamily="34" charset="-122"/>
                <a:cs typeface="Calibri" pitchFamily="34" charset="-120"/>
              </a:rPr>
              <a:t>One place for a student’s courses, deadlines and study plan, with AI advice on what to study next</a:t>
            </a:r>
            <a:endParaRPr lang="en-US" sz="2200" dirty="0"/>
          </a:p>
        </p:txBody>
      </p:sp>
      <p:sp>
        <p:nvSpPr>
          <p:cNvPr id="8" name="A0_1400_wipe_bar"/>
          <p:cNvSpPr/>
          <p:nvPr/>
        </p:nvSpPr>
        <p:spPr>
          <a:xfrm>
            <a:off x="812800" y="4572000"/>
            <a:ext cx="1016000" cy="50800"/>
          </a:xfrm>
          <a:prstGeom prst="rect">
            <a:avLst/>
          </a:prstGeom>
          <a:solidFill>
            <a:srgbClr val="F2B36B"/>
          </a:solidFill>
          <a:ln/>
        </p:spPr>
      </p:sp>
      <p:sp>
        <p:nvSpPr>
          <p:cNvPr id="9" name="A0_1600_fade_byline"/>
          <p:cNvSpPr txBox="1"/>
          <p:nvPr/>
        </p:nvSpPr>
        <p:spPr>
          <a:xfrm>
            <a:off x="812800" y="5969000"/>
            <a:ext cx="7620000" cy="279400"/>
          </a:xfrm>
          <a:prstGeom prst="rect">
            <a:avLst/>
          </a:prstGeom>
          <a:noFill/>
          <a:ln/>
        </p:spPr>
        <p:txBody>
          <a:bodyPr wrap="square" lIns="0" tIns="0" rIns="0" bIns="0" rtlCol="0" anchor="t"/>
          <a:lstStyle/>
          <a:p>
            <a:pPr indent="0" marL="0">
              <a:buNone/>
            </a:pPr>
            <a:r>
              <a:rPr lang="en-US" sz="1600" dirty="0">
                <a:solidFill>
                  <a:srgbClr val="C9D3DF"/>
                </a:solidFill>
                <a:latin typeface="Calibri" pitchFamily="34" charset="0"/>
                <a:ea typeface="Calibri" pitchFamily="34" charset="-122"/>
                <a:cs typeface="Calibri" pitchFamily="34" charset="-120"/>
              </a:rPr>
              <a:t>Ali Belhrak · Team AIStudyAssistant · October 28, 2026</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600" fill="hold" decel="100000"/>
                                        <p:tgtEl>
                                          <p:spTgt spid="2"/>
                                        </p:tgtEl>
                                        <p:attrNameLst>
                                          <p:attrName>ppt_w</p:attrName>
                                        </p:attrNameLst>
                                      </p:cBhvr>
                                      <p:tavLst>
                                        <p:tav tm="0">
                                          <p:val>
                                            <p:strVal val="0"/>
                                          </p:val>
                                        </p:tav>
                                        <p:tav tm="100000">
                                          <p:val>
                                            <p:strVal val="#ppt_w"/>
                                          </p:val>
                                        </p:tav>
                                      </p:tavLst>
                                    </p:anim>
                                    <p:anim calcmode="lin" valueType="num">
                                      <p:cBhvr additive="base">
                                        <p:cTn id="8" dur="600" fill="hold" decel="100000"/>
                                        <p:tgtEl>
                                          <p:spTgt spid="2"/>
                                        </p:tgtEl>
                                        <p:attrNameLst>
                                          <p:attrName>ppt_h</p:attrName>
                                        </p:attrNameLst>
                                      </p:cBhvr>
                                      <p:tavLst>
                                        <p:tav tm="0">
                                          <p:val>
                                            <p:strVal val="0"/>
                                          </p:val>
                                        </p:tav>
                                        <p:tav tm="100000">
                                          <p:val>
                                            <p:strVal val="#ppt_h"/>
                                          </p:val>
                                        </p:tav>
                                      </p:tavLst>
                                    </p:anim>
                                    <p:animEffect transition="in" filter="fade">
                                      <p:cBhvr>
                                        <p:cTn id="9" dur="600"/>
                                        <p:tgtEl>
                                          <p:spTgt spid="2"/>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600" fill="hold" decel="100000"/>
                                        <p:tgtEl>
                                          <p:spTgt spid="3"/>
                                        </p:tgtEl>
                                        <p:attrNameLst>
                                          <p:attrName>ppt_w</p:attrName>
                                        </p:attrNameLst>
                                      </p:cBhvr>
                                      <p:tavLst>
                                        <p:tav tm="0">
                                          <p:val>
                                            <p:strVal val="0"/>
                                          </p:val>
                                        </p:tav>
                                        <p:tav tm="100000">
                                          <p:val>
                                            <p:strVal val="#ppt_w"/>
                                          </p:val>
                                        </p:tav>
                                      </p:tavLst>
                                    </p:anim>
                                    <p:anim calcmode="lin" valueType="num">
                                      <p:cBhvr additive="base">
                                        <p:cTn id="13" dur="600" fill="hold" decel="100000"/>
                                        <p:tgtEl>
                                          <p:spTgt spid="3"/>
                                        </p:tgtEl>
                                        <p:attrNameLst>
                                          <p:attrName>ppt_h</p:attrName>
                                        </p:attrNameLst>
                                      </p:cBhvr>
                                      <p:tavLst>
                                        <p:tav tm="0">
                                          <p:val>
                                            <p:strVal val="0"/>
                                          </p:val>
                                        </p:tav>
                                        <p:tav tm="100000">
                                          <p:val>
                                            <p:strVal val="#ppt_h"/>
                                          </p:val>
                                        </p:tav>
                                      </p:tavLst>
                                    </p:anim>
                                    <p:animEffect transition="in" filter="fade">
                                      <p:cBhvr>
                                        <p:cTn id="14" dur="600"/>
                                        <p:tgtEl>
                                          <p:spTgt spid="3"/>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600" fill="hold" decel="100000"/>
                                        <p:tgtEl>
                                          <p:spTgt spid="4"/>
                                        </p:tgtEl>
                                        <p:attrNameLst>
                                          <p:attrName>ppt_w</p:attrName>
                                        </p:attrNameLst>
                                      </p:cBhvr>
                                      <p:tavLst>
                                        <p:tav tm="0">
                                          <p:val>
                                            <p:strVal val="0"/>
                                          </p:val>
                                        </p:tav>
                                        <p:tav tm="100000">
                                          <p:val>
                                            <p:strVal val="#ppt_w"/>
                                          </p:val>
                                        </p:tav>
                                      </p:tavLst>
                                    </p:anim>
                                    <p:anim calcmode="lin" valueType="num">
                                      <p:cBhvr additive="base">
                                        <p:cTn id="18" dur="600" fill="hold" decel="100000"/>
                                        <p:tgtEl>
                                          <p:spTgt spid="4"/>
                                        </p:tgtEl>
                                        <p:attrNameLst>
                                          <p:attrName>ppt_h</p:attrName>
                                        </p:attrNameLst>
                                      </p:cBhvr>
                                      <p:tavLst>
                                        <p:tav tm="0">
                                          <p:val>
                                            <p:strVal val="0"/>
                                          </p:val>
                                        </p:tav>
                                        <p:tav tm="100000">
                                          <p:val>
                                            <p:strVal val="#ppt_h"/>
                                          </p:val>
                                        </p:tav>
                                      </p:tavLst>
                                    </p:anim>
                                    <p:animEffect transition="in" filter="fade">
                                      <p:cBhvr>
                                        <p:cTn id="19" dur="600"/>
                                        <p:tgtEl>
                                          <p:spTgt spid="4"/>
                                        </p:tgtEl>
                                      </p:cBhvr>
                                    </p:animEffect>
                                  </p:childTnLst>
                                </p:cTn>
                              </p:par>
                              <p:par>
                                <p:cTn id="20" presetID="10" presetClass="entr" presetSubtype="0" fill="hold" grpId="0" nodeType="withEffect">
                                  <p:stCondLst>
                                    <p:cond delay="7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childTnLst>
                                </p:cTn>
                              </p:par>
                              <p:par>
                                <p:cTn id="23" presetID="42" presetClass="entr" presetSubtype="0" fill="hold" grpId="0" nodeType="withEffect">
                                  <p:stCondLst>
                                    <p:cond delay="9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700"/>
                                        <p:tgtEl>
                                          <p:spTgt spid="6"/>
                                        </p:tgtEl>
                                      </p:cBhvr>
                                    </p:animEffect>
                                    <p:anim calcmode="lin" valueType="num">
                                      <p:cBhvr additive="base">
                                        <p:cTn id="26" dur="700" fill="hold" decel="100000"/>
                                        <p:tgtEl>
                                          <p:spTgt spid="6"/>
                                        </p:tgtEl>
                                        <p:attrNameLst>
                                          <p:attrName>ppt_x</p:attrName>
                                        </p:attrNameLst>
                                      </p:cBhvr>
                                      <p:tavLst>
                                        <p:tav tm="0">
                                          <p:val>
                                            <p:strVal val="#ppt_x"/>
                                          </p:val>
                                        </p:tav>
                                        <p:tav tm="100000">
                                          <p:val>
                                            <p:strVal val="#ppt_x"/>
                                          </p:val>
                                        </p:tav>
                                      </p:tavLst>
                                    </p:anim>
                                    <p:anim calcmode="lin" valueType="num">
                                      <p:cBhvr additive="base">
                                        <p:cTn id="27" dur="700" fill="hold" decel="100000"/>
                                        <p:tgtEl>
                                          <p:spTgt spid="6"/>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115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700"/>
                                        <p:tgtEl>
                                          <p:spTgt spid="7"/>
                                        </p:tgtEl>
                                      </p:cBhvr>
                                    </p:animEffect>
                                    <p:anim calcmode="lin" valueType="num">
                                      <p:cBhvr additive="base">
                                        <p:cTn id="31" dur="700" fill="hold" decel="100000"/>
                                        <p:tgtEl>
                                          <p:spTgt spid="7"/>
                                        </p:tgtEl>
                                        <p:attrNameLst>
                                          <p:attrName>ppt_x</p:attrName>
                                        </p:attrNameLst>
                                      </p:cBhvr>
                                      <p:tavLst>
                                        <p:tav tm="0">
                                          <p:val>
                                            <p:strVal val="#ppt_x"/>
                                          </p:val>
                                        </p:tav>
                                        <p:tav tm="100000">
                                          <p:val>
                                            <p:strVal val="#ppt_x"/>
                                          </p:val>
                                        </p:tav>
                                      </p:tavLst>
                                    </p:anim>
                                    <p:anim calcmode="lin" valueType="num">
                                      <p:cBhvr additive="base">
                                        <p:cTn id="32" dur="700" fill="hold" decel="100000"/>
                                        <p:tgtEl>
                                          <p:spTgt spid="7"/>
                                        </p:tgtEl>
                                        <p:attrNameLst>
                                          <p:attrName>ppt_y</p:attrName>
                                        </p:attrNameLst>
                                      </p:cBhvr>
                                      <p:tavLst>
                                        <p:tav tm="0">
                                          <p:val>
                                            <p:strVal val="#ppt_y+.1"/>
                                          </p:val>
                                        </p:tav>
                                        <p:tav tm="100000">
                                          <p:val>
                                            <p:strVal val="#ppt_y"/>
                                          </p:val>
                                        </p:tav>
                                      </p:tavLst>
                                    </p:anim>
                                  </p:childTnLst>
                                </p:cTn>
                              </p:par>
                              <p:par>
                                <p:cTn id="33" presetID="22" presetClass="entr" presetSubtype="8" fill="hold" grpId="0" nodeType="withEffect">
                                  <p:stCondLst>
                                    <p:cond delay="140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par>
                                <p:cTn id="36" presetID="10" presetClass="entr" presetSubtype="0" fill="hold" grpId="0" nodeType="withEffect">
                                  <p:stCondLst>
                                    <p:cond delay="1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Team AIStudyAssistant</a:t>
            </a:r>
            <a:endParaRPr lang="en-US" sz="3200" dirty="0"/>
          </a:p>
        </p:txBody>
      </p:sp>
      <p:sp>
        <p:nvSpPr>
          <p:cNvPr id="3" name="A0_0_zoom_blob"/>
          <p:cNvSpPr/>
          <p:nvPr/>
        </p:nvSpPr>
        <p:spPr>
          <a:xfrm>
            <a:off x="9906000" y="254000"/>
            <a:ext cx="1651000" cy="1651000"/>
          </a:xfrm>
          <a:prstGeom prst="ellipse">
            <a:avLst/>
          </a:prstGeom>
          <a:solidFill>
            <a:srgbClr val="2E6AA8">
              <a:alpha val="8000"/>
            </a:srgbClr>
          </a:solidFill>
          <a:ln/>
        </p:spPr>
      </p:sp>
      <p:sp>
        <p:nvSpPr>
          <p:cNvPr id="4" name="A0_200_rise_c1"/>
          <p:cNvSpPr/>
          <p:nvPr/>
        </p:nvSpPr>
        <p:spPr>
          <a:xfrm>
            <a:off x="812800" y="1587500"/>
            <a:ext cx="5130800" cy="3175000"/>
          </a:xfrm>
          <a:prstGeom prst="roundRect">
            <a:avLst>
              <a:gd name="adj" fmla="val 4032"/>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sp>
        <p:nvSpPr>
          <p:cNvPr id="5" name="A0_200_rise_c1a"/>
          <p:cNvSpPr txBox="1"/>
          <p:nvPr/>
        </p:nvSpPr>
        <p:spPr>
          <a:xfrm>
            <a:off x="1168400" y="1943100"/>
            <a:ext cx="4445000" cy="228600"/>
          </a:xfrm>
          <a:prstGeom prst="rect">
            <a:avLst/>
          </a:prstGeom>
          <a:noFill/>
          <a:ln/>
        </p:spPr>
        <p:txBody>
          <a:bodyPr wrap="square" lIns="0" tIns="0" rIns="0" bIns="0" rtlCol="0" anchor="t"/>
          <a:lstStyle/>
          <a:p>
            <a:pPr indent="0" marL="0">
              <a:buNone/>
            </a:pPr>
            <a:r>
              <a:rPr lang="en-US" sz="1200" b="1" spc="200" kern="0" dirty="0">
                <a:solidFill>
                  <a:srgbClr val="2E6AA8"/>
                </a:solidFill>
                <a:latin typeface="Calibri" pitchFamily="34" charset="0"/>
                <a:ea typeface="Calibri" pitchFamily="34" charset="-122"/>
                <a:cs typeface="Calibri" pitchFamily="34" charset="-120"/>
              </a:rPr>
              <a:t>TEAM MEMBER</a:t>
            </a:r>
            <a:endParaRPr lang="en-US" sz="1200" dirty="0"/>
          </a:p>
        </p:txBody>
      </p:sp>
      <p:sp>
        <p:nvSpPr>
          <p:cNvPr id="6" name="A0_200_rise_c1b"/>
          <p:cNvSpPr txBox="1"/>
          <p:nvPr/>
        </p:nvSpPr>
        <p:spPr>
          <a:xfrm>
            <a:off x="1168400" y="2286000"/>
            <a:ext cx="4445000" cy="508000"/>
          </a:xfrm>
          <a:prstGeom prst="rect">
            <a:avLst/>
          </a:prstGeom>
          <a:noFill/>
          <a:ln/>
        </p:spPr>
        <p:txBody>
          <a:bodyPr wrap="square" lIns="0" tIns="0" rIns="0" bIns="0" rtlCol="0" anchor="t"/>
          <a:lstStyle/>
          <a:p>
            <a:pPr indent="0" marL="0">
              <a:buNone/>
            </a:pPr>
            <a:r>
              <a:rPr lang="en-US" sz="2800" b="1" dirty="0">
                <a:solidFill>
                  <a:srgbClr val="1D2A3A"/>
                </a:solidFill>
                <a:latin typeface="Calibri" pitchFamily="34" charset="0"/>
                <a:ea typeface="Calibri" pitchFamily="34" charset="-122"/>
                <a:cs typeface="Calibri" pitchFamily="34" charset="-120"/>
              </a:rPr>
              <a:t>Ali Belhrak</a:t>
            </a:r>
            <a:endParaRPr lang="en-US" sz="2800" dirty="0"/>
          </a:p>
        </p:txBody>
      </p:sp>
      <p:sp>
        <p:nvSpPr>
          <p:cNvPr id="7" name="A0_200_rise_c1c"/>
          <p:cNvSpPr txBox="1"/>
          <p:nvPr/>
        </p:nvSpPr>
        <p:spPr>
          <a:xfrm>
            <a:off x="1168400" y="2921000"/>
            <a:ext cx="4445000" cy="1524000"/>
          </a:xfrm>
          <a:prstGeom prst="rect">
            <a:avLst/>
          </a:prstGeom>
          <a:noFill/>
          <a:ln/>
        </p:spPr>
        <p:txBody>
          <a:bodyPr wrap="square" lIns="0" tIns="0" rIns="0" bIns="0" rtlCol="0" anchor="t"/>
          <a:lstStyle/>
          <a:p>
            <a:pPr indent="0" marL="0">
              <a:lnSpc>
                <a:spcPct val="115000"/>
              </a:lnSpc>
              <a:spcAft>
                <a:spcPts val="1400"/>
              </a:spcAft>
              <a:buNone/>
            </a:pPr>
            <a:r>
              <a:rPr lang="en-US" sz="1600" dirty="0">
                <a:solidFill>
                  <a:srgbClr val="4A5568"/>
                </a:solidFill>
                <a:latin typeface="Calibri" pitchFamily="34" charset="0"/>
                <a:ea typeface="Calibri" pitchFamily="34" charset="-122"/>
                <a:cs typeface="Calibri" pitchFamily="34" charset="-120"/>
              </a:rPr>
              <a:t>M.S. Applied Computer Science, Grand Valley State University</a:t>
            </a:r>
            <a:endParaRPr lang="en-US" sz="1600" dirty="0"/>
          </a:p>
          <a:p>
            <a:pPr indent="0" marL="0">
              <a:lnSpc>
                <a:spcPct val="115000"/>
              </a:lnSpc>
              <a:spcAft>
                <a:spcPts val="1400"/>
              </a:spcAft>
              <a:buNone/>
            </a:pPr>
            <a:r>
              <a:rPr lang="en-US" sz="1600" dirty="0">
                <a:solidFill>
                  <a:srgbClr val="4A5568"/>
                </a:solidFill>
                <a:latin typeface="Calibri" pitchFamily="34" charset="0"/>
                <a:ea typeface="Calibri" pitchFamily="34" charset="-122"/>
                <a:cs typeface="Calibri" pitchFamily="34" charset="-120"/>
              </a:rPr>
              <a:t>Solo project: I present every part today</a:t>
            </a:r>
            <a:endParaRPr lang="en-US" sz="1600" dirty="0"/>
          </a:p>
        </p:txBody>
      </p:sp>
      <p:sp>
        <p:nvSpPr>
          <p:cNvPr id="8" name="A0_500_rise_c2"/>
          <p:cNvSpPr/>
          <p:nvPr/>
        </p:nvSpPr>
        <p:spPr>
          <a:xfrm>
            <a:off x="6248400" y="1587500"/>
            <a:ext cx="5130800" cy="3175000"/>
          </a:xfrm>
          <a:prstGeom prst="roundRect">
            <a:avLst>
              <a:gd name="adj" fmla="val 4032"/>
            </a:avLst>
          </a:prstGeom>
          <a:solidFill>
            <a:srgbClr val="1D2A3A"/>
          </a:solidFill>
          <a:ln/>
          <a:effectLst>
            <a:outerShdw sx="100000" sy="100000" kx="0" ky="0" algn="bl" rotWithShape="0" blurRad="177800" dist="63500" dir="5400000">
              <a:srgbClr val="1D2A3A">
                <a:alpha val="18000"/>
              </a:srgbClr>
            </a:outerShdw>
          </a:effectLst>
        </p:spPr>
      </p:sp>
      <p:sp>
        <p:nvSpPr>
          <p:cNvPr id="9" name="A0_500_rise_c2a"/>
          <p:cNvSpPr txBox="1"/>
          <p:nvPr/>
        </p:nvSpPr>
        <p:spPr>
          <a:xfrm>
            <a:off x="6604000" y="1943100"/>
            <a:ext cx="4445000" cy="228600"/>
          </a:xfrm>
          <a:prstGeom prst="rect">
            <a:avLst/>
          </a:prstGeom>
          <a:noFill/>
          <a:ln/>
        </p:spPr>
        <p:txBody>
          <a:bodyPr wrap="square" lIns="0" tIns="0" rIns="0" bIns="0" rtlCol="0" anchor="t"/>
          <a:lstStyle/>
          <a:p>
            <a:pPr indent="0" marL="0">
              <a:buNone/>
            </a:pPr>
            <a:r>
              <a:rPr lang="en-US" sz="1200" b="1" spc="200" kern="0" dirty="0">
                <a:solidFill>
                  <a:srgbClr val="8FB8E3"/>
                </a:solidFill>
                <a:latin typeface="Calibri" pitchFamily="34" charset="0"/>
                <a:ea typeface="Calibri" pitchFamily="34" charset="-122"/>
                <a:cs typeface="Calibri" pitchFamily="34" charset="-120"/>
              </a:rPr>
              <a:t>ROLES</a:t>
            </a:r>
            <a:endParaRPr lang="en-US" sz="1200" dirty="0"/>
          </a:p>
        </p:txBody>
      </p:sp>
      <p:sp>
        <p:nvSpPr>
          <p:cNvPr id="10" name="A0_500_rise_c2b"/>
          <p:cNvSpPr txBox="1"/>
          <p:nvPr/>
        </p:nvSpPr>
        <p:spPr>
          <a:xfrm>
            <a:off x="6604000" y="2286000"/>
            <a:ext cx="4445000" cy="21590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F6F5F1"/>
                </a:solidFill>
                <a:latin typeface="Calibri" pitchFamily="34" charset="0"/>
                <a:ea typeface="Calibri" pitchFamily="34" charset="-122"/>
                <a:cs typeface="Calibri" pitchFamily="34" charset="-120"/>
              </a:rPr>
              <a:t>Project manager</a:t>
            </a:r>
            <a:endParaRPr lang="en-US" sz="1800" dirty="0"/>
          </a:p>
          <a:p>
            <a:pPr marL="342900" indent="-342900">
              <a:spcAft>
                <a:spcPts val="1200"/>
              </a:spcAft>
              <a:buSzPct val="100000"/>
              <a:buChar char="•"/>
            </a:pPr>
            <a:r>
              <a:rPr lang="en-US" sz="1800" dirty="0">
                <a:solidFill>
                  <a:srgbClr val="F6F5F1"/>
                </a:solidFill>
                <a:latin typeface="Calibri" pitchFamily="34" charset="0"/>
                <a:ea typeface="Calibri" pitchFamily="34" charset="-122"/>
                <a:cs typeface="Calibri" pitchFamily="34" charset="-120"/>
              </a:rPr>
              <a:t>Systems analyst</a:t>
            </a:r>
            <a:endParaRPr lang="en-US" sz="1800" dirty="0"/>
          </a:p>
          <a:p>
            <a:pPr marL="342900" indent="-342900">
              <a:spcAft>
                <a:spcPts val="1200"/>
              </a:spcAft>
              <a:buSzPct val="100000"/>
              <a:buChar char="•"/>
            </a:pPr>
            <a:r>
              <a:rPr lang="en-US" sz="1800" dirty="0">
                <a:solidFill>
                  <a:srgbClr val="F6F5F1"/>
                </a:solidFill>
                <a:latin typeface="Calibri" pitchFamily="34" charset="0"/>
                <a:ea typeface="Calibri" pitchFamily="34" charset="-122"/>
                <a:cs typeface="Calibri" pitchFamily="34" charset="-120"/>
              </a:rPr>
              <a:t>Designer</a:t>
            </a:r>
            <a:endParaRPr lang="en-US" sz="1800" dirty="0"/>
          </a:p>
          <a:p>
            <a:pPr marL="342900" indent="-342900">
              <a:spcAft>
                <a:spcPts val="1200"/>
              </a:spcAft>
              <a:buSzPct val="100000"/>
              <a:buChar char="•"/>
            </a:pPr>
            <a:r>
              <a:rPr lang="en-US" sz="1800" dirty="0">
                <a:solidFill>
                  <a:srgbClr val="F6F5F1"/>
                </a:solidFill>
                <a:latin typeface="Calibri" pitchFamily="34" charset="0"/>
                <a:ea typeface="Calibri" pitchFamily="34" charset="-122"/>
                <a:cs typeface="Calibri" pitchFamily="34" charset="-120"/>
              </a:rPr>
              <a:t>Developer</a:t>
            </a:r>
            <a:endParaRPr lang="en-US" sz="1800" dirty="0"/>
          </a:p>
        </p:txBody>
      </p:sp>
      <p:sp>
        <p:nvSpPr>
          <p:cNvPr id="11" name="Text 9"/>
          <p:cNvSpPr txBox="1"/>
          <p:nvPr/>
        </p:nvSpPr>
        <p:spPr>
          <a:xfrm>
            <a:off x="812800" y="6223000"/>
            <a:ext cx="8255000" cy="2286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github.com/alibelhrak/GVSU-CIS641-AIStudyAssistant</a:t>
            </a:r>
            <a:endParaRPr lang="en-US" sz="12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600" fill="hold" decel="100000"/>
                                        <p:tgtEl>
                                          <p:spTgt spid="3"/>
                                        </p:tgtEl>
                                        <p:attrNameLst>
                                          <p:attrName>ppt_w</p:attrName>
                                        </p:attrNameLst>
                                      </p:cBhvr>
                                      <p:tavLst>
                                        <p:tav tm="0">
                                          <p:val>
                                            <p:strVal val="0"/>
                                          </p:val>
                                        </p:tav>
                                        <p:tav tm="100000">
                                          <p:val>
                                            <p:strVal val="#ppt_w"/>
                                          </p:val>
                                        </p:tav>
                                      </p:tavLst>
                                    </p:anim>
                                    <p:anim calcmode="lin" valueType="num">
                                      <p:cBhvr additive="base">
                                        <p:cTn id="8" dur="600" fill="hold" decel="100000"/>
                                        <p:tgtEl>
                                          <p:spTgt spid="3"/>
                                        </p:tgtEl>
                                        <p:attrNameLst>
                                          <p:attrName>ppt_h</p:attrName>
                                        </p:attrNameLst>
                                      </p:cBhvr>
                                      <p:tavLst>
                                        <p:tav tm="0">
                                          <p:val>
                                            <p:strVal val="0"/>
                                          </p:val>
                                        </p:tav>
                                        <p:tav tm="100000">
                                          <p:val>
                                            <p:strVal val="#ppt_h"/>
                                          </p:val>
                                        </p:tav>
                                      </p:tavLst>
                                    </p:anim>
                                    <p:animEffect transition="in" filter="fade">
                                      <p:cBhvr>
                                        <p:cTn id="9" dur="600"/>
                                        <p:tgtEl>
                                          <p:spTgt spid="3"/>
                                        </p:tgtEl>
                                      </p:cBhvr>
                                    </p:animEffect>
                                  </p:childTnLst>
                                </p:cTn>
                              </p:par>
                              <p:par>
                                <p:cTn id="10" presetID="42" presetClass="entr" presetSubtype="0" fill="hold" grpId="0" nodeType="withEffect">
                                  <p:stCondLst>
                                    <p:cond delay="2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00"/>
                                        <p:tgtEl>
                                          <p:spTgt spid="4"/>
                                        </p:tgtEl>
                                      </p:cBhvr>
                                    </p:animEffect>
                                    <p:anim calcmode="lin" valueType="num">
                                      <p:cBhvr additive="base">
                                        <p:cTn id="13" dur="7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700" fill="hold" decel="100000"/>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700" fill="hold" decel="100000"/>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2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700" fill="hold" decel="100000"/>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2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700"/>
                                        <p:tgtEl>
                                          <p:spTgt spid="7"/>
                                        </p:tgtEl>
                                      </p:cBhvr>
                                    </p:animEffect>
                                    <p:anim calcmode="lin" valueType="num">
                                      <p:cBhvr additive="base">
                                        <p:cTn id="28" dur="7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700" fill="hold" decel="100000"/>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5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700"/>
                                        <p:tgtEl>
                                          <p:spTgt spid="10"/>
                                        </p:tgtEl>
                                      </p:cBhvr>
                                    </p:animEffect>
                                    <p:anim calcmode="lin" valueType="num">
                                      <p:cBhvr additive="base">
                                        <p:cTn id="33" dur="700" fill="hold" decel="100000"/>
                                        <p:tgtEl>
                                          <p:spTgt spid="10"/>
                                        </p:tgtEl>
                                        <p:attrNameLst>
                                          <p:attrName>ppt_x</p:attrName>
                                        </p:attrNameLst>
                                      </p:cBhvr>
                                      <p:tavLst>
                                        <p:tav tm="0">
                                          <p:val>
                                            <p:strVal val="#ppt_x"/>
                                          </p:val>
                                        </p:tav>
                                        <p:tav tm="100000">
                                          <p:val>
                                            <p:strVal val="#ppt_x"/>
                                          </p:val>
                                        </p:tav>
                                      </p:tavLst>
                                    </p:anim>
                                    <p:anim calcmode="lin" valueType="num">
                                      <p:cBhvr additive="base">
                                        <p:cTn id="34" dur="700" fill="hold" decel="100000"/>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50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700"/>
                                        <p:tgtEl>
                                          <p:spTgt spid="8"/>
                                        </p:tgtEl>
                                      </p:cBhvr>
                                    </p:animEffect>
                                    <p:anim calcmode="lin" valueType="num">
                                      <p:cBhvr additive="base">
                                        <p:cTn id="38" dur="700" fill="hold" decel="100000"/>
                                        <p:tgtEl>
                                          <p:spTgt spid="8"/>
                                        </p:tgtEl>
                                        <p:attrNameLst>
                                          <p:attrName>ppt_x</p:attrName>
                                        </p:attrNameLst>
                                      </p:cBhvr>
                                      <p:tavLst>
                                        <p:tav tm="0">
                                          <p:val>
                                            <p:strVal val="#ppt_x"/>
                                          </p:val>
                                        </p:tav>
                                        <p:tav tm="100000">
                                          <p:val>
                                            <p:strVal val="#ppt_x"/>
                                          </p:val>
                                        </p:tav>
                                      </p:tavLst>
                                    </p:anim>
                                    <p:anim calcmode="lin" valueType="num">
                                      <p:cBhvr additive="base">
                                        <p:cTn id="39" dur="700" fill="hold" decel="100000"/>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50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700"/>
                                        <p:tgtEl>
                                          <p:spTgt spid="9"/>
                                        </p:tgtEl>
                                      </p:cBhvr>
                                    </p:animEffect>
                                    <p:anim calcmode="lin" valueType="num">
                                      <p:cBhvr additive="base">
                                        <p:cTn id="43" dur="700" fill="hold" decel="100000"/>
                                        <p:tgtEl>
                                          <p:spTgt spid="9"/>
                                        </p:tgtEl>
                                        <p:attrNameLst>
                                          <p:attrName>ppt_x</p:attrName>
                                        </p:attrNameLst>
                                      </p:cBhvr>
                                      <p:tavLst>
                                        <p:tav tm="0">
                                          <p:val>
                                            <p:strVal val="#ppt_x"/>
                                          </p:val>
                                        </p:tav>
                                        <p:tav tm="100000">
                                          <p:val>
                                            <p:strVal val="#ppt_x"/>
                                          </p:val>
                                        </p:tav>
                                      </p:tavLst>
                                    </p:anim>
                                    <p:anim calcmode="lin" valueType="num">
                                      <p:cBhvr additive="base">
                                        <p:cTn id="44" dur="700" fill="hold" decel="100000"/>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The problem: school work is spread across many tools</a:t>
            </a:r>
            <a:endParaRPr lang="en-US" sz="3200" dirty="0"/>
          </a:p>
        </p:txBody>
      </p:sp>
      <p:sp>
        <p:nvSpPr>
          <p:cNvPr id="3" name="A0_200_rise_p0c"/>
          <p:cNvSpPr/>
          <p:nvPr/>
        </p:nvSpPr>
        <p:spPr>
          <a:xfrm>
            <a:off x="812800" y="2032000"/>
            <a:ext cx="2508250" cy="1905000"/>
          </a:xfrm>
          <a:prstGeom prst="roundRect">
            <a:avLst>
              <a:gd name="adj" fmla="val 6720"/>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4" name="A0_200_rise_p0i" descr="preencoded.png">    </p:cNvPr>
          <p:cNvPicPr>
            <a:picLocks noChangeAspect="1"/>
          </p:cNvPicPr>
          <p:nvPr/>
        </p:nvPicPr>
        <p:blipFill>
          <a:blip r:embed="rId1"/>
          <a:stretch>
            <a:fillRect/>
          </a:stretch>
        </p:blipFill>
        <p:spPr>
          <a:xfrm>
            <a:off x="1066800" y="2286000"/>
            <a:ext cx="355600" cy="355600"/>
          </a:xfrm>
          <a:prstGeom prst="rect">
            <a:avLst/>
          </a:prstGeom>
        </p:spPr>
      </p:pic>
      <p:sp>
        <p:nvSpPr>
          <p:cNvPr id="5" name="A0_200_rise_p0h"/>
          <p:cNvSpPr txBox="1"/>
          <p:nvPr/>
        </p:nvSpPr>
        <p:spPr>
          <a:xfrm>
            <a:off x="1066800" y="2768600"/>
            <a:ext cx="2032000" cy="317500"/>
          </a:xfrm>
          <a:prstGeom prst="rect">
            <a:avLst/>
          </a:prstGeom>
          <a:noFill/>
          <a:ln/>
        </p:spPr>
        <p:txBody>
          <a:bodyPr wrap="square" lIns="0" tIns="0" rIns="0" bIns="0" rtlCol="0" anchor="t"/>
          <a:lstStyle/>
          <a:p>
            <a:pPr indent="0" marL="0">
              <a:buNone/>
            </a:pPr>
            <a:r>
              <a:rPr lang="en-US" sz="1800" b="1" dirty="0">
                <a:solidFill>
                  <a:srgbClr val="1D2A3A"/>
                </a:solidFill>
                <a:latin typeface="Calibri" pitchFamily="34" charset="0"/>
                <a:ea typeface="Calibri" pitchFamily="34" charset="-122"/>
                <a:cs typeface="Calibri" pitchFamily="34" charset="-120"/>
              </a:rPr>
              <a:t>Due dates</a:t>
            </a:r>
            <a:endParaRPr lang="en-US" sz="1800" dirty="0"/>
          </a:p>
        </p:txBody>
      </p:sp>
      <p:sp>
        <p:nvSpPr>
          <p:cNvPr id="6" name="A0_200_rise_p0b"/>
          <p:cNvSpPr txBox="1"/>
          <p:nvPr/>
        </p:nvSpPr>
        <p:spPr>
          <a:xfrm>
            <a:off x="1066800" y="3124200"/>
            <a:ext cx="2032000" cy="635000"/>
          </a:xfrm>
          <a:prstGeom prst="rect">
            <a:avLst/>
          </a:prstGeom>
          <a:noFill/>
          <a:ln/>
        </p:spPr>
        <p:txBody>
          <a:bodyPr wrap="square" lIns="0" tIns="0" rIns="0" bIns="0" rtlCol="0" anchor="t"/>
          <a:lstStyle/>
          <a:p>
            <a:pPr indent="0" marL="0">
              <a:buNone/>
            </a:pPr>
            <a:r>
              <a:rPr lang="en-US" sz="1400" dirty="0">
                <a:solidFill>
                  <a:srgbClr val="4A5568"/>
                </a:solidFill>
                <a:latin typeface="Calibri" pitchFamily="34" charset="0"/>
                <a:ea typeface="Calibri" pitchFamily="34" charset="-122"/>
                <a:cs typeface="Calibri" pitchFamily="34" charset="-120"/>
              </a:rPr>
              <a:t>in the learning management system</a:t>
            </a:r>
            <a:endParaRPr lang="en-US" sz="1400" dirty="0"/>
          </a:p>
        </p:txBody>
      </p:sp>
      <p:sp>
        <p:nvSpPr>
          <p:cNvPr id="7" name="A0_450_rise_p1c"/>
          <p:cNvSpPr/>
          <p:nvPr/>
        </p:nvSpPr>
        <p:spPr>
          <a:xfrm>
            <a:off x="3498850" y="2032000"/>
            <a:ext cx="2508250" cy="1905000"/>
          </a:xfrm>
          <a:prstGeom prst="roundRect">
            <a:avLst>
              <a:gd name="adj" fmla="val 6720"/>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8" name="A0_450_rise_p1i" descr="preencoded.png">    </p:cNvPr>
          <p:cNvPicPr>
            <a:picLocks noChangeAspect="1"/>
          </p:cNvPicPr>
          <p:nvPr/>
        </p:nvPicPr>
        <p:blipFill>
          <a:blip r:embed="rId2"/>
          <a:stretch>
            <a:fillRect/>
          </a:stretch>
        </p:blipFill>
        <p:spPr>
          <a:xfrm>
            <a:off x="3752850" y="2286000"/>
            <a:ext cx="355600" cy="355600"/>
          </a:xfrm>
          <a:prstGeom prst="rect">
            <a:avLst/>
          </a:prstGeom>
        </p:spPr>
      </p:pic>
      <p:sp>
        <p:nvSpPr>
          <p:cNvPr id="9" name="A0_450_rise_p1h"/>
          <p:cNvSpPr txBox="1"/>
          <p:nvPr/>
        </p:nvSpPr>
        <p:spPr>
          <a:xfrm>
            <a:off x="3752850" y="2768600"/>
            <a:ext cx="2032000" cy="317500"/>
          </a:xfrm>
          <a:prstGeom prst="rect">
            <a:avLst/>
          </a:prstGeom>
          <a:noFill/>
          <a:ln/>
        </p:spPr>
        <p:txBody>
          <a:bodyPr wrap="square" lIns="0" tIns="0" rIns="0" bIns="0" rtlCol="0" anchor="t"/>
          <a:lstStyle/>
          <a:p>
            <a:pPr indent="0" marL="0">
              <a:buNone/>
            </a:pPr>
            <a:r>
              <a:rPr lang="en-US" sz="1800" b="1" dirty="0">
                <a:solidFill>
                  <a:srgbClr val="1D2A3A"/>
                </a:solidFill>
                <a:latin typeface="Calibri" pitchFamily="34" charset="0"/>
                <a:ea typeface="Calibri" pitchFamily="34" charset="-122"/>
                <a:cs typeface="Calibri" pitchFamily="34" charset="-120"/>
              </a:rPr>
              <a:t>Study time</a:t>
            </a:r>
            <a:endParaRPr lang="en-US" sz="1800" dirty="0"/>
          </a:p>
        </p:txBody>
      </p:sp>
      <p:sp>
        <p:nvSpPr>
          <p:cNvPr id="10" name="A0_450_rise_p1b"/>
          <p:cNvSpPr txBox="1"/>
          <p:nvPr/>
        </p:nvSpPr>
        <p:spPr>
          <a:xfrm>
            <a:off x="3752850" y="3124200"/>
            <a:ext cx="2032000" cy="635000"/>
          </a:xfrm>
          <a:prstGeom prst="rect">
            <a:avLst/>
          </a:prstGeom>
          <a:noFill/>
          <a:ln/>
        </p:spPr>
        <p:txBody>
          <a:bodyPr wrap="square" lIns="0" tIns="0" rIns="0" bIns="0" rtlCol="0" anchor="t"/>
          <a:lstStyle/>
          <a:p>
            <a:pPr indent="0" marL="0">
              <a:buNone/>
            </a:pPr>
            <a:r>
              <a:rPr lang="en-US" sz="1400" dirty="0">
                <a:solidFill>
                  <a:srgbClr val="4A5568"/>
                </a:solidFill>
                <a:latin typeface="Calibri" pitchFamily="34" charset="0"/>
                <a:ea typeface="Calibri" pitchFamily="34" charset="-122"/>
                <a:cs typeface="Calibri" pitchFamily="34" charset="-120"/>
              </a:rPr>
              <a:t>in a calendar or a paper planner</a:t>
            </a:r>
            <a:endParaRPr lang="en-US" sz="1400" dirty="0"/>
          </a:p>
        </p:txBody>
      </p:sp>
      <p:sp>
        <p:nvSpPr>
          <p:cNvPr id="11" name="A0_700_rise_p2c"/>
          <p:cNvSpPr/>
          <p:nvPr/>
        </p:nvSpPr>
        <p:spPr>
          <a:xfrm>
            <a:off x="6184900" y="2032000"/>
            <a:ext cx="2508250" cy="1905000"/>
          </a:xfrm>
          <a:prstGeom prst="roundRect">
            <a:avLst>
              <a:gd name="adj" fmla="val 6720"/>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12" name="A0_700_rise_p2i" descr="preencoded.png">    </p:cNvPr>
          <p:cNvPicPr>
            <a:picLocks noChangeAspect="1"/>
          </p:cNvPicPr>
          <p:nvPr/>
        </p:nvPicPr>
        <p:blipFill>
          <a:blip r:embed="rId3"/>
          <a:stretch>
            <a:fillRect/>
          </a:stretch>
        </p:blipFill>
        <p:spPr>
          <a:xfrm>
            <a:off x="6438900" y="2286000"/>
            <a:ext cx="355600" cy="355600"/>
          </a:xfrm>
          <a:prstGeom prst="rect">
            <a:avLst/>
          </a:prstGeom>
        </p:spPr>
      </p:pic>
      <p:sp>
        <p:nvSpPr>
          <p:cNvPr id="13" name="A0_700_rise_p2h"/>
          <p:cNvSpPr txBox="1"/>
          <p:nvPr/>
        </p:nvSpPr>
        <p:spPr>
          <a:xfrm>
            <a:off x="6438900" y="2768600"/>
            <a:ext cx="2032000" cy="317500"/>
          </a:xfrm>
          <a:prstGeom prst="rect">
            <a:avLst/>
          </a:prstGeom>
          <a:noFill/>
          <a:ln/>
        </p:spPr>
        <p:txBody>
          <a:bodyPr wrap="square" lIns="0" tIns="0" rIns="0" bIns="0" rtlCol="0" anchor="t"/>
          <a:lstStyle/>
          <a:p>
            <a:pPr indent="0" marL="0">
              <a:buNone/>
            </a:pPr>
            <a:r>
              <a:rPr lang="en-US" sz="1800" b="1" dirty="0">
                <a:solidFill>
                  <a:srgbClr val="1D2A3A"/>
                </a:solidFill>
                <a:latin typeface="Calibri" pitchFamily="34" charset="0"/>
                <a:ea typeface="Calibri" pitchFamily="34" charset="-122"/>
                <a:cs typeface="Calibri" pitchFamily="34" charset="-120"/>
              </a:rPr>
              <a:t>Materials</a:t>
            </a:r>
            <a:endParaRPr lang="en-US" sz="1800" dirty="0"/>
          </a:p>
        </p:txBody>
      </p:sp>
      <p:sp>
        <p:nvSpPr>
          <p:cNvPr id="14" name="A0_700_rise_p2b"/>
          <p:cNvSpPr txBox="1"/>
          <p:nvPr/>
        </p:nvSpPr>
        <p:spPr>
          <a:xfrm>
            <a:off x="6438900" y="3124200"/>
            <a:ext cx="2032000" cy="635000"/>
          </a:xfrm>
          <a:prstGeom prst="rect">
            <a:avLst/>
          </a:prstGeom>
          <a:noFill/>
          <a:ln/>
        </p:spPr>
        <p:txBody>
          <a:bodyPr wrap="square" lIns="0" tIns="0" rIns="0" bIns="0" rtlCol="0" anchor="t"/>
          <a:lstStyle/>
          <a:p>
            <a:pPr indent="0" marL="0">
              <a:buNone/>
            </a:pPr>
            <a:r>
              <a:rPr lang="en-US" sz="1400" dirty="0">
                <a:solidFill>
                  <a:srgbClr val="4A5568"/>
                </a:solidFill>
                <a:latin typeface="Calibri" pitchFamily="34" charset="0"/>
                <a:ea typeface="Calibri" pitchFamily="34" charset="-122"/>
                <a:cs typeface="Calibri" pitchFamily="34" charset="-120"/>
              </a:rPr>
              <a:t>in a notes app or cloud folder</a:t>
            </a:r>
            <a:endParaRPr lang="en-US" sz="1400" dirty="0"/>
          </a:p>
        </p:txBody>
      </p:sp>
      <p:sp>
        <p:nvSpPr>
          <p:cNvPr id="15" name="A0_950_zoom_p3c"/>
          <p:cNvSpPr/>
          <p:nvPr/>
        </p:nvSpPr>
        <p:spPr>
          <a:xfrm>
            <a:off x="8870950" y="2032000"/>
            <a:ext cx="2508250" cy="1905000"/>
          </a:xfrm>
          <a:prstGeom prst="roundRect">
            <a:avLst>
              <a:gd name="adj" fmla="val 6720"/>
            </a:avLst>
          </a:prstGeom>
          <a:solidFill>
            <a:srgbClr val="FFF6EE"/>
          </a:solidFill>
          <a:ln w="19050">
            <a:solidFill>
              <a:srgbClr val="C8662F"/>
            </a:solidFill>
            <a:prstDash val="solid"/>
          </a:ln>
          <a:effectLst>
            <a:outerShdw sx="100000" sy="100000" kx="0" ky="0" algn="bl" rotWithShape="0" blurRad="177800" dist="63500" dir="5400000">
              <a:srgbClr val="1D2A3A">
                <a:alpha val="10000"/>
              </a:srgbClr>
            </a:outerShdw>
          </a:effectLst>
        </p:spPr>
      </p:sp>
      <p:pic>
        <p:nvPicPr>
          <p:cNvPr id="16" name="A0_950_zoom_p3i" descr="preencoded.png">    </p:cNvPr>
          <p:cNvPicPr>
            <a:picLocks noChangeAspect="1"/>
          </p:cNvPicPr>
          <p:nvPr/>
        </p:nvPicPr>
        <p:blipFill>
          <a:blip r:embed="rId4"/>
          <a:stretch>
            <a:fillRect/>
          </a:stretch>
        </p:blipFill>
        <p:spPr>
          <a:xfrm>
            <a:off x="9124950" y="2286000"/>
            <a:ext cx="355600" cy="355600"/>
          </a:xfrm>
          <a:prstGeom prst="rect">
            <a:avLst/>
          </a:prstGeom>
        </p:spPr>
      </p:pic>
      <p:sp>
        <p:nvSpPr>
          <p:cNvPr id="17" name="A0_950_zoom_p3h"/>
          <p:cNvSpPr txBox="1"/>
          <p:nvPr/>
        </p:nvSpPr>
        <p:spPr>
          <a:xfrm>
            <a:off x="9124950" y="2768600"/>
            <a:ext cx="2032000" cy="317500"/>
          </a:xfrm>
          <a:prstGeom prst="rect">
            <a:avLst/>
          </a:prstGeom>
          <a:noFill/>
          <a:ln/>
        </p:spPr>
        <p:txBody>
          <a:bodyPr wrap="square" lIns="0" tIns="0" rIns="0" bIns="0" rtlCol="0" anchor="t"/>
          <a:lstStyle/>
          <a:p>
            <a:pPr indent="0" marL="0">
              <a:buNone/>
            </a:pPr>
            <a:r>
              <a:rPr lang="en-US" sz="1800" b="1" dirty="0">
                <a:solidFill>
                  <a:srgbClr val="1D2A3A"/>
                </a:solidFill>
                <a:latin typeface="Calibri" pitchFamily="34" charset="0"/>
                <a:ea typeface="Calibri" pitchFamily="34" charset="-122"/>
                <a:cs typeface="Calibri" pitchFamily="34" charset="-120"/>
              </a:rPr>
              <a:t>Hours studied</a:t>
            </a:r>
            <a:endParaRPr lang="en-US" sz="1800" dirty="0"/>
          </a:p>
        </p:txBody>
      </p:sp>
      <p:sp>
        <p:nvSpPr>
          <p:cNvPr id="18" name="A0_950_zoom_p3b"/>
          <p:cNvSpPr txBox="1"/>
          <p:nvPr/>
        </p:nvSpPr>
        <p:spPr>
          <a:xfrm>
            <a:off x="9124950" y="3124200"/>
            <a:ext cx="2032000" cy="635000"/>
          </a:xfrm>
          <a:prstGeom prst="rect">
            <a:avLst/>
          </a:prstGeom>
          <a:noFill/>
          <a:ln/>
        </p:spPr>
        <p:txBody>
          <a:bodyPr wrap="square" lIns="0" tIns="0" rIns="0" bIns="0" rtlCol="0" anchor="t"/>
          <a:lstStyle/>
          <a:p>
            <a:pPr indent="0" marL="0">
              <a:buNone/>
            </a:pPr>
            <a:r>
              <a:rPr lang="en-US" sz="1400" dirty="0">
                <a:solidFill>
                  <a:srgbClr val="4A5568"/>
                </a:solidFill>
                <a:latin typeface="Calibri" pitchFamily="34" charset="0"/>
                <a:ea typeface="Calibri" pitchFamily="34" charset="-122"/>
                <a:cs typeface="Calibri" pitchFamily="34" charset="-120"/>
              </a:rPr>
              <a:t>usually not tracked at all</a:t>
            </a:r>
            <a:endParaRPr lang="en-US" sz="1400" dirty="0"/>
          </a:p>
        </p:txBody>
      </p:sp>
      <p:sp>
        <p:nvSpPr>
          <p:cNvPr id="19" name="A0_1400_fade_stmt"/>
          <p:cNvSpPr txBox="1"/>
          <p:nvPr/>
        </p:nvSpPr>
        <p:spPr>
          <a:xfrm>
            <a:off x="812800" y="4318000"/>
            <a:ext cx="9842500" cy="762000"/>
          </a:xfrm>
          <a:prstGeom prst="rect">
            <a:avLst/>
          </a:prstGeom>
          <a:noFill/>
          <a:ln/>
        </p:spPr>
        <p:txBody>
          <a:bodyPr wrap="square" lIns="0" tIns="0" rIns="0" bIns="0" rtlCol="0" anchor="t"/>
          <a:lstStyle/>
          <a:p>
            <a:pPr indent="0" marL="0">
              <a:lnSpc>
                <a:spcPct val="110000"/>
              </a:lnSpc>
              <a:buNone/>
            </a:pPr>
            <a:r>
              <a:rPr lang="en-US" sz="2000" dirty="0">
                <a:solidFill>
                  <a:srgbClr val="1D2A3A"/>
                </a:solidFill>
                <a:latin typeface="Calibri" pitchFamily="34" charset="0"/>
                <a:ea typeface="Calibri" pitchFamily="34" charset="-122"/>
                <a:cs typeface="Calibri" pitchFamily="34" charset="-120"/>
              </a:rPr>
              <a:t>A student can see that an exam is coming, but not that they have barely studied for it, until a day or two before.</a:t>
            </a:r>
            <a:endParaRPr lang="en-US" sz="20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anim calcmode="lin" valueType="num">
                                      <p:cBhvr additive="base">
                                        <p:cTn id="8" dur="7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700" fill="hold" decel="100000"/>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00"/>
                                        <p:tgtEl>
                                          <p:spTgt spid="4"/>
                                        </p:tgtEl>
                                      </p:cBhvr>
                                    </p:animEffect>
                                    <p:anim calcmode="lin" valueType="num">
                                      <p:cBhvr additive="base">
                                        <p:cTn id="13" dur="7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700" fill="hold" decel="100000"/>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700" fill="hold" decel="100000"/>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2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700" fill="hold" decel="100000"/>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4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anim calcmode="lin" valueType="num">
                                      <p:cBhvr additive="base">
                                        <p:cTn id="28" dur="700" fill="hold" decel="100000"/>
                                        <p:tgtEl>
                                          <p:spTgt spid="10"/>
                                        </p:tgtEl>
                                        <p:attrNameLst>
                                          <p:attrName>ppt_x</p:attrName>
                                        </p:attrNameLst>
                                      </p:cBhvr>
                                      <p:tavLst>
                                        <p:tav tm="0">
                                          <p:val>
                                            <p:strVal val="#ppt_x"/>
                                          </p:val>
                                        </p:tav>
                                        <p:tav tm="100000">
                                          <p:val>
                                            <p:strVal val="#ppt_x"/>
                                          </p:val>
                                        </p:tav>
                                      </p:tavLst>
                                    </p:anim>
                                    <p:anim calcmode="lin" valueType="num">
                                      <p:cBhvr additive="base">
                                        <p:cTn id="29" dur="700" fill="hold" decel="100000"/>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45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700"/>
                                        <p:tgtEl>
                                          <p:spTgt spid="7"/>
                                        </p:tgtEl>
                                      </p:cBhvr>
                                    </p:animEffect>
                                    <p:anim calcmode="lin" valueType="num">
                                      <p:cBhvr additive="base">
                                        <p:cTn id="33" dur="700" fill="hold" decel="100000"/>
                                        <p:tgtEl>
                                          <p:spTgt spid="7"/>
                                        </p:tgtEl>
                                        <p:attrNameLst>
                                          <p:attrName>ppt_x</p:attrName>
                                        </p:attrNameLst>
                                      </p:cBhvr>
                                      <p:tavLst>
                                        <p:tav tm="0">
                                          <p:val>
                                            <p:strVal val="#ppt_x"/>
                                          </p:val>
                                        </p:tav>
                                        <p:tav tm="100000">
                                          <p:val>
                                            <p:strVal val="#ppt_x"/>
                                          </p:val>
                                        </p:tav>
                                      </p:tavLst>
                                    </p:anim>
                                    <p:anim calcmode="lin" valueType="num">
                                      <p:cBhvr additive="base">
                                        <p:cTn id="34" dur="700" fill="hold" decel="100000"/>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45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700"/>
                                        <p:tgtEl>
                                          <p:spTgt spid="8"/>
                                        </p:tgtEl>
                                      </p:cBhvr>
                                    </p:animEffect>
                                    <p:anim calcmode="lin" valueType="num">
                                      <p:cBhvr additive="base">
                                        <p:cTn id="38" dur="700" fill="hold" decel="100000"/>
                                        <p:tgtEl>
                                          <p:spTgt spid="8"/>
                                        </p:tgtEl>
                                        <p:attrNameLst>
                                          <p:attrName>ppt_x</p:attrName>
                                        </p:attrNameLst>
                                      </p:cBhvr>
                                      <p:tavLst>
                                        <p:tav tm="0">
                                          <p:val>
                                            <p:strVal val="#ppt_x"/>
                                          </p:val>
                                        </p:tav>
                                        <p:tav tm="100000">
                                          <p:val>
                                            <p:strVal val="#ppt_x"/>
                                          </p:val>
                                        </p:tav>
                                      </p:tavLst>
                                    </p:anim>
                                    <p:anim calcmode="lin" valueType="num">
                                      <p:cBhvr additive="base">
                                        <p:cTn id="39" dur="700" fill="hold" decel="100000"/>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45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700"/>
                                        <p:tgtEl>
                                          <p:spTgt spid="9"/>
                                        </p:tgtEl>
                                      </p:cBhvr>
                                    </p:animEffect>
                                    <p:anim calcmode="lin" valueType="num">
                                      <p:cBhvr additive="base">
                                        <p:cTn id="43" dur="700" fill="hold" decel="100000"/>
                                        <p:tgtEl>
                                          <p:spTgt spid="9"/>
                                        </p:tgtEl>
                                        <p:attrNameLst>
                                          <p:attrName>ppt_x</p:attrName>
                                        </p:attrNameLst>
                                      </p:cBhvr>
                                      <p:tavLst>
                                        <p:tav tm="0">
                                          <p:val>
                                            <p:strVal val="#ppt_x"/>
                                          </p:val>
                                        </p:tav>
                                        <p:tav tm="100000">
                                          <p:val>
                                            <p:strVal val="#ppt_x"/>
                                          </p:val>
                                        </p:tav>
                                      </p:tavLst>
                                    </p:anim>
                                    <p:anim calcmode="lin" valueType="num">
                                      <p:cBhvr additive="base">
                                        <p:cTn id="44" dur="700" fill="hold" decel="100000"/>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70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700"/>
                                        <p:tgtEl>
                                          <p:spTgt spid="11"/>
                                        </p:tgtEl>
                                      </p:cBhvr>
                                    </p:animEffect>
                                    <p:anim calcmode="lin" valueType="num">
                                      <p:cBhvr additive="base">
                                        <p:cTn id="48" dur="700" fill="hold" decel="100000"/>
                                        <p:tgtEl>
                                          <p:spTgt spid="11"/>
                                        </p:tgtEl>
                                        <p:attrNameLst>
                                          <p:attrName>ppt_x</p:attrName>
                                        </p:attrNameLst>
                                      </p:cBhvr>
                                      <p:tavLst>
                                        <p:tav tm="0">
                                          <p:val>
                                            <p:strVal val="#ppt_x"/>
                                          </p:val>
                                        </p:tav>
                                        <p:tav tm="100000">
                                          <p:val>
                                            <p:strVal val="#ppt_x"/>
                                          </p:val>
                                        </p:tav>
                                      </p:tavLst>
                                    </p:anim>
                                    <p:anim calcmode="lin" valueType="num">
                                      <p:cBhvr additive="base">
                                        <p:cTn id="49" dur="700" fill="hold" decel="100000"/>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70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700"/>
                                        <p:tgtEl>
                                          <p:spTgt spid="12"/>
                                        </p:tgtEl>
                                      </p:cBhvr>
                                    </p:animEffect>
                                    <p:anim calcmode="lin" valueType="num">
                                      <p:cBhvr additive="base">
                                        <p:cTn id="53" dur="700" fill="hold" decel="100000"/>
                                        <p:tgtEl>
                                          <p:spTgt spid="12"/>
                                        </p:tgtEl>
                                        <p:attrNameLst>
                                          <p:attrName>ppt_x</p:attrName>
                                        </p:attrNameLst>
                                      </p:cBhvr>
                                      <p:tavLst>
                                        <p:tav tm="0">
                                          <p:val>
                                            <p:strVal val="#ppt_x"/>
                                          </p:val>
                                        </p:tav>
                                        <p:tav tm="100000">
                                          <p:val>
                                            <p:strVal val="#ppt_x"/>
                                          </p:val>
                                        </p:tav>
                                      </p:tavLst>
                                    </p:anim>
                                    <p:anim calcmode="lin" valueType="num">
                                      <p:cBhvr additive="base">
                                        <p:cTn id="54" dur="700" fill="hold" decel="100000"/>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70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700"/>
                                        <p:tgtEl>
                                          <p:spTgt spid="13"/>
                                        </p:tgtEl>
                                      </p:cBhvr>
                                    </p:animEffect>
                                    <p:anim calcmode="lin" valueType="num">
                                      <p:cBhvr additive="base">
                                        <p:cTn id="58" dur="700" fill="hold" decel="100000"/>
                                        <p:tgtEl>
                                          <p:spTgt spid="13"/>
                                        </p:tgtEl>
                                        <p:attrNameLst>
                                          <p:attrName>ppt_x</p:attrName>
                                        </p:attrNameLst>
                                      </p:cBhvr>
                                      <p:tavLst>
                                        <p:tav tm="0">
                                          <p:val>
                                            <p:strVal val="#ppt_x"/>
                                          </p:val>
                                        </p:tav>
                                        <p:tav tm="100000">
                                          <p:val>
                                            <p:strVal val="#ppt_x"/>
                                          </p:val>
                                        </p:tav>
                                      </p:tavLst>
                                    </p:anim>
                                    <p:anim calcmode="lin" valueType="num">
                                      <p:cBhvr additive="base">
                                        <p:cTn id="59" dur="700" fill="hold" decel="100000"/>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70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700"/>
                                        <p:tgtEl>
                                          <p:spTgt spid="14"/>
                                        </p:tgtEl>
                                      </p:cBhvr>
                                    </p:animEffect>
                                    <p:anim calcmode="lin" valueType="num">
                                      <p:cBhvr additive="base">
                                        <p:cTn id="63" dur="700" fill="hold" decel="100000"/>
                                        <p:tgtEl>
                                          <p:spTgt spid="14"/>
                                        </p:tgtEl>
                                        <p:attrNameLst>
                                          <p:attrName>ppt_x</p:attrName>
                                        </p:attrNameLst>
                                      </p:cBhvr>
                                      <p:tavLst>
                                        <p:tav tm="0">
                                          <p:val>
                                            <p:strVal val="#ppt_x"/>
                                          </p:val>
                                        </p:tav>
                                        <p:tav tm="100000">
                                          <p:val>
                                            <p:strVal val="#ppt_x"/>
                                          </p:val>
                                        </p:tav>
                                      </p:tavLst>
                                    </p:anim>
                                    <p:anim calcmode="lin" valueType="num">
                                      <p:cBhvr additive="base">
                                        <p:cTn id="64" dur="700" fill="hold" decel="100000"/>
                                        <p:tgtEl>
                                          <p:spTgt spid="14"/>
                                        </p:tgtEl>
                                        <p:attrNameLst>
                                          <p:attrName>ppt_y</p:attrName>
                                        </p:attrNameLst>
                                      </p:cBhvr>
                                      <p:tavLst>
                                        <p:tav tm="0">
                                          <p:val>
                                            <p:strVal val="#ppt_y+.1"/>
                                          </p:val>
                                        </p:tav>
                                        <p:tav tm="100000">
                                          <p:val>
                                            <p:strVal val="#ppt_y"/>
                                          </p:val>
                                        </p:tav>
                                      </p:tavLst>
                                    </p:anim>
                                  </p:childTnLst>
                                </p:cTn>
                              </p:par>
                              <p:par>
                                <p:cTn id="65" presetID="53" presetClass="entr" presetSubtype="16" fill="hold" grpId="0" nodeType="withEffect">
                                  <p:stCondLst>
                                    <p:cond delay="95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600" fill="hold" decel="100000"/>
                                        <p:tgtEl>
                                          <p:spTgt spid="15"/>
                                        </p:tgtEl>
                                        <p:attrNameLst>
                                          <p:attrName>ppt_w</p:attrName>
                                        </p:attrNameLst>
                                      </p:cBhvr>
                                      <p:tavLst>
                                        <p:tav tm="0">
                                          <p:val>
                                            <p:strVal val="0"/>
                                          </p:val>
                                        </p:tav>
                                        <p:tav tm="100000">
                                          <p:val>
                                            <p:strVal val="#ppt_w"/>
                                          </p:val>
                                        </p:tav>
                                      </p:tavLst>
                                    </p:anim>
                                    <p:anim calcmode="lin" valueType="num">
                                      <p:cBhvr additive="base">
                                        <p:cTn id="68" dur="600" fill="hold" decel="100000"/>
                                        <p:tgtEl>
                                          <p:spTgt spid="15"/>
                                        </p:tgtEl>
                                        <p:attrNameLst>
                                          <p:attrName>ppt_h</p:attrName>
                                        </p:attrNameLst>
                                      </p:cBhvr>
                                      <p:tavLst>
                                        <p:tav tm="0">
                                          <p:val>
                                            <p:strVal val="0"/>
                                          </p:val>
                                        </p:tav>
                                        <p:tav tm="100000">
                                          <p:val>
                                            <p:strVal val="#ppt_h"/>
                                          </p:val>
                                        </p:tav>
                                      </p:tavLst>
                                    </p:anim>
                                    <p:animEffect transition="in" filter="fade">
                                      <p:cBhvr>
                                        <p:cTn id="69" dur="600"/>
                                        <p:tgtEl>
                                          <p:spTgt spid="15"/>
                                        </p:tgtEl>
                                      </p:cBhvr>
                                    </p:animEffect>
                                  </p:childTnLst>
                                </p:cTn>
                              </p:par>
                              <p:par>
                                <p:cTn id="70" presetID="53" presetClass="entr" presetSubtype="16" fill="hold" grpId="0" nodeType="withEffect">
                                  <p:stCondLst>
                                    <p:cond delay="950"/>
                                  </p:stCondLst>
                                  <p:childTnLst>
                                    <p:set>
                                      <p:cBhvr>
                                        <p:cTn id="71" dur="1" fill="hold">
                                          <p:stCondLst>
                                            <p:cond delay="0"/>
                                          </p:stCondLst>
                                        </p:cTn>
                                        <p:tgtEl>
                                          <p:spTgt spid="16"/>
                                        </p:tgtEl>
                                        <p:attrNameLst>
                                          <p:attrName>style.visibility</p:attrName>
                                        </p:attrNameLst>
                                      </p:cBhvr>
                                      <p:to>
                                        <p:strVal val="visible"/>
                                      </p:to>
                                    </p:set>
                                    <p:anim calcmode="lin" valueType="num">
                                      <p:cBhvr additive="base">
                                        <p:cTn id="72" dur="600" fill="hold" decel="100000"/>
                                        <p:tgtEl>
                                          <p:spTgt spid="16"/>
                                        </p:tgtEl>
                                        <p:attrNameLst>
                                          <p:attrName>ppt_w</p:attrName>
                                        </p:attrNameLst>
                                      </p:cBhvr>
                                      <p:tavLst>
                                        <p:tav tm="0">
                                          <p:val>
                                            <p:strVal val="0"/>
                                          </p:val>
                                        </p:tav>
                                        <p:tav tm="100000">
                                          <p:val>
                                            <p:strVal val="#ppt_w"/>
                                          </p:val>
                                        </p:tav>
                                      </p:tavLst>
                                    </p:anim>
                                    <p:anim calcmode="lin" valueType="num">
                                      <p:cBhvr additive="base">
                                        <p:cTn id="73" dur="600" fill="hold" decel="100000"/>
                                        <p:tgtEl>
                                          <p:spTgt spid="16"/>
                                        </p:tgtEl>
                                        <p:attrNameLst>
                                          <p:attrName>ppt_h</p:attrName>
                                        </p:attrNameLst>
                                      </p:cBhvr>
                                      <p:tavLst>
                                        <p:tav tm="0">
                                          <p:val>
                                            <p:strVal val="0"/>
                                          </p:val>
                                        </p:tav>
                                        <p:tav tm="100000">
                                          <p:val>
                                            <p:strVal val="#ppt_h"/>
                                          </p:val>
                                        </p:tav>
                                      </p:tavLst>
                                    </p:anim>
                                    <p:animEffect transition="in" filter="fade">
                                      <p:cBhvr>
                                        <p:cTn id="74" dur="600"/>
                                        <p:tgtEl>
                                          <p:spTgt spid="16"/>
                                        </p:tgtEl>
                                      </p:cBhvr>
                                    </p:animEffect>
                                  </p:childTnLst>
                                </p:cTn>
                              </p:par>
                              <p:par>
                                <p:cTn id="75" presetID="53" presetClass="entr" presetSubtype="16" fill="hold" grpId="0" nodeType="withEffect">
                                  <p:stCondLst>
                                    <p:cond delay="950"/>
                                  </p:stCondLst>
                                  <p:childTnLst>
                                    <p:set>
                                      <p:cBhvr>
                                        <p:cTn id="76" dur="1" fill="hold">
                                          <p:stCondLst>
                                            <p:cond delay="0"/>
                                          </p:stCondLst>
                                        </p:cTn>
                                        <p:tgtEl>
                                          <p:spTgt spid="17"/>
                                        </p:tgtEl>
                                        <p:attrNameLst>
                                          <p:attrName>style.visibility</p:attrName>
                                        </p:attrNameLst>
                                      </p:cBhvr>
                                      <p:to>
                                        <p:strVal val="visible"/>
                                      </p:to>
                                    </p:set>
                                    <p:anim calcmode="lin" valueType="num">
                                      <p:cBhvr additive="base">
                                        <p:cTn id="77" dur="600" fill="hold" decel="100000"/>
                                        <p:tgtEl>
                                          <p:spTgt spid="17"/>
                                        </p:tgtEl>
                                        <p:attrNameLst>
                                          <p:attrName>ppt_w</p:attrName>
                                        </p:attrNameLst>
                                      </p:cBhvr>
                                      <p:tavLst>
                                        <p:tav tm="0">
                                          <p:val>
                                            <p:strVal val="0"/>
                                          </p:val>
                                        </p:tav>
                                        <p:tav tm="100000">
                                          <p:val>
                                            <p:strVal val="#ppt_w"/>
                                          </p:val>
                                        </p:tav>
                                      </p:tavLst>
                                    </p:anim>
                                    <p:anim calcmode="lin" valueType="num">
                                      <p:cBhvr additive="base">
                                        <p:cTn id="78" dur="600" fill="hold" decel="100000"/>
                                        <p:tgtEl>
                                          <p:spTgt spid="17"/>
                                        </p:tgtEl>
                                        <p:attrNameLst>
                                          <p:attrName>ppt_h</p:attrName>
                                        </p:attrNameLst>
                                      </p:cBhvr>
                                      <p:tavLst>
                                        <p:tav tm="0">
                                          <p:val>
                                            <p:strVal val="0"/>
                                          </p:val>
                                        </p:tav>
                                        <p:tav tm="100000">
                                          <p:val>
                                            <p:strVal val="#ppt_h"/>
                                          </p:val>
                                        </p:tav>
                                      </p:tavLst>
                                    </p:anim>
                                    <p:animEffect transition="in" filter="fade">
                                      <p:cBhvr>
                                        <p:cTn id="79" dur="600"/>
                                        <p:tgtEl>
                                          <p:spTgt spid="17"/>
                                        </p:tgtEl>
                                      </p:cBhvr>
                                    </p:animEffect>
                                  </p:childTnLst>
                                </p:cTn>
                              </p:par>
                              <p:par>
                                <p:cTn id="80" presetID="53" presetClass="entr" presetSubtype="16" fill="hold" grpId="0" nodeType="withEffect">
                                  <p:stCondLst>
                                    <p:cond delay="950"/>
                                  </p:stCondLst>
                                  <p:childTnLst>
                                    <p:set>
                                      <p:cBhvr>
                                        <p:cTn id="81" dur="1" fill="hold">
                                          <p:stCondLst>
                                            <p:cond delay="0"/>
                                          </p:stCondLst>
                                        </p:cTn>
                                        <p:tgtEl>
                                          <p:spTgt spid="18"/>
                                        </p:tgtEl>
                                        <p:attrNameLst>
                                          <p:attrName>style.visibility</p:attrName>
                                        </p:attrNameLst>
                                      </p:cBhvr>
                                      <p:to>
                                        <p:strVal val="visible"/>
                                      </p:to>
                                    </p:set>
                                    <p:anim calcmode="lin" valueType="num">
                                      <p:cBhvr additive="base">
                                        <p:cTn id="82" dur="600" fill="hold" decel="100000"/>
                                        <p:tgtEl>
                                          <p:spTgt spid="18"/>
                                        </p:tgtEl>
                                        <p:attrNameLst>
                                          <p:attrName>ppt_w</p:attrName>
                                        </p:attrNameLst>
                                      </p:cBhvr>
                                      <p:tavLst>
                                        <p:tav tm="0">
                                          <p:val>
                                            <p:strVal val="0"/>
                                          </p:val>
                                        </p:tav>
                                        <p:tav tm="100000">
                                          <p:val>
                                            <p:strVal val="#ppt_w"/>
                                          </p:val>
                                        </p:tav>
                                      </p:tavLst>
                                    </p:anim>
                                    <p:anim calcmode="lin" valueType="num">
                                      <p:cBhvr additive="base">
                                        <p:cTn id="83" dur="600" fill="hold" decel="100000"/>
                                        <p:tgtEl>
                                          <p:spTgt spid="18"/>
                                        </p:tgtEl>
                                        <p:attrNameLst>
                                          <p:attrName>ppt_h</p:attrName>
                                        </p:attrNameLst>
                                      </p:cBhvr>
                                      <p:tavLst>
                                        <p:tav tm="0">
                                          <p:val>
                                            <p:strVal val="0"/>
                                          </p:val>
                                        </p:tav>
                                        <p:tav tm="100000">
                                          <p:val>
                                            <p:strVal val="#ppt_h"/>
                                          </p:val>
                                        </p:tav>
                                      </p:tavLst>
                                    </p:anim>
                                    <p:animEffect transition="in" filter="fade">
                                      <p:cBhvr>
                                        <p:cTn id="84" dur="600"/>
                                        <p:tgtEl>
                                          <p:spTgt spid="18"/>
                                        </p:tgtEl>
                                      </p:cBhvr>
                                    </p:animEffect>
                                  </p:childTnLst>
                                </p:cTn>
                              </p:par>
                              <p:par>
                                <p:cTn id="85" presetID="10" presetClass="entr" presetSubtype="0" fill="hold" grpId="0" nodeType="withEffect">
                                  <p:stCondLst>
                                    <p:cond delay="140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The AI Study Assistant puts it all in one web app</a:t>
            </a:r>
            <a:endParaRPr lang="en-US" sz="3200" dirty="0"/>
          </a:p>
        </p:txBody>
      </p:sp>
      <p:sp>
        <p:nvSpPr>
          <p:cNvPr id="3" name="A0_150_rise_f0c"/>
          <p:cNvSpPr/>
          <p:nvPr/>
        </p:nvSpPr>
        <p:spPr>
          <a:xfrm>
            <a:off x="812800" y="2032000"/>
            <a:ext cx="2527300" cy="1841500"/>
          </a:xfrm>
          <a:prstGeom prst="roundRect">
            <a:avLst>
              <a:gd name="adj" fmla="val 5462"/>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4" name="A0_150_rise_f0i" descr="preencoded.png">    </p:cNvPr>
          <p:cNvPicPr>
            <a:picLocks noChangeAspect="1"/>
          </p:cNvPicPr>
          <p:nvPr/>
        </p:nvPicPr>
        <p:blipFill>
          <a:blip r:embed="rId1"/>
          <a:stretch>
            <a:fillRect/>
          </a:stretch>
        </p:blipFill>
        <p:spPr>
          <a:xfrm>
            <a:off x="1016000" y="2235200"/>
            <a:ext cx="304800" cy="304800"/>
          </a:xfrm>
          <a:prstGeom prst="rect">
            <a:avLst/>
          </a:prstGeom>
        </p:spPr>
      </p:pic>
      <p:sp>
        <p:nvSpPr>
          <p:cNvPr id="5" name="A0_150_rise_f0h"/>
          <p:cNvSpPr txBox="1"/>
          <p:nvPr/>
        </p:nvSpPr>
        <p:spPr>
          <a:xfrm>
            <a:off x="1016000" y="2641600"/>
            <a:ext cx="2120900" cy="292100"/>
          </a:xfrm>
          <a:prstGeom prst="rect">
            <a:avLst/>
          </a:prstGeom>
          <a:noFill/>
          <a:ln/>
        </p:spPr>
        <p:txBody>
          <a:bodyPr wrap="square" lIns="0" tIns="0" rIns="0" bIns="0" rtlCol="0" anchor="t"/>
          <a:lstStyle/>
          <a:p>
            <a:pPr indent="0" marL="0">
              <a:buNone/>
            </a:pPr>
            <a:r>
              <a:rPr lang="en-US" sz="1600" b="1" dirty="0">
                <a:solidFill>
                  <a:srgbClr val="1D2A3A"/>
                </a:solidFill>
                <a:latin typeface="Calibri" pitchFamily="34" charset="0"/>
                <a:ea typeface="Calibri" pitchFamily="34" charset="-122"/>
                <a:cs typeface="Calibri" pitchFamily="34" charset="-120"/>
              </a:rPr>
              <a:t>Courses</a:t>
            </a:r>
            <a:endParaRPr lang="en-US" sz="1600" dirty="0"/>
          </a:p>
        </p:txBody>
      </p:sp>
      <p:sp>
        <p:nvSpPr>
          <p:cNvPr id="6" name="A0_150_rise_f0b"/>
          <p:cNvSpPr txBox="1"/>
          <p:nvPr/>
        </p:nvSpPr>
        <p:spPr>
          <a:xfrm>
            <a:off x="1016000" y="2959100"/>
            <a:ext cx="2120900" cy="5715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with a weekly study goal</a:t>
            </a:r>
            <a:endParaRPr lang="en-US" sz="1300" dirty="0"/>
          </a:p>
        </p:txBody>
      </p:sp>
      <p:sp>
        <p:nvSpPr>
          <p:cNvPr id="7" name="A0_300_rise_f1c"/>
          <p:cNvSpPr/>
          <p:nvPr/>
        </p:nvSpPr>
        <p:spPr>
          <a:xfrm>
            <a:off x="3492500" y="2032000"/>
            <a:ext cx="2527300" cy="1841500"/>
          </a:xfrm>
          <a:prstGeom prst="roundRect">
            <a:avLst>
              <a:gd name="adj" fmla="val 5462"/>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8" name="A0_300_rise_f1i" descr="preencoded.png">    </p:cNvPr>
          <p:cNvPicPr>
            <a:picLocks noChangeAspect="1"/>
          </p:cNvPicPr>
          <p:nvPr/>
        </p:nvPicPr>
        <p:blipFill>
          <a:blip r:embed="rId2"/>
          <a:stretch>
            <a:fillRect/>
          </a:stretch>
        </p:blipFill>
        <p:spPr>
          <a:xfrm>
            <a:off x="3695700" y="2235200"/>
            <a:ext cx="304800" cy="304800"/>
          </a:xfrm>
          <a:prstGeom prst="rect">
            <a:avLst/>
          </a:prstGeom>
        </p:spPr>
      </p:pic>
      <p:sp>
        <p:nvSpPr>
          <p:cNvPr id="9" name="A0_300_rise_f1h"/>
          <p:cNvSpPr txBox="1"/>
          <p:nvPr/>
        </p:nvSpPr>
        <p:spPr>
          <a:xfrm>
            <a:off x="3695700" y="2641600"/>
            <a:ext cx="2120900" cy="292100"/>
          </a:xfrm>
          <a:prstGeom prst="rect">
            <a:avLst/>
          </a:prstGeom>
          <a:noFill/>
          <a:ln/>
        </p:spPr>
        <p:txBody>
          <a:bodyPr wrap="square" lIns="0" tIns="0" rIns="0" bIns="0" rtlCol="0" anchor="t"/>
          <a:lstStyle/>
          <a:p>
            <a:pPr indent="0" marL="0">
              <a:buNone/>
            </a:pPr>
            <a:r>
              <a:rPr lang="en-US" sz="1600" b="1" dirty="0">
                <a:solidFill>
                  <a:srgbClr val="1D2A3A"/>
                </a:solidFill>
                <a:latin typeface="Calibri" pitchFamily="34" charset="0"/>
                <a:ea typeface="Calibri" pitchFamily="34" charset="-122"/>
                <a:cs typeface="Calibri" pitchFamily="34" charset="-120"/>
              </a:rPr>
              <a:t>Tasks</a:t>
            </a:r>
            <a:endParaRPr lang="en-US" sz="1600" dirty="0"/>
          </a:p>
        </p:txBody>
      </p:sp>
      <p:sp>
        <p:nvSpPr>
          <p:cNvPr id="10" name="A0_300_rise_f1b"/>
          <p:cNvSpPr txBox="1"/>
          <p:nvPr/>
        </p:nvSpPr>
        <p:spPr>
          <a:xfrm>
            <a:off x="3695700" y="2959100"/>
            <a:ext cx="2120900" cy="5715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assignments, exams, quizzes</a:t>
            </a:r>
            <a:endParaRPr lang="en-US" sz="1300" dirty="0"/>
          </a:p>
        </p:txBody>
      </p:sp>
      <p:sp>
        <p:nvSpPr>
          <p:cNvPr id="11" name="A0_450_rise_f2c"/>
          <p:cNvSpPr/>
          <p:nvPr/>
        </p:nvSpPr>
        <p:spPr>
          <a:xfrm>
            <a:off x="6172200" y="2032000"/>
            <a:ext cx="2527300" cy="1841500"/>
          </a:xfrm>
          <a:prstGeom prst="roundRect">
            <a:avLst>
              <a:gd name="adj" fmla="val 5462"/>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12" name="A0_450_rise_f2i" descr="preencoded.png">    </p:cNvPr>
          <p:cNvPicPr>
            <a:picLocks noChangeAspect="1"/>
          </p:cNvPicPr>
          <p:nvPr/>
        </p:nvPicPr>
        <p:blipFill>
          <a:blip r:embed="rId3"/>
          <a:stretch>
            <a:fillRect/>
          </a:stretch>
        </p:blipFill>
        <p:spPr>
          <a:xfrm>
            <a:off x="6375400" y="2235200"/>
            <a:ext cx="304800" cy="304800"/>
          </a:xfrm>
          <a:prstGeom prst="rect">
            <a:avLst/>
          </a:prstGeom>
        </p:spPr>
      </p:pic>
      <p:sp>
        <p:nvSpPr>
          <p:cNvPr id="13" name="A0_450_rise_f2h"/>
          <p:cNvSpPr txBox="1"/>
          <p:nvPr/>
        </p:nvSpPr>
        <p:spPr>
          <a:xfrm>
            <a:off x="6375400" y="2641600"/>
            <a:ext cx="2120900" cy="292100"/>
          </a:xfrm>
          <a:prstGeom prst="rect">
            <a:avLst/>
          </a:prstGeom>
          <a:noFill/>
          <a:ln/>
        </p:spPr>
        <p:txBody>
          <a:bodyPr wrap="square" lIns="0" tIns="0" rIns="0" bIns="0" rtlCol="0" anchor="t"/>
          <a:lstStyle/>
          <a:p>
            <a:pPr indent="0" marL="0">
              <a:buNone/>
            </a:pPr>
            <a:r>
              <a:rPr lang="en-US" sz="1600" b="1" dirty="0">
                <a:solidFill>
                  <a:srgbClr val="1D2A3A"/>
                </a:solidFill>
                <a:latin typeface="Calibri" pitchFamily="34" charset="0"/>
                <a:ea typeface="Calibri" pitchFamily="34" charset="-122"/>
                <a:cs typeface="Calibri" pitchFamily="34" charset="-120"/>
              </a:rPr>
              <a:t>Deadlines</a:t>
            </a:r>
            <a:endParaRPr lang="en-US" sz="1600" dirty="0"/>
          </a:p>
        </p:txBody>
      </p:sp>
      <p:sp>
        <p:nvSpPr>
          <p:cNvPr id="14" name="A0_450_rise_f2b"/>
          <p:cNvSpPr txBox="1"/>
          <p:nvPr/>
        </p:nvSpPr>
        <p:spPr>
          <a:xfrm>
            <a:off x="6375400" y="2959100"/>
            <a:ext cx="2120900" cy="5715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priorities and reminders</a:t>
            </a:r>
            <a:endParaRPr lang="en-US" sz="1300" dirty="0"/>
          </a:p>
        </p:txBody>
      </p:sp>
      <p:sp>
        <p:nvSpPr>
          <p:cNvPr id="15" name="A0_600_rise_f3c"/>
          <p:cNvSpPr/>
          <p:nvPr/>
        </p:nvSpPr>
        <p:spPr>
          <a:xfrm>
            <a:off x="8851900" y="2032000"/>
            <a:ext cx="2527300" cy="1841500"/>
          </a:xfrm>
          <a:prstGeom prst="roundRect">
            <a:avLst>
              <a:gd name="adj" fmla="val 5462"/>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16" name="A0_600_rise_f3i" descr="preencoded.png">    </p:cNvPr>
          <p:cNvPicPr>
            <a:picLocks noChangeAspect="1"/>
          </p:cNvPicPr>
          <p:nvPr/>
        </p:nvPicPr>
        <p:blipFill>
          <a:blip r:embed="rId4"/>
          <a:stretch>
            <a:fillRect/>
          </a:stretch>
        </p:blipFill>
        <p:spPr>
          <a:xfrm>
            <a:off x="9055100" y="2235200"/>
            <a:ext cx="304800" cy="304800"/>
          </a:xfrm>
          <a:prstGeom prst="rect">
            <a:avLst/>
          </a:prstGeom>
        </p:spPr>
      </p:pic>
      <p:sp>
        <p:nvSpPr>
          <p:cNvPr id="17" name="A0_600_rise_f3h"/>
          <p:cNvSpPr txBox="1"/>
          <p:nvPr/>
        </p:nvSpPr>
        <p:spPr>
          <a:xfrm>
            <a:off x="9055100" y="2641600"/>
            <a:ext cx="2120900" cy="292100"/>
          </a:xfrm>
          <a:prstGeom prst="rect">
            <a:avLst/>
          </a:prstGeom>
          <a:noFill/>
          <a:ln/>
        </p:spPr>
        <p:txBody>
          <a:bodyPr wrap="square" lIns="0" tIns="0" rIns="0" bIns="0" rtlCol="0" anchor="t"/>
          <a:lstStyle/>
          <a:p>
            <a:pPr indent="0" marL="0">
              <a:buNone/>
            </a:pPr>
            <a:r>
              <a:rPr lang="en-US" sz="1600" b="1" dirty="0">
                <a:solidFill>
                  <a:srgbClr val="1D2A3A"/>
                </a:solidFill>
                <a:latin typeface="Calibri" pitchFamily="34" charset="0"/>
                <a:ea typeface="Calibri" pitchFamily="34" charset="-122"/>
                <a:cs typeface="Calibri" pitchFamily="34" charset="-120"/>
              </a:rPr>
              <a:t>Schedule</a:t>
            </a:r>
            <a:endParaRPr lang="en-US" sz="1600" dirty="0"/>
          </a:p>
        </p:txBody>
      </p:sp>
      <p:sp>
        <p:nvSpPr>
          <p:cNvPr id="18" name="A0_600_rise_f3b"/>
          <p:cNvSpPr txBox="1"/>
          <p:nvPr/>
        </p:nvSpPr>
        <p:spPr>
          <a:xfrm>
            <a:off x="9055100" y="2959100"/>
            <a:ext cx="2120900" cy="5715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weekly study sessions</a:t>
            </a:r>
            <a:endParaRPr lang="en-US" sz="1300" dirty="0"/>
          </a:p>
        </p:txBody>
      </p:sp>
      <p:sp>
        <p:nvSpPr>
          <p:cNvPr id="19" name="A0_750_rise_f4c"/>
          <p:cNvSpPr/>
          <p:nvPr/>
        </p:nvSpPr>
        <p:spPr>
          <a:xfrm>
            <a:off x="812800" y="4025900"/>
            <a:ext cx="2527300" cy="1714500"/>
          </a:xfrm>
          <a:prstGeom prst="roundRect">
            <a:avLst>
              <a:gd name="adj" fmla="val 5867"/>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20" name="A0_750_rise_f4i" descr="preencoded.png">    </p:cNvPr>
          <p:cNvPicPr>
            <a:picLocks noChangeAspect="1"/>
          </p:cNvPicPr>
          <p:nvPr/>
        </p:nvPicPr>
        <p:blipFill>
          <a:blip r:embed="rId5"/>
          <a:stretch>
            <a:fillRect/>
          </a:stretch>
        </p:blipFill>
        <p:spPr>
          <a:xfrm>
            <a:off x="1016000" y="4229100"/>
            <a:ext cx="304800" cy="304800"/>
          </a:xfrm>
          <a:prstGeom prst="rect">
            <a:avLst/>
          </a:prstGeom>
        </p:spPr>
      </p:pic>
      <p:sp>
        <p:nvSpPr>
          <p:cNvPr id="21" name="A0_750_rise_f4h"/>
          <p:cNvSpPr txBox="1"/>
          <p:nvPr/>
        </p:nvSpPr>
        <p:spPr>
          <a:xfrm>
            <a:off x="1016000" y="4635500"/>
            <a:ext cx="2120900" cy="292100"/>
          </a:xfrm>
          <a:prstGeom prst="rect">
            <a:avLst/>
          </a:prstGeom>
          <a:noFill/>
          <a:ln/>
        </p:spPr>
        <p:txBody>
          <a:bodyPr wrap="square" lIns="0" tIns="0" rIns="0" bIns="0" rtlCol="0" anchor="t"/>
          <a:lstStyle/>
          <a:p>
            <a:pPr indent="0" marL="0">
              <a:buNone/>
            </a:pPr>
            <a:r>
              <a:rPr lang="en-US" sz="1600" b="1" dirty="0">
                <a:solidFill>
                  <a:srgbClr val="1D2A3A"/>
                </a:solidFill>
                <a:latin typeface="Calibri" pitchFamily="34" charset="0"/>
                <a:ea typeface="Calibri" pitchFamily="34" charset="-122"/>
                <a:cs typeface="Calibri" pitchFamily="34" charset="-120"/>
              </a:rPr>
              <a:t>Materials</a:t>
            </a:r>
            <a:endParaRPr lang="en-US" sz="1600" dirty="0"/>
          </a:p>
        </p:txBody>
      </p:sp>
      <p:sp>
        <p:nvSpPr>
          <p:cNvPr id="22" name="A0_750_rise_f4b"/>
          <p:cNvSpPr txBox="1"/>
          <p:nvPr/>
        </p:nvSpPr>
        <p:spPr>
          <a:xfrm>
            <a:off x="1016000" y="4953000"/>
            <a:ext cx="2120900" cy="5715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files and links per course</a:t>
            </a:r>
            <a:endParaRPr lang="en-US" sz="1300" dirty="0"/>
          </a:p>
        </p:txBody>
      </p:sp>
      <p:sp>
        <p:nvSpPr>
          <p:cNvPr id="23" name="A0_900_rise_f5c"/>
          <p:cNvSpPr/>
          <p:nvPr/>
        </p:nvSpPr>
        <p:spPr>
          <a:xfrm>
            <a:off x="3492500" y="4025900"/>
            <a:ext cx="2527300" cy="1714500"/>
          </a:xfrm>
          <a:prstGeom prst="roundRect">
            <a:avLst>
              <a:gd name="adj" fmla="val 5867"/>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24" name="A0_900_rise_f5i" descr="preencoded.png">    </p:cNvPr>
          <p:cNvPicPr>
            <a:picLocks noChangeAspect="1"/>
          </p:cNvPicPr>
          <p:nvPr/>
        </p:nvPicPr>
        <p:blipFill>
          <a:blip r:embed="rId6"/>
          <a:stretch>
            <a:fillRect/>
          </a:stretch>
        </p:blipFill>
        <p:spPr>
          <a:xfrm>
            <a:off x="3695700" y="4229100"/>
            <a:ext cx="304800" cy="304800"/>
          </a:xfrm>
          <a:prstGeom prst="rect">
            <a:avLst/>
          </a:prstGeom>
        </p:spPr>
      </p:pic>
      <p:sp>
        <p:nvSpPr>
          <p:cNvPr id="25" name="A0_900_rise_f5h"/>
          <p:cNvSpPr txBox="1"/>
          <p:nvPr/>
        </p:nvSpPr>
        <p:spPr>
          <a:xfrm>
            <a:off x="3695700" y="4635500"/>
            <a:ext cx="2120900" cy="292100"/>
          </a:xfrm>
          <a:prstGeom prst="rect">
            <a:avLst/>
          </a:prstGeom>
          <a:noFill/>
          <a:ln/>
        </p:spPr>
        <p:txBody>
          <a:bodyPr wrap="square" lIns="0" tIns="0" rIns="0" bIns="0" rtlCol="0" anchor="t"/>
          <a:lstStyle/>
          <a:p>
            <a:pPr indent="0" marL="0">
              <a:buNone/>
            </a:pPr>
            <a:r>
              <a:rPr lang="en-US" sz="1600" b="1" dirty="0">
                <a:solidFill>
                  <a:srgbClr val="1D2A3A"/>
                </a:solidFill>
                <a:latin typeface="Calibri" pitchFamily="34" charset="0"/>
                <a:ea typeface="Calibri" pitchFamily="34" charset="-122"/>
                <a:cs typeface="Calibri" pitchFamily="34" charset="-120"/>
              </a:rPr>
              <a:t>Progress</a:t>
            </a:r>
            <a:endParaRPr lang="en-US" sz="1600" dirty="0"/>
          </a:p>
        </p:txBody>
      </p:sp>
      <p:sp>
        <p:nvSpPr>
          <p:cNvPr id="26" name="A0_900_rise_f5b"/>
          <p:cNvSpPr txBox="1"/>
          <p:nvPr/>
        </p:nvSpPr>
        <p:spPr>
          <a:xfrm>
            <a:off x="3695700" y="4953000"/>
            <a:ext cx="2120900" cy="57150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hours studied vs. goal</a:t>
            </a:r>
            <a:endParaRPr lang="en-US" sz="1300" dirty="0"/>
          </a:p>
        </p:txBody>
      </p:sp>
      <p:sp>
        <p:nvSpPr>
          <p:cNvPr id="27" name="A0_1200_zoom_aic"/>
          <p:cNvSpPr/>
          <p:nvPr/>
        </p:nvSpPr>
        <p:spPr>
          <a:xfrm>
            <a:off x="6172200" y="4025900"/>
            <a:ext cx="5207000" cy="1714500"/>
          </a:xfrm>
          <a:prstGeom prst="roundRect">
            <a:avLst>
              <a:gd name="adj" fmla="val 5867"/>
            </a:avLst>
          </a:prstGeom>
          <a:solidFill>
            <a:srgbClr val="24364C"/>
          </a:solidFill>
          <a:ln/>
          <a:effectLst>
            <a:outerShdw sx="100000" sy="100000" kx="0" ky="0" algn="bl" rotWithShape="0" blurRad="177800" dist="63500" dir="5400000">
              <a:srgbClr val="1D2A3A">
                <a:alpha val="25000"/>
              </a:srgbClr>
            </a:outerShdw>
          </a:effectLst>
        </p:spPr>
      </p:sp>
      <p:pic>
        <p:nvPicPr>
          <p:cNvPr id="28" name="A0_1200_zoom_aii" descr="preencoded.png">    </p:cNvPr>
          <p:cNvPicPr>
            <a:picLocks noChangeAspect="1"/>
          </p:cNvPicPr>
          <p:nvPr/>
        </p:nvPicPr>
        <p:blipFill>
          <a:blip r:embed="rId7"/>
          <a:stretch>
            <a:fillRect/>
          </a:stretch>
        </p:blipFill>
        <p:spPr>
          <a:xfrm>
            <a:off x="6375400" y="4229100"/>
            <a:ext cx="304800" cy="304800"/>
          </a:xfrm>
          <a:prstGeom prst="rect">
            <a:avLst/>
          </a:prstGeom>
        </p:spPr>
      </p:pic>
      <p:sp>
        <p:nvSpPr>
          <p:cNvPr id="29" name="A0_1200_zoom_aih"/>
          <p:cNvSpPr txBox="1"/>
          <p:nvPr/>
        </p:nvSpPr>
        <p:spPr>
          <a:xfrm>
            <a:off x="6375400" y="4635500"/>
            <a:ext cx="4800600" cy="292100"/>
          </a:xfrm>
          <a:prstGeom prst="rect">
            <a:avLst/>
          </a:prstGeom>
          <a:noFill/>
          <a:ln/>
        </p:spPr>
        <p:txBody>
          <a:bodyPr wrap="square" lIns="0" tIns="0" rIns="0" bIns="0" rtlCol="0" anchor="t"/>
          <a:lstStyle/>
          <a:p>
            <a:pPr indent="0" marL="0">
              <a:buNone/>
            </a:pPr>
            <a:r>
              <a:rPr lang="en-US" sz="1600" b="1" dirty="0">
                <a:solidFill>
                  <a:srgbClr val="F6F5F1"/>
                </a:solidFill>
                <a:latin typeface="Calibri" pitchFamily="34" charset="0"/>
                <a:ea typeface="Calibri" pitchFamily="34" charset="-122"/>
                <a:cs typeface="Calibri" pitchFamily="34" charset="-120"/>
              </a:rPr>
              <a:t>AI recommendations</a:t>
            </a:r>
            <a:endParaRPr lang="en-US" sz="1600" dirty="0"/>
          </a:p>
        </p:txBody>
      </p:sp>
      <p:sp>
        <p:nvSpPr>
          <p:cNvPr id="30" name="A0_1200_zoom_aib"/>
          <p:cNvSpPr txBox="1"/>
          <p:nvPr/>
        </p:nvSpPr>
        <p:spPr>
          <a:xfrm>
            <a:off x="6375400" y="4953000"/>
            <a:ext cx="4800600" cy="571500"/>
          </a:xfrm>
          <a:prstGeom prst="rect">
            <a:avLst/>
          </a:prstGeom>
          <a:noFill/>
          <a:ln/>
        </p:spPr>
        <p:txBody>
          <a:bodyPr wrap="square" lIns="0" tIns="0" rIns="0" bIns="0" rtlCol="0" anchor="t"/>
          <a:lstStyle/>
          <a:p>
            <a:pPr indent="0" marL="0">
              <a:buNone/>
            </a:pPr>
            <a:r>
              <a:rPr lang="en-US" sz="1300" dirty="0">
                <a:solidFill>
                  <a:srgbClr val="C9D3DF"/>
                </a:solidFill>
                <a:latin typeface="Calibri" pitchFamily="34" charset="0"/>
                <a:ea typeface="Calibri" pitchFamily="34" charset="-122"/>
                <a:cs typeface="Calibri" pitchFamily="34" charset="-120"/>
              </a:rPr>
              <a:t>what to study next, with a plan the student can accept or dismiss</a:t>
            </a:r>
            <a:endParaRPr lang="en-US" sz="13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anim calcmode="lin" valueType="num">
                                      <p:cBhvr additive="base">
                                        <p:cTn id="8" dur="7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700" fill="hold" decel="100000"/>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00"/>
                                        <p:tgtEl>
                                          <p:spTgt spid="4"/>
                                        </p:tgtEl>
                                      </p:cBhvr>
                                    </p:animEffect>
                                    <p:anim calcmode="lin" valueType="num">
                                      <p:cBhvr additive="base">
                                        <p:cTn id="13" dur="7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700" fill="hold" decel="100000"/>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700" fill="hold" decel="100000"/>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5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700" fill="hold" decel="100000"/>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3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anim calcmode="lin" valueType="num">
                                      <p:cBhvr additive="base">
                                        <p:cTn id="28" dur="700" fill="hold" decel="100000"/>
                                        <p:tgtEl>
                                          <p:spTgt spid="10"/>
                                        </p:tgtEl>
                                        <p:attrNameLst>
                                          <p:attrName>ppt_x</p:attrName>
                                        </p:attrNameLst>
                                      </p:cBhvr>
                                      <p:tavLst>
                                        <p:tav tm="0">
                                          <p:val>
                                            <p:strVal val="#ppt_x"/>
                                          </p:val>
                                        </p:tav>
                                        <p:tav tm="100000">
                                          <p:val>
                                            <p:strVal val="#ppt_x"/>
                                          </p:val>
                                        </p:tav>
                                      </p:tavLst>
                                    </p:anim>
                                    <p:anim calcmode="lin" valueType="num">
                                      <p:cBhvr additive="base">
                                        <p:cTn id="29" dur="700" fill="hold" decel="100000"/>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3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700"/>
                                        <p:tgtEl>
                                          <p:spTgt spid="7"/>
                                        </p:tgtEl>
                                      </p:cBhvr>
                                    </p:animEffect>
                                    <p:anim calcmode="lin" valueType="num">
                                      <p:cBhvr additive="base">
                                        <p:cTn id="33" dur="700" fill="hold" decel="100000"/>
                                        <p:tgtEl>
                                          <p:spTgt spid="7"/>
                                        </p:tgtEl>
                                        <p:attrNameLst>
                                          <p:attrName>ppt_x</p:attrName>
                                        </p:attrNameLst>
                                      </p:cBhvr>
                                      <p:tavLst>
                                        <p:tav tm="0">
                                          <p:val>
                                            <p:strVal val="#ppt_x"/>
                                          </p:val>
                                        </p:tav>
                                        <p:tav tm="100000">
                                          <p:val>
                                            <p:strVal val="#ppt_x"/>
                                          </p:val>
                                        </p:tav>
                                      </p:tavLst>
                                    </p:anim>
                                    <p:anim calcmode="lin" valueType="num">
                                      <p:cBhvr additive="base">
                                        <p:cTn id="34" dur="700" fill="hold" decel="100000"/>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30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700"/>
                                        <p:tgtEl>
                                          <p:spTgt spid="8"/>
                                        </p:tgtEl>
                                      </p:cBhvr>
                                    </p:animEffect>
                                    <p:anim calcmode="lin" valueType="num">
                                      <p:cBhvr additive="base">
                                        <p:cTn id="38" dur="700" fill="hold" decel="100000"/>
                                        <p:tgtEl>
                                          <p:spTgt spid="8"/>
                                        </p:tgtEl>
                                        <p:attrNameLst>
                                          <p:attrName>ppt_x</p:attrName>
                                        </p:attrNameLst>
                                      </p:cBhvr>
                                      <p:tavLst>
                                        <p:tav tm="0">
                                          <p:val>
                                            <p:strVal val="#ppt_x"/>
                                          </p:val>
                                        </p:tav>
                                        <p:tav tm="100000">
                                          <p:val>
                                            <p:strVal val="#ppt_x"/>
                                          </p:val>
                                        </p:tav>
                                      </p:tavLst>
                                    </p:anim>
                                    <p:anim calcmode="lin" valueType="num">
                                      <p:cBhvr additive="base">
                                        <p:cTn id="39" dur="700" fill="hold" decel="100000"/>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30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700"/>
                                        <p:tgtEl>
                                          <p:spTgt spid="9"/>
                                        </p:tgtEl>
                                      </p:cBhvr>
                                    </p:animEffect>
                                    <p:anim calcmode="lin" valueType="num">
                                      <p:cBhvr additive="base">
                                        <p:cTn id="43" dur="700" fill="hold" decel="100000"/>
                                        <p:tgtEl>
                                          <p:spTgt spid="9"/>
                                        </p:tgtEl>
                                        <p:attrNameLst>
                                          <p:attrName>ppt_x</p:attrName>
                                        </p:attrNameLst>
                                      </p:cBhvr>
                                      <p:tavLst>
                                        <p:tav tm="0">
                                          <p:val>
                                            <p:strVal val="#ppt_x"/>
                                          </p:val>
                                        </p:tav>
                                        <p:tav tm="100000">
                                          <p:val>
                                            <p:strVal val="#ppt_x"/>
                                          </p:val>
                                        </p:tav>
                                      </p:tavLst>
                                    </p:anim>
                                    <p:anim calcmode="lin" valueType="num">
                                      <p:cBhvr additive="base">
                                        <p:cTn id="44" dur="700" fill="hold" decel="100000"/>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45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700"/>
                                        <p:tgtEl>
                                          <p:spTgt spid="11"/>
                                        </p:tgtEl>
                                      </p:cBhvr>
                                    </p:animEffect>
                                    <p:anim calcmode="lin" valueType="num">
                                      <p:cBhvr additive="base">
                                        <p:cTn id="48" dur="700" fill="hold" decel="100000"/>
                                        <p:tgtEl>
                                          <p:spTgt spid="11"/>
                                        </p:tgtEl>
                                        <p:attrNameLst>
                                          <p:attrName>ppt_x</p:attrName>
                                        </p:attrNameLst>
                                      </p:cBhvr>
                                      <p:tavLst>
                                        <p:tav tm="0">
                                          <p:val>
                                            <p:strVal val="#ppt_x"/>
                                          </p:val>
                                        </p:tav>
                                        <p:tav tm="100000">
                                          <p:val>
                                            <p:strVal val="#ppt_x"/>
                                          </p:val>
                                        </p:tav>
                                      </p:tavLst>
                                    </p:anim>
                                    <p:anim calcmode="lin" valueType="num">
                                      <p:cBhvr additive="base">
                                        <p:cTn id="49" dur="700" fill="hold" decel="100000"/>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45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700"/>
                                        <p:tgtEl>
                                          <p:spTgt spid="12"/>
                                        </p:tgtEl>
                                      </p:cBhvr>
                                    </p:animEffect>
                                    <p:anim calcmode="lin" valueType="num">
                                      <p:cBhvr additive="base">
                                        <p:cTn id="53" dur="700" fill="hold" decel="100000"/>
                                        <p:tgtEl>
                                          <p:spTgt spid="12"/>
                                        </p:tgtEl>
                                        <p:attrNameLst>
                                          <p:attrName>ppt_x</p:attrName>
                                        </p:attrNameLst>
                                      </p:cBhvr>
                                      <p:tavLst>
                                        <p:tav tm="0">
                                          <p:val>
                                            <p:strVal val="#ppt_x"/>
                                          </p:val>
                                        </p:tav>
                                        <p:tav tm="100000">
                                          <p:val>
                                            <p:strVal val="#ppt_x"/>
                                          </p:val>
                                        </p:tav>
                                      </p:tavLst>
                                    </p:anim>
                                    <p:anim calcmode="lin" valueType="num">
                                      <p:cBhvr additive="base">
                                        <p:cTn id="54" dur="700" fill="hold" decel="100000"/>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45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700"/>
                                        <p:tgtEl>
                                          <p:spTgt spid="13"/>
                                        </p:tgtEl>
                                      </p:cBhvr>
                                    </p:animEffect>
                                    <p:anim calcmode="lin" valueType="num">
                                      <p:cBhvr additive="base">
                                        <p:cTn id="58" dur="700" fill="hold" decel="100000"/>
                                        <p:tgtEl>
                                          <p:spTgt spid="13"/>
                                        </p:tgtEl>
                                        <p:attrNameLst>
                                          <p:attrName>ppt_x</p:attrName>
                                        </p:attrNameLst>
                                      </p:cBhvr>
                                      <p:tavLst>
                                        <p:tav tm="0">
                                          <p:val>
                                            <p:strVal val="#ppt_x"/>
                                          </p:val>
                                        </p:tav>
                                        <p:tav tm="100000">
                                          <p:val>
                                            <p:strVal val="#ppt_x"/>
                                          </p:val>
                                        </p:tav>
                                      </p:tavLst>
                                    </p:anim>
                                    <p:anim calcmode="lin" valueType="num">
                                      <p:cBhvr additive="base">
                                        <p:cTn id="59" dur="700" fill="hold" decel="100000"/>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45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700"/>
                                        <p:tgtEl>
                                          <p:spTgt spid="14"/>
                                        </p:tgtEl>
                                      </p:cBhvr>
                                    </p:animEffect>
                                    <p:anim calcmode="lin" valueType="num">
                                      <p:cBhvr additive="base">
                                        <p:cTn id="63" dur="700" fill="hold" decel="100000"/>
                                        <p:tgtEl>
                                          <p:spTgt spid="14"/>
                                        </p:tgtEl>
                                        <p:attrNameLst>
                                          <p:attrName>ppt_x</p:attrName>
                                        </p:attrNameLst>
                                      </p:cBhvr>
                                      <p:tavLst>
                                        <p:tav tm="0">
                                          <p:val>
                                            <p:strVal val="#ppt_x"/>
                                          </p:val>
                                        </p:tav>
                                        <p:tav tm="100000">
                                          <p:val>
                                            <p:strVal val="#ppt_x"/>
                                          </p:val>
                                        </p:tav>
                                      </p:tavLst>
                                    </p:anim>
                                    <p:anim calcmode="lin" valueType="num">
                                      <p:cBhvr additive="base">
                                        <p:cTn id="64" dur="700" fill="hold" decel="100000"/>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6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700"/>
                                        <p:tgtEl>
                                          <p:spTgt spid="15"/>
                                        </p:tgtEl>
                                      </p:cBhvr>
                                    </p:animEffect>
                                    <p:anim calcmode="lin" valueType="num">
                                      <p:cBhvr additive="base">
                                        <p:cTn id="68" dur="700" fill="hold" decel="100000"/>
                                        <p:tgtEl>
                                          <p:spTgt spid="15"/>
                                        </p:tgtEl>
                                        <p:attrNameLst>
                                          <p:attrName>ppt_x</p:attrName>
                                        </p:attrNameLst>
                                      </p:cBhvr>
                                      <p:tavLst>
                                        <p:tav tm="0">
                                          <p:val>
                                            <p:strVal val="#ppt_x"/>
                                          </p:val>
                                        </p:tav>
                                        <p:tav tm="100000">
                                          <p:val>
                                            <p:strVal val="#ppt_x"/>
                                          </p:val>
                                        </p:tav>
                                      </p:tavLst>
                                    </p:anim>
                                    <p:anim calcmode="lin" valueType="num">
                                      <p:cBhvr additive="base">
                                        <p:cTn id="69" dur="700" fill="hold" decel="100000"/>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60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700"/>
                                        <p:tgtEl>
                                          <p:spTgt spid="16"/>
                                        </p:tgtEl>
                                      </p:cBhvr>
                                    </p:animEffect>
                                    <p:anim calcmode="lin" valueType="num">
                                      <p:cBhvr additive="base">
                                        <p:cTn id="73" dur="700" fill="hold" decel="100000"/>
                                        <p:tgtEl>
                                          <p:spTgt spid="16"/>
                                        </p:tgtEl>
                                        <p:attrNameLst>
                                          <p:attrName>ppt_x</p:attrName>
                                        </p:attrNameLst>
                                      </p:cBhvr>
                                      <p:tavLst>
                                        <p:tav tm="0">
                                          <p:val>
                                            <p:strVal val="#ppt_x"/>
                                          </p:val>
                                        </p:tav>
                                        <p:tav tm="100000">
                                          <p:val>
                                            <p:strVal val="#ppt_x"/>
                                          </p:val>
                                        </p:tav>
                                      </p:tavLst>
                                    </p:anim>
                                    <p:anim calcmode="lin" valueType="num">
                                      <p:cBhvr additive="base">
                                        <p:cTn id="74" dur="700" fill="hold" decel="100000"/>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60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700"/>
                                        <p:tgtEl>
                                          <p:spTgt spid="17"/>
                                        </p:tgtEl>
                                      </p:cBhvr>
                                    </p:animEffect>
                                    <p:anim calcmode="lin" valueType="num">
                                      <p:cBhvr additive="base">
                                        <p:cTn id="78" dur="700" fill="hold" decel="100000"/>
                                        <p:tgtEl>
                                          <p:spTgt spid="17"/>
                                        </p:tgtEl>
                                        <p:attrNameLst>
                                          <p:attrName>ppt_x</p:attrName>
                                        </p:attrNameLst>
                                      </p:cBhvr>
                                      <p:tavLst>
                                        <p:tav tm="0">
                                          <p:val>
                                            <p:strVal val="#ppt_x"/>
                                          </p:val>
                                        </p:tav>
                                        <p:tav tm="100000">
                                          <p:val>
                                            <p:strVal val="#ppt_x"/>
                                          </p:val>
                                        </p:tav>
                                      </p:tavLst>
                                    </p:anim>
                                    <p:anim calcmode="lin" valueType="num">
                                      <p:cBhvr additive="base">
                                        <p:cTn id="79" dur="700" fill="hold" decel="100000"/>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60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700"/>
                                        <p:tgtEl>
                                          <p:spTgt spid="18"/>
                                        </p:tgtEl>
                                      </p:cBhvr>
                                    </p:animEffect>
                                    <p:anim calcmode="lin" valueType="num">
                                      <p:cBhvr additive="base">
                                        <p:cTn id="83" dur="700" fill="hold" decel="100000"/>
                                        <p:tgtEl>
                                          <p:spTgt spid="18"/>
                                        </p:tgtEl>
                                        <p:attrNameLst>
                                          <p:attrName>ppt_x</p:attrName>
                                        </p:attrNameLst>
                                      </p:cBhvr>
                                      <p:tavLst>
                                        <p:tav tm="0">
                                          <p:val>
                                            <p:strVal val="#ppt_x"/>
                                          </p:val>
                                        </p:tav>
                                        <p:tav tm="100000">
                                          <p:val>
                                            <p:strVal val="#ppt_x"/>
                                          </p:val>
                                        </p:tav>
                                      </p:tavLst>
                                    </p:anim>
                                    <p:anim calcmode="lin" valueType="num">
                                      <p:cBhvr additive="base">
                                        <p:cTn id="84" dur="700" fill="hold" decel="100000"/>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75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700"/>
                                        <p:tgtEl>
                                          <p:spTgt spid="19"/>
                                        </p:tgtEl>
                                      </p:cBhvr>
                                    </p:animEffect>
                                    <p:anim calcmode="lin" valueType="num">
                                      <p:cBhvr additive="base">
                                        <p:cTn id="88" dur="700" fill="hold" decel="100000"/>
                                        <p:tgtEl>
                                          <p:spTgt spid="19"/>
                                        </p:tgtEl>
                                        <p:attrNameLst>
                                          <p:attrName>ppt_x</p:attrName>
                                        </p:attrNameLst>
                                      </p:cBhvr>
                                      <p:tavLst>
                                        <p:tav tm="0">
                                          <p:val>
                                            <p:strVal val="#ppt_x"/>
                                          </p:val>
                                        </p:tav>
                                        <p:tav tm="100000">
                                          <p:val>
                                            <p:strVal val="#ppt_x"/>
                                          </p:val>
                                        </p:tav>
                                      </p:tavLst>
                                    </p:anim>
                                    <p:anim calcmode="lin" valueType="num">
                                      <p:cBhvr additive="base">
                                        <p:cTn id="89" dur="700" fill="hold" decel="100000"/>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75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700"/>
                                        <p:tgtEl>
                                          <p:spTgt spid="20"/>
                                        </p:tgtEl>
                                      </p:cBhvr>
                                    </p:animEffect>
                                    <p:anim calcmode="lin" valueType="num">
                                      <p:cBhvr additive="base">
                                        <p:cTn id="93" dur="700" fill="hold" decel="100000"/>
                                        <p:tgtEl>
                                          <p:spTgt spid="20"/>
                                        </p:tgtEl>
                                        <p:attrNameLst>
                                          <p:attrName>ppt_x</p:attrName>
                                        </p:attrNameLst>
                                      </p:cBhvr>
                                      <p:tavLst>
                                        <p:tav tm="0">
                                          <p:val>
                                            <p:strVal val="#ppt_x"/>
                                          </p:val>
                                        </p:tav>
                                        <p:tav tm="100000">
                                          <p:val>
                                            <p:strVal val="#ppt_x"/>
                                          </p:val>
                                        </p:tav>
                                      </p:tavLst>
                                    </p:anim>
                                    <p:anim calcmode="lin" valueType="num">
                                      <p:cBhvr additive="base">
                                        <p:cTn id="94" dur="700" fill="hold" decel="100000"/>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75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700"/>
                                        <p:tgtEl>
                                          <p:spTgt spid="21"/>
                                        </p:tgtEl>
                                      </p:cBhvr>
                                    </p:animEffect>
                                    <p:anim calcmode="lin" valueType="num">
                                      <p:cBhvr additive="base">
                                        <p:cTn id="98" dur="700" fill="hold" decel="100000"/>
                                        <p:tgtEl>
                                          <p:spTgt spid="21"/>
                                        </p:tgtEl>
                                        <p:attrNameLst>
                                          <p:attrName>ppt_x</p:attrName>
                                        </p:attrNameLst>
                                      </p:cBhvr>
                                      <p:tavLst>
                                        <p:tav tm="0">
                                          <p:val>
                                            <p:strVal val="#ppt_x"/>
                                          </p:val>
                                        </p:tav>
                                        <p:tav tm="100000">
                                          <p:val>
                                            <p:strVal val="#ppt_x"/>
                                          </p:val>
                                        </p:tav>
                                      </p:tavLst>
                                    </p:anim>
                                    <p:anim calcmode="lin" valueType="num">
                                      <p:cBhvr additive="base">
                                        <p:cTn id="99" dur="700" fill="hold" decel="100000"/>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750"/>
                                  </p:stCondLst>
                                  <p:childTnLst>
                                    <p:set>
                                      <p:cBhvr>
                                        <p:cTn id="101" dur="1" fill="hold">
                                          <p:stCondLst>
                                            <p:cond delay="0"/>
                                          </p:stCondLst>
                                        </p:cTn>
                                        <p:tgtEl>
                                          <p:spTgt spid="22"/>
                                        </p:tgtEl>
                                        <p:attrNameLst>
                                          <p:attrName>style.visibility</p:attrName>
                                        </p:attrNameLst>
                                      </p:cBhvr>
                                      <p:to>
                                        <p:strVal val="visible"/>
                                      </p:to>
                                    </p:set>
                                    <p:animEffect transition="in" filter="fade">
                                      <p:cBhvr>
                                        <p:cTn id="102" dur="700"/>
                                        <p:tgtEl>
                                          <p:spTgt spid="22"/>
                                        </p:tgtEl>
                                      </p:cBhvr>
                                    </p:animEffect>
                                    <p:anim calcmode="lin" valueType="num">
                                      <p:cBhvr additive="base">
                                        <p:cTn id="103" dur="700" fill="hold" decel="100000"/>
                                        <p:tgtEl>
                                          <p:spTgt spid="22"/>
                                        </p:tgtEl>
                                        <p:attrNameLst>
                                          <p:attrName>ppt_x</p:attrName>
                                        </p:attrNameLst>
                                      </p:cBhvr>
                                      <p:tavLst>
                                        <p:tav tm="0">
                                          <p:val>
                                            <p:strVal val="#ppt_x"/>
                                          </p:val>
                                        </p:tav>
                                        <p:tav tm="100000">
                                          <p:val>
                                            <p:strVal val="#ppt_x"/>
                                          </p:val>
                                        </p:tav>
                                      </p:tavLst>
                                    </p:anim>
                                    <p:anim calcmode="lin" valueType="num">
                                      <p:cBhvr additive="base">
                                        <p:cTn id="104" dur="700" fill="hold" decel="100000"/>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900"/>
                                  </p:stCondLst>
                                  <p:childTnLst>
                                    <p:set>
                                      <p:cBhvr>
                                        <p:cTn id="106" dur="1" fill="hold">
                                          <p:stCondLst>
                                            <p:cond delay="0"/>
                                          </p:stCondLst>
                                        </p:cTn>
                                        <p:tgtEl>
                                          <p:spTgt spid="23"/>
                                        </p:tgtEl>
                                        <p:attrNameLst>
                                          <p:attrName>style.visibility</p:attrName>
                                        </p:attrNameLst>
                                      </p:cBhvr>
                                      <p:to>
                                        <p:strVal val="visible"/>
                                      </p:to>
                                    </p:set>
                                    <p:animEffect transition="in" filter="fade">
                                      <p:cBhvr>
                                        <p:cTn id="107" dur="700"/>
                                        <p:tgtEl>
                                          <p:spTgt spid="23"/>
                                        </p:tgtEl>
                                      </p:cBhvr>
                                    </p:animEffect>
                                    <p:anim calcmode="lin" valueType="num">
                                      <p:cBhvr additive="base">
                                        <p:cTn id="108" dur="700" fill="hold" decel="100000"/>
                                        <p:tgtEl>
                                          <p:spTgt spid="23"/>
                                        </p:tgtEl>
                                        <p:attrNameLst>
                                          <p:attrName>ppt_x</p:attrName>
                                        </p:attrNameLst>
                                      </p:cBhvr>
                                      <p:tavLst>
                                        <p:tav tm="0">
                                          <p:val>
                                            <p:strVal val="#ppt_x"/>
                                          </p:val>
                                        </p:tav>
                                        <p:tav tm="100000">
                                          <p:val>
                                            <p:strVal val="#ppt_x"/>
                                          </p:val>
                                        </p:tav>
                                      </p:tavLst>
                                    </p:anim>
                                    <p:anim calcmode="lin" valueType="num">
                                      <p:cBhvr additive="base">
                                        <p:cTn id="109" dur="700" fill="hold" decel="100000"/>
                                        <p:tgtEl>
                                          <p:spTgt spid="23"/>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900"/>
                                  </p:stCondLst>
                                  <p:childTnLst>
                                    <p:set>
                                      <p:cBhvr>
                                        <p:cTn id="111" dur="1" fill="hold">
                                          <p:stCondLst>
                                            <p:cond delay="0"/>
                                          </p:stCondLst>
                                        </p:cTn>
                                        <p:tgtEl>
                                          <p:spTgt spid="24"/>
                                        </p:tgtEl>
                                        <p:attrNameLst>
                                          <p:attrName>style.visibility</p:attrName>
                                        </p:attrNameLst>
                                      </p:cBhvr>
                                      <p:to>
                                        <p:strVal val="visible"/>
                                      </p:to>
                                    </p:set>
                                    <p:animEffect transition="in" filter="fade">
                                      <p:cBhvr>
                                        <p:cTn id="112" dur="700"/>
                                        <p:tgtEl>
                                          <p:spTgt spid="24"/>
                                        </p:tgtEl>
                                      </p:cBhvr>
                                    </p:animEffect>
                                    <p:anim calcmode="lin" valueType="num">
                                      <p:cBhvr additive="base">
                                        <p:cTn id="113" dur="700" fill="hold" decel="100000"/>
                                        <p:tgtEl>
                                          <p:spTgt spid="24"/>
                                        </p:tgtEl>
                                        <p:attrNameLst>
                                          <p:attrName>ppt_x</p:attrName>
                                        </p:attrNameLst>
                                      </p:cBhvr>
                                      <p:tavLst>
                                        <p:tav tm="0">
                                          <p:val>
                                            <p:strVal val="#ppt_x"/>
                                          </p:val>
                                        </p:tav>
                                        <p:tav tm="100000">
                                          <p:val>
                                            <p:strVal val="#ppt_x"/>
                                          </p:val>
                                        </p:tav>
                                      </p:tavLst>
                                    </p:anim>
                                    <p:anim calcmode="lin" valueType="num">
                                      <p:cBhvr additive="base">
                                        <p:cTn id="114" dur="700" fill="hold" decel="100000"/>
                                        <p:tgtEl>
                                          <p:spTgt spid="24"/>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900"/>
                                  </p:stCondLst>
                                  <p:childTnLst>
                                    <p:set>
                                      <p:cBhvr>
                                        <p:cTn id="116" dur="1" fill="hold">
                                          <p:stCondLst>
                                            <p:cond delay="0"/>
                                          </p:stCondLst>
                                        </p:cTn>
                                        <p:tgtEl>
                                          <p:spTgt spid="25"/>
                                        </p:tgtEl>
                                        <p:attrNameLst>
                                          <p:attrName>style.visibility</p:attrName>
                                        </p:attrNameLst>
                                      </p:cBhvr>
                                      <p:to>
                                        <p:strVal val="visible"/>
                                      </p:to>
                                    </p:set>
                                    <p:animEffect transition="in" filter="fade">
                                      <p:cBhvr>
                                        <p:cTn id="117" dur="700"/>
                                        <p:tgtEl>
                                          <p:spTgt spid="25"/>
                                        </p:tgtEl>
                                      </p:cBhvr>
                                    </p:animEffect>
                                    <p:anim calcmode="lin" valueType="num">
                                      <p:cBhvr additive="base">
                                        <p:cTn id="118" dur="700" fill="hold" decel="100000"/>
                                        <p:tgtEl>
                                          <p:spTgt spid="25"/>
                                        </p:tgtEl>
                                        <p:attrNameLst>
                                          <p:attrName>ppt_x</p:attrName>
                                        </p:attrNameLst>
                                      </p:cBhvr>
                                      <p:tavLst>
                                        <p:tav tm="0">
                                          <p:val>
                                            <p:strVal val="#ppt_x"/>
                                          </p:val>
                                        </p:tav>
                                        <p:tav tm="100000">
                                          <p:val>
                                            <p:strVal val="#ppt_x"/>
                                          </p:val>
                                        </p:tav>
                                      </p:tavLst>
                                    </p:anim>
                                    <p:anim calcmode="lin" valueType="num">
                                      <p:cBhvr additive="base">
                                        <p:cTn id="119" dur="700" fill="hold" decel="100000"/>
                                        <p:tgtEl>
                                          <p:spTgt spid="25"/>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900"/>
                                  </p:stCondLst>
                                  <p:childTnLst>
                                    <p:set>
                                      <p:cBhvr>
                                        <p:cTn id="121" dur="1" fill="hold">
                                          <p:stCondLst>
                                            <p:cond delay="0"/>
                                          </p:stCondLst>
                                        </p:cTn>
                                        <p:tgtEl>
                                          <p:spTgt spid="26"/>
                                        </p:tgtEl>
                                        <p:attrNameLst>
                                          <p:attrName>style.visibility</p:attrName>
                                        </p:attrNameLst>
                                      </p:cBhvr>
                                      <p:to>
                                        <p:strVal val="visible"/>
                                      </p:to>
                                    </p:set>
                                    <p:animEffect transition="in" filter="fade">
                                      <p:cBhvr>
                                        <p:cTn id="122" dur="700"/>
                                        <p:tgtEl>
                                          <p:spTgt spid="26"/>
                                        </p:tgtEl>
                                      </p:cBhvr>
                                    </p:animEffect>
                                    <p:anim calcmode="lin" valueType="num">
                                      <p:cBhvr additive="base">
                                        <p:cTn id="123" dur="700" fill="hold" decel="100000"/>
                                        <p:tgtEl>
                                          <p:spTgt spid="26"/>
                                        </p:tgtEl>
                                        <p:attrNameLst>
                                          <p:attrName>ppt_x</p:attrName>
                                        </p:attrNameLst>
                                      </p:cBhvr>
                                      <p:tavLst>
                                        <p:tav tm="0">
                                          <p:val>
                                            <p:strVal val="#ppt_x"/>
                                          </p:val>
                                        </p:tav>
                                        <p:tav tm="100000">
                                          <p:val>
                                            <p:strVal val="#ppt_x"/>
                                          </p:val>
                                        </p:tav>
                                      </p:tavLst>
                                    </p:anim>
                                    <p:anim calcmode="lin" valueType="num">
                                      <p:cBhvr additive="base">
                                        <p:cTn id="124" dur="700" fill="hold" decel="100000"/>
                                        <p:tgtEl>
                                          <p:spTgt spid="26"/>
                                        </p:tgtEl>
                                        <p:attrNameLst>
                                          <p:attrName>ppt_y</p:attrName>
                                        </p:attrNameLst>
                                      </p:cBhvr>
                                      <p:tavLst>
                                        <p:tav tm="0">
                                          <p:val>
                                            <p:strVal val="#ppt_y+.1"/>
                                          </p:val>
                                        </p:tav>
                                        <p:tav tm="100000">
                                          <p:val>
                                            <p:strVal val="#ppt_y"/>
                                          </p:val>
                                        </p:tav>
                                      </p:tavLst>
                                    </p:anim>
                                  </p:childTnLst>
                                </p:cTn>
                              </p:par>
                              <p:par>
                                <p:cTn id="125" presetID="53" presetClass="entr" presetSubtype="16" fill="hold" grpId="0" nodeType="withEffect">
                                  <p:stCondLst>
                                    <p:cond delay="1200"/>
                                  </p:stCondLst>
                                  <p:childTnLst>
                                    <p:set>
                                      <p:cBhvr>
                                        <p:cTn id="126" dur="1" fill="hold">
                                          <p:stCondLst>
                                            <p:cond delay="0"/>
                                          </p:stCondLst>
                                        </p:cTn>
                                        <p:tgtEl>
                                          <p:spTgt spid="27"/>
                                        </p:tgtEl>
                                        <p:attrNameLst>
                                          <p:attrName>style.visibility</p:attrName>
                                        </p:attrNameLst>
                                      </p:cBhvr>
                                      <p:to>
                                        <p:strVal val="visible"/>
                                      </p:to>
                                    </p:set>
                                    <p:anim calcmode="lin" valueType="num">
                                      <p:cBhvr additive="base">
                                        <p:cTn id="127" dur="600" fill="hold" decel="100000"/>
                                        <p:tgtEl>
                                          <p:spTgt spid="27"/>
                                        </p:tgtEl>
                                        <p:attrNameLst>
                                          <p:attrName>ppt_w</p:attrName>
                                        </p:attrNameLst>
                                      </p:cBhvr>
                                      <p:tavLst>
                                        <p:tav tm="0">
                                          <p:val>
                                            <p:strVal val="0"/>
                                          </p:val>
                                        </p:tav>
                                        <p:tav tm="100000">
                                          <p:val>
                                            <p:strVal val="#ppt_w"/>
                                          </p:val>
                                        </p:tav>
                                      </p:tavLst>
                                    </p:anim>
                                    <p:anim calcmode="lin" valueType="num">
                                      <p:cBhvr additive="base">
                                        <p:cTn id="128" dur="600" fill="hold" decel="100000"/>
                                        <p:tgtEl>
                                          <p:spTgt spid="27"/>
                                        </p:tgtEl>
                                        <p:attrNameLst>
                                          <p:attrName>ppt_h</p:attrName>
                                        </p:attrNameLst>
                                      </p:cBhvr>
                                      <p:tavLst>
                                        <p:tav tm="0">
                                          <p:val>
                                            <p:strVal val="0"/>
                                          </p:val>
                                        </p:tav>
                                        <p:tav tm="100000">
                                          <p:val>
                                            <p:strVal val="#ppt_h"/>
                                          </p:val>
                                        </p:tav>
                                      </p:tavLst>
                                    </p:anim>
                                    <p:animEffect transition="in" filter="fade">
                                      <p:cBhvr>
                                        <p:cTn id="129" dur="600"/>
                                        <p:tgtEl>
                                          <p:spTgt spid="27"/>
                                        </p:tgtEl>
                                      </p:cBhvr>
                                    </p:animEffect>
                                  </p:childTnLst>
                                </p:cTn>
                              </p:par>
                              <p:par>
                                <p:cTn id="130" presetID="53" presetClass="entr" presetSubtype="16" fill="hold" grpId="0" nodeType="withEffect">
                                  <p:stCondLst>
                                    <p:cond delay="1200"/>
                                  </p:stCondLst>
                                  <p:childTnLst>
                                    <p:set>
                                      <p:cBhvr>
                                        <p:cTn id="131" dur="1" fill="hold">
                                          <p:stCondLst>
                                            <p:cond delay="0"/>
                                          </p:stCondLst>
                                        </p:cTn>
                                        <p:tgtEl>
                                          <p:spTgt spid="28"/>
                                        </p:tgtEl>
                                        <p:attrNameLst>
                                          <p:attrName>style.visibility</p:attrName>
                                        </p:attrNameLst>
                                      </p:cBhvr>
                                      <p:to>
                                        <p:strVal val="visible"/>
                                      </p:to>
                                    </p:set>
                                    <p:anim calcmode="lin" valueType="num">
                                      <p:cBhvr additive="base">
                                        <p:cTn id="132" dur="600" fill="hold" decel="100000"/>
                                        <p:tgtEl>
                                          <p:spTgt spid="28"/>
                                        </p:tgtEl>
                                        <p:attrNameLst>
                                          <p:attrName>ppt_w</p:attrName>
                                        </p:attrNameLst>
                                      </p:cBhvr>
                                      <p:tavLst>
                                        <p:tav tm="0">
                                          <p:val>
                                            <p:strVal val="0"/>
                                          </p:val>
                                        </p:tav>
                                        <p:tav tm="100000">
                                          <p:val>
                                            <p:strVal val="#ppt_w"/>
                                          </p:val>
                                        </p:tav>
                                      </p:tavLst>
                                    </p:anim>
                                    <p:anim calcmode="lin" valueType="num">
                                      <p:cBhvr additive="base">
                                        <p:cTn id="133" dur="600" fill="hold" decel="100000"/>
                                        <p:tgtEl>
                                          <p:spTgt spid="28"/>
                                        </p:tgtEl>
                                        <p:attrNameLst>
                                          <p:attrName>ppt_h</p:attrName>
                                        </p:attrNameLst>
                                      </p:cBhvr>
                                      <p:tavLst>
                                        <p:tav tm="0">
                                          <p:val>
                                            <p:strVal val="0"/>
                                          </p:val>
                                        </p:tav>
                                        <p:tav tm="100000">
                                          <p:val>
                                            <p:strVal val="#ppt_h"/>
                                          </p:val>
                                        </p:tav>
                                      </p:tavLst>
                                    </p:anim>
                                    <p:animEffect transition="in" filter="fade">
                                      <p:cBhvr>
                                        <p:cTn id="134" dur="600"/>
                                        <p:tgtEl>
                                          <p:spTgt spid="28"/>
                                        </p:tgtEl>
                                      </p:cBhvr>
                                    </p:animEffect>
                                  </p:childTnLst>
                                </p:cTn>
                              </p:par>
                              <p:par>
                                <p:cTn id="135" presetID="53" presetClass="entr" presetSubtype="16" fill="hold" grpId="0" nodeType="withEffect">
                                  <p:stCondLst>
                                    <p:cond delay="1200"/>
                                  </p:stCondLst>
                                  <p:childTnLst>
                                    <p:set>
                                      <p:cBhvr>
                                        <p:cTn id="136" dur="1" fill="hold">
                                          <p:stCondLst>
                                            <p:cond delay="0"/>
                                          </p:stCondLst>
                                        </p:cTn>
                                        <p:tgtEl>
                                          <p:spTgt spid="29"/>
                                        </p:tgtEl>
                                        <p:attrNameLst>
                                          <p:attrName>style.visibility</p:attrName>
                                        </p:attrNameLst>
                                      </p:cBhvr>
                                      <p:to>
                                        <p:strVal val="visible"/>
                                      </p:to>
                                    </p:set>
                                    <p:anim calcmode="lin" valueType="num">
                                      <p:cBhvr additive="base">
                                        <p:cTn id="137" dur="600" fill="hold" decel="100000"/>
                                        <p:tgtEl>
                                          <p:spTgt spid="29"/>
                                        </p:tgtEl>
                                        <p:attrNameLst>
                                          <p:attrName>ppt_w</p:attrName>
                                        </p:attrNameLst>
                                      </p:cBhvr>
                                      <p:tavLst>
                                        <p:tav tm="0">
                                          <p:val>
                                            <p:strVal val="0"/>
                                          </p:val>
                                        </p:tav>
                                        <p:tav tm="100000">
                                          <p:val>
                                            <p:strVal val="#ppt_w"/>
                                          </p:val>
                                        </p:tav>
                                      </p:tavLst>
                                    </p:anim>
                                    <p:anim calcmode="lin" valueType="num">
                                      <p:cBhvr additive="base">
                                        <p:cTn id="138" dur="600" fill="hold" decel="100000"/>
                                        <p:tgtEl>
                                          <p:spTgt spid="29"/>
                                        </p:tgtEl>
                                        <p:attrNameLst>
                                          <p:attrName>ppt_h</p:attrName>
                                        </p:attrNameLst>
                                      </p:cBhvr>
                                      <p:tavLst>
                                        <p:tav tm="0">
                                          <p:val>
                                            <p:strVal val="0"/>
                                          </p:val>
                                        </p:tav>
                                        <p:tav tm="100000">
                                          <p:val>
                                            <p:strVal val="#ppt_h"/>
                                          </p:val>
                                        </p:tav>
                                      </p:tavLst>
                                    </p:anim>
                                    <p:animEffect transition="in" filter="fade">
                                      <p:cBhvr>
                                        <p:cTn id="139" dur="600"/>
                                        <p:tgtEl>
                                          <p:spTgt spid="29"/>
                                        </p:tgtEl>
                                      </p:cBhvr>
                                    </p:animEffect>
                                  </p:childTnLst>
                                </p:cTn>
                              </p:par>
                              <p:par>
                                <p:cTn id="140" presetID="53" presetClass="entr" presetSubtype="16" fill="hold" grpId="0" nodeType="withEffect">
                                  <p:stCondLst>
                                    <p:cond delay="1200"/>
                                  </p:stCondLst>
                                  <p:childTnLst>
                                    <p:set>
                                      <p:cBhvr>
                                        <p:cTn id="141" dur="1" fill="hold">
                                          <p:stCondLst>
                                            <p:cond delay="0"/>
                                          </p:stCondLst>
                                        </p:cTn>
                                        <p:tgtEl>
                                          <p:spTgt spid="30"/>
                                        </p:tgtEl>
                                        <p:attrNameLst>
                                          <p:attrName>style.visibility</p:attrName>
                                        </p:attrNameLst>
                                      </p:cBhvr>
                                      <p:to>
                                        <p:strVal val="visible"/>
                                      </p:to>
                                    </p:set>
                                    <p:anim calcmode="lin" valueType="num">
                                      <p:cBhvr additive="base">
                                        <p:cTn id="142" dur="600" fill="hold" decel="100000"/>
                                        <p:tgtEl>
                                          <p:spTgt spid="30"/>
                                        </p:tgtEl>
                                        <p:attrNameLst>
                                          <p:attrName>ppt_w</p:attrName>
                                        </p:attrNameLst>
                                      </p:cBhvr>
                                      <p:tavLst>
                                        <p:tav tm="0">
                                          <p:val>
                                            <p:strVal val="0"/>
                                          </p:val>
                                        </p:tav>
                                        <p:tav tm="100000">
                                          <p:val>
                                            <p:strVal val="#ppt_w"/>
                                          </p:val>
                                        </p:tav>
                                      </p:tavLst>
                                    </p:anim>
                                    <p:anim calcmode="lin" valueType="num">
                                      <p:cBhvr additive="base">
                                        <p:cTn id="143" dur="600" fill="hold" decel="100000"/>
                                        <p:tgtEl>
                                          <p:spTgt spid="30"/>
                                        </p:tgtEl>
                                        <p:attrNameLst>
                                          <p:attrName>ppt_h</p:attrName>
                                        </p:attrNameLst>
                                      </p:cBhvr>
                                      <p:tavLst>
                                        <p:tav tm="0">
                                          <p:val>
                                            <p:strVal val="0"/>
                                          </p:val>
                                        </p:tav>
                                        <p:tav tm="100000">
                                          <p:val>
                                            <p:strVal val="#ppt_h"/>
                                          </p:val>
                                        </p:tav>
                                      </p:tavLst>
                                    </p:anim>
                                    <p:animEffect transition="in" filter="fade">
                                      <p:cBhvr>
                                        <p:cTn id="144"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How the AI recommendation works</a:t>
            </a:r>
            <a:endParaRPr lang="en-US" sz="3200" dirty="0"/>
          </a:p>
        </p:txBody>
      </p:sp>
      <p:sp>
        <p:nvSpPr>
          <p:cNvPr id="3" name="A1_0_rise_s0c"/>
          <p:cNvSpPr/>
          <p:nvPr/>
        </p:nvSpPr>
        <p:spPr>
          <a:xfrm>
            <a:off x="812800" y="1587500"/>
            <a:ext cx="2184400" cy="2349500"/>
          </a:xfrm>
          <a:prstGeom prst="roundRect">
            <a:avLst>
              <a:gd name="adj" fmla="val 4605"/>
            </a:avLst>
          </a:prstGeom>
          <a:solidFill>
            <a:srgbClr val="FFFFFF"/>
          </a:solidFill>
          <a:ln/>
          <a:effectLst>
            <a:outerShdw sx="100000" sy="100000" kx="0" ky="0" algn="bl" rotWithShape="0" blurRad="177800" dist="63500" dir="5400000">
              <a:srgbClr val="1D2A3A">
                <a:alpha val="10000"/>
              </a:srgbClr>
            </a:outerShdw>
          </a:effectLst>
        </p:spPr>
      </p:sp>
      <p:sp>
        <p:nvSpPr>
          <p:cNvPr id="4" name="A1_0_rise_s0l"/>
          <p:cNvSpPr txBox="1"/>
          <p:nvPr/>
        </p:nvSpPr>
        <p:spPr>
          <a:xfrm>
            <a:off x="1041400" y="1816100"/>
            <a:ext cx="1841500" cy="228600"/>
          </a:xfrm>
          <a:prstGeom prst="rect">
            <a:avLst/>
          </a:prstGeom>
          <a:noFill/>
          <a:ln/>
        </p:spPr>
        <p:txBody>
          <a:bodyPr wrap="square" lIns="0" tIns="0" rIns="0" bIns="0" rtlCol="0" anchor="t"/>
          <a:lstStyle/>
          <a:p>
            <a:pPr indent="0" marL="0">
              <a:buNone/>
            </a:pPr>
            <a:r>
              <a:rPr lang="en-US" sz="1200" b="1" dirty="0">
                <a:solidFill>
                  <a:srgbClr val="2E6AA8"/>
                </a:solidFill>
                <a:latin typeface="Calibri" pitchFamily="34" charset="0"/>
                <a:ea typeface="Calibri" pitchFamily="34" charset="-122"/>
                <a:cs typeface="Calibri" pitchFamily="34" charset="-120"/>
              </a:rPr>
              <a:t>STEP 1 · RULES</a:t>
            </a:r>
            <a:endParaRPr lang="en-US" sz="1200" dirty="0"/>
          </a:p>
        </p:txBody>
      </p:sp>
      <p:sp>
        <p:nvSpPr>
          <p:cNvPr id="5" name="A1_0_rise_s0h"/>
          <p:cNvSpPr txBox="1"/>
          <p:nvPr/>
        </p:nvSpPr>
        <p:spPr>
          <a:xfrm>
            <a:off x="1041400" y="2095500"/>
            <a:ext cx="1778000" cy="609600"/>
          </a:xfrm>
          <a:prstGeom prst="rect">
            <a:avLst/>
          </a:prstGeom>
          <a:noFill/>
          <a:ln/>
        </p:spPr>
        <p:txBody>
          <a:bodyPr wrap="square" lIns="0" tIns="0" rIns="0" bIns="0" rtlCol="0" anchor="t"/>
          <a:lstStyle/>
          <a:p>
            <a:pPr indent="0" marL="0">
              <a:buNone/>
            </a:pPr>
            <a:r>
              <a:rPr lang="en-US" sz="1700" b="1" dirty="0">
                <a:solidFill>
                  <a:srgbClr val="1D2A3A"/>
                </a:solidFill>
                <a:latin typeface="Calibri" pitchFamily="34" charset="0"/>
                <a:ea typeface="Calibri" pitchFamily="34" charset="-122"/>
                <a:cs typeface="Calibri" pitchFamily="34" charset="-120"/>
              </a:rPr>
              <a:t>Find the study gap</a:t>
            </a:r>
            <a:endParaRPr lang="en-US" sz="1700" dirty="0"/>
          </a:p>
        </p:txBody>
      </p:sp>
      <p:sp>
        <p:nvSpPr>
          <p:cNvPr id="6" name="A1_0_rise_s0b"/>
          <p:cNvSpPr txBox="1"/>
          <p:nvPr/>
        </p:nvSpPr>
        <p:spPr>
          <a:xfrm>
            <a:off x="1041400" y="2768600"/>
            <a:ext cx="1778000" cy="1016000"/>
          </a:xfrm>
          <a:prstGeom prst="rect">
            <a:avLst/>
          </a:prstGeom>
          <a:noFill/>
          <a:ln/>
        </p:spPr>
        <p:txBody>
          <a:bodyPr wrap="square" lIns="0" tIns="0" rIns="0" bIns="0" rtlCol="0" anchor="t"/>
          <a:lstStyle/>
          <a:p>
            <a:pPr indent="0" marL="0">
              <a:lnSpc>
                <a:spcPct val="110000"/>
              </a:lnSpc>
              <a:buNone/>
            </a:pPr>
            <a:r>
              <a:rPr lang="en-US" sz="1300" dirty="0">
                <a:solidFill>
                  <a:srgbClr val="4A5568"/>
                </a:solidFill>
                <a:latin typeface="Calibri" pitchFamily="34" charset="0"/>
                <a:ea typeface="Calibri" pitchFamily="34" charset="-122"/>
                <a:cs typeface="Calibri" pitchFamily="34" charset="-120"/>
              </a:rPr>
              <a:t>gap = hours needed − hours studied − hours planned</a:t>
            </a:r>
            <a:endParaRPr lang="en-US" sz="1300" dirty="0"/>
          </a:p>
        </p:txBody>
      </p:sp>
      <p:sp>
        <p:nvSpPr>
          <p:cNvPr id="7" name="A2_0_wipe_arr1"/>
          <p:cNvSpPr/>
          <p:nvPr/>
        </p:nvSpPr>
        <p:spPr>
          <a:xfrm>
            <a:off x="3124200" y="2660650"/>
            <a:ext cx="355600" cy="203200"/>
          </a:xfrm>
          <a:prstGeom prst="rightArrow">
            <a:avLst/>
          </a:prstGeom>
          <a:solidFill>
            <a:srgbClr val="2E6AA8"/>
          </a:solidFill>
          <a:ln/>
        </p:spPr>
      </p:sp>
      <p:sp>
        <p:nvSpPr>
          <p:cNvPr id="8" name="A2_300_rise_s1c"/>
          <p:cNvSpPr/>
          <p:nvPr/>
        </p:nvSpPr>
        <p:spPr>
          <a:xfrm>
            <a:off x="3606800" y="1587500"/>
            <a:ext cx="2184400" cy="2349500"/>
          </a:xfrm>
          <a:prstGeom prst="roundRect">
            <a:avLst>
              <a:gd name="adj" fmla="val 4605"/>
            </a:avLst>
          </a:prstGeom>
          <a:solidFill>
            <a:srgbClr val="FFFFFF"/>
          </a:solidFill>
          <a:ln/>
          <a:effectLst>
            <a:outerShdw sx="100000" sy="100000" kx="0" ky="0" algn="bl" rotWithShape="0" blurRad="177800" dist="63500" dir="5400000">
              <a:srgbClr val="1D2A3A">
                <a:alpha val="10000"/>
              </a:srgbClr>
            </a:outerShdw>
          </a:effectLst>
        </p:spPr>
      </p:sp>
      <p:sp>
        <p:nvSpPr>
          <p:cNvPr id="9" name="A2_300_rise_s1l"/>
          <p:cNvSpPr txBox="1"/>
          <p:nvPr/>
        </p:nvSpPr>
        <p:spPr>
          <a:xfrm>
            <a:off x="3835400" y="1816100"/>
            <a:ext cx="1841500" cy="228600"/>
          </a:xfrm>
          <a:prstGeom prst="rect">
            <a:avLst/>
          </a:prstGeom>
          <a:noFill/>
          <a:ln/>
        </p:spPr>
        <p:txBody>
          <a:bodyPr wrap="square" lIns="0" tIns="0" rIns="0" bIns="0" rtlCol="0" anchor="t"/>
          <a:lstStyle/>
          <a:p>
            <a:pPr indent="0" marL="0">
              <a:buNone/>
            </a:pPr>
            <a:r>
              <a:rPr lang="en-US" sz="1200" b="1" dirty="0">
                <a:solidFill>
                  <a:srgbClr val="2E6AA8"/>
                </a:solidFill>
                <a:latin typeface="Calibri" pitchFamily="34" charset="0"/>
                <a:ea typeface="Calibri" pitchFamily="34" charset="-122"/>
                <a:cs typeface="Calibri" pitchFamily="34" charset="-120"/>
              </a:rPr>
              <a:t>STEP 2 · RULES</a:t>
            </a:r>
            <a:endParaRPr lang="en-US" sz="1200" dirty="0"/>
          </a:p>
        </p:txBody>
      </p:sp>
      <p:sp>
        <p:nvSpPr>
          <p:cNvPr id="10" name="A2_300_rise_s1h"/>
          <p:cNvSpPr txBox="1"/>
          <p:nvPr/>
        </p:nvSpPr>
        <p:spPr>
          <a:xfrm>
            <a:off x="3835400" y="2095500"/>
            <a:ext cx="1778000" cy="609600"/>
          </a:xfrm>
          <a:prstGeom prst="rect">
            <a:avLst/>
          </a:prstGeom>
          <a:noFill/>
          <a:ln/>
        </p:spPr>
        <p:txBody>
          <a:bodyPr wrap="square" lIns="0" tIns="0" rIns="0" bIns="0" rtlCol="0" anchor="t"/>
          <a:lstStyle/>
          <a:p>
            <a:pPr indent="0" marL="0">
              <a:buNone/>
            </a:pPr>
            <a:r>
              <a:rPr lang="en-US" sz="1700" b="1" dirty="0">
                <a:solidFill>
                  <a:srgbClr val="1D2A3A"/>
                </a:solidFill>
                <a:latin typeface="Calibri" pitchFamily="34" charset="0"/>
                <a:ea typeface="Calibri" pitchFamily="34" charset="-122"/>
                <a:cs typeface="Calibri" pitchFamily="34" charset="-120"/>
              </a:rPr>
              <a:t>Rank and plan</a:t>
            </a:r>
            <a:endParaRPr lang="en-US" sz="1700" dirty="0"/>
          </a:p>
        </p:txBody>
      </p:sp>
      <p:sp>
        <p:nvSpPr>
          <p:cNvPr id="11" name="A2_300_rise_s1b"/>
          <p:cNvSpPr txBox="1"/>
          <p:nvPr/>
        </p:nvSpPr>
        <p:spPr>
          <a:xfrm>
            <a:off x="3835400" y="2768600"/>
            <a:ext cx="1778000" cy="1016000"/>
          </a:xfrm>
          <a:prstGeom prst="rect">
            <a:avLst/>
          </a:prstGeom>
          <a:noFill/>
          <a:ln/>
        </p:spPr>
        <p:txBody>
          <a:bodyPr wrap="square" lIns="0" tIns="0" rIns="0" bIns="0" rtlCol="0" anchor="t"/>
          <a:lstStyle/>
          <a:p>
            <a:pPr indent="0" marL="0">
              <a:lnSpc>
                <a:spcPct val="110000"/>
              </a:lnSpc>
              <a:buNone/>
            </a:pPr>
            <a:r>
              <a:rPr lang="en-US" sz="1300" dirty="0">
                <a:solidFill>
                  <a:srgbClr val="4A5568"/>
                </a:solidFill>
                <a:latin typeface="Calibri" pitchFamily="34" charset="0"/>
                <a:ea typeface="Calibri" pitchFamily="34" charset="-122"/>
                <a:cs typeface="Calibri" pitchFamily="34" charset="-120"/>
              </a:rPr>
              <a:t>top 3 by deadline, priority and task type; sessions of up to 2 hours</a:t>
            </a:r>
            <a:endParaRPr lang="en-US" sz="1300" dirty="0"/>
          </a:p>
        </p:txBody>
      </p:sp>
      <p:sp>
        <p:nvSpPr>
          <p:cNvPr id="12" name="A3_0_wipe_arr2"/>
          <p:cNvSpPr/>
          <p:nvPr/>
        </p:nvSpPr>
        <p:spPr>
          <a:xfrm>
            <a:off x="5918200" y="2660650"/>
            <a:ext cx="355600" cy="203200"/>
          </a:xfrm>
          <a:prstGeom prst="rightArrow">
            <a:avLst/>
          </a:prstGeom>
          <a:solidFill>
            <a:srgbClr val="2E6AA8"/>
          </a:solidFill>
          <a:ln/>
        </p:spPr>
      </p:sp>
      <p:sp>
        <p:nvSpPr>
          <p:cNvPr id="13" name="A3_300_rise_s2c"/>
          <p:cNvSpPr/>
          <p:nvPr/>
        </p:nvSpPr>
        <p:spPr>
          <a:xfrm>
            <a:off x="6400800" y="1587500"/>
            <a:ext cx="2184400" cy="2349500"/>
          </a:xfrm>
          <a:prstGeom prst="roundRect">
            <a:avLst>
              <a:gd name="adj" fmla="val 4605"/>
            </a:avLst>
          </a:prstGeom>
          <a:solidFill>
            <a:srgbClr val="FFFFFF"/>
          </a:solidFill>
          <a:ln/>
          <a:effectLst>
            <a:outerShdw sx="100000" sy="100000" kx="0" ky="0" algn="bl" rotWithShape="0" blurRad="177800" dist="63500" dir="5400000">
              <a:srgbClr val="1D2A3A">
                <a:alpha val="10000"/>
              </a:srgbClr>
            </a:outerShdw>
          </a:effectLst>
        </p:spPr>
      </p:sp>
      <p:sp>
        <p:nvSpPr>
          <p:cNvPr id="14" name="A3_300_rise_s2l"/>
          <p:cNvSpPr txBox="1"/>
          <p:nvPr/>
        </p:nvSpPr>
        <p:spPr>
          <a:xfrm>
            <a:off x="6629400" y="1816100"/>
            <a:ext cx="1841500" cy="228600"/>
          </a:xfrm>
          <a:prstGeom prst="rect">
            <a:avLst/>
          </a:prstGeom>
          <a:noFill/>
          <a:ln/>
        </p:spPr>
        <p:txBody>
          <a:bodyPr wrap="square" lIns="0" tIns="0" rIns="0" bIns="0" rtlCol="0" anchor="t"/>
          <a:lstStyle/>
          <a:p>
            <a:pPr indent="0" marL="0">
              <a:buNone/>
            </a:pPr>
            <a:r>
              <a:rPr lang="en-US" sz="1200" b="1" dirty="0">
                <a:solidFill>
                  <a:srgbClr val="C8662F"/>
                </a:solidFill>
                <a:latin typeface="Calibri" pitchFamily="34" charset="0"/>
                <a:ea typeface="Calibri" pitchFamily="34" charset="-122"/>
                <a:cs typeface="Calibri" pitchFamily="34" charset="-120"/>
              </a:rPr>
              <a:t>STEP 3 · LLM</a:t>
            </a:r>
            <a:endParaRPr lang="en-US" sz="1200" dirty="0"/>
          </a:p>
        </p:txBody>
      </p:sp>
      <p:sp>
        <p:nvSpPr>
          <p:cNvPr id="15" name="A3_300_rise_s2h"/>
          <p:cNvSpPr txBox="1"/>
          <p:nvPr/>
        </p:nvSpPr>
        <p:spPr>
          <a:xfrm>
            <a:off x="6629400" y="2095500"/>
            <a:ext cx="1778000" cy="609600"/>
          </a:xfrm>
          <a:prstGeom prst="rect">
            <a:avLst/>
          </a:prstGeom>
          <a:noFill/>
          <a:ln/>
        </p:spPr>
        <p:txBody>
          <a:bodyPr wrap="square" lIns="0" tIns="0" rIns="0" bIns="0" rtlCol="0" anchor="t"/>
          <a:lstStyle/>
          <a:p>
            <a:pPr indent="0" marL="0">
              <a:buNone/>
            </a:pPr>
            <a:r>
              <a:rPr lang="en-US" sz="1700" b="1" dirty="0">
                <a:solidFill>
                  <a:srgbClr val="1D2A3A"/>
                </a:solidFill>
                <a:latin typeface="Calibri" pitchFamily="34" charset="0"/>
                <a:ea typeface="Calibri" pitchFamily="34" charset="-122"/>
                <a:cs typeface="Calibri" pitchFamily="34" charset="-120"/>
              </a:rPr>
              <a:t>Explain it</a:t>
            </a:r>
            <a:endParaRPr lang="en-US" sz="1700" dirty="0"/>
          </a:p>
        </p:txBody>
      </p:sp>
      <p:sp>
        <p:nvSpPr>
          <p:cNvPr id="16" name="A3_300_rise_s2b"/>
          <p:cNvSpPr txBox="1"/>
          <p:nvPr/>
        </p:nvSpPr>
        <p:spPr>
          <a:xfrm>
            <a:off x="6629400" y="2768600"/>
            <a:ext cx="1778000" cy="1016000"/>
          </a:xfrm>
          <a:prstGeom prst="rect">
            <a:avLst/>
          </a:prstGeom>
          <a:noFill/>
          <a:ln/>
        </p:spPr>
        <p:txBody>
          <a:bodyPr wrap="square" lIns="0" tIns="0" rIns="0" bIns="0" rtlCol="0" anchor="t"/>
          <a:lstStyle/>
          <a:p>
            <a:pPr indent="0" marL="0">
              <a:lnSpc>
                <a:spcPct val="110000"/>
              </a:lnSpc>
              <a:buNone/>
            </a:pPr>
            <a:r>
              <a:rPr lang="en-US" sz="1300" dirty="0">
                <a:solidFill>
                  <a:srgbClr val="4A5568"/>
                </a:solidFill>
                <a:latin typeface="Calibri" pitchFamily="34" charset="0"/>
                <a:ea typeface="Calibri" pitchFamily="34" charset="-122"/>
                <a:cs typeface="Calibri" pitchFamily="34" charset="-120"/>
              </a:rPr>
              <a:t>writes the message and reason; rule-based text if it fails</a:t>
            </a:r>
            <a:endParaRPr lang="en-US" sz="1300" dirty="0"/>
          </a:p>
        </p:txBody>
      </p:sp>
      <p:sp>
        <p:nvSpPr>
          <p:cNvPr id="17" name="A4_0_wipe_arr3"/>
          <p:cNvSpPr/>
          <p:nvPr/>
        </p:nvSpPr>
        <p:spPr>
          <a:xfrm>
            <a:off x="8712200" y="2660650"/>
            <a:ext cx="355600" cy="203200"/>
          </a:xfrm>
          <a:prstGeom prst="rightArrow">
            <a:avLst/>
          </a:prstGeom>
          <a:solidFill>
            <a:srgbClr val="2E6AA8"/>
          </a:solidFill>
          <a:ln/>
        </p:spPr>
      </p:sp>
      <p:sp>
        <p:nvSpPr>
          <p:cNvPr id="18" name="A4_300_zoom_s3c"/>
          <p:cNvSpPr/>
          <p:nvPr/>
        </p:nvSpPr>
        <p:spPr>
          <a:xfrm>
            <a:off x="9194800" y="1587500"/>
            <a:ext cx="2184400" cy="2349500"/>
          </a:xfrm>
          <a:prstGeom prst="roundRect">
            <a:avLst>
              <a:gd name="adj" fmla="val 4605"/>
            </a:avLst>
          </a:prstGeom>
          <a:solidFill>
            <a:srgbClr val="24364C"/>
          </a:solidFill>
          <a:ln/>
          <a:effectLst>
            <a:outerShdw sx="100000" sy="100000" kx="0" ky="0" algn="bl" rotWithShape="0" blurRad="177800" dist="63500" dir="5400000">
              <a:srgbClr val="1D2A3A">
                <a:alpha val="25000"/>
              </a:srgbClr>
            </a:outerShdw>
          </a:effectLst>
        </p:spPr>
      </p:sp>
      <p:sp>
        <p:nvSpPr>
          <p:cNvPr id="19" name="A4_300_zoom_s3l"/>
          <p:cNvSpPr txBox="1"/>
          <p:nvPr/>
        </p:nvSpPr>
        <p:spPr>
          <a:xfrm>
            <a:off x="9423400" y="1816100"/>
            <a:ext cx="1841500" cy="228600"/>
          </a:xfrm>
          <a:prstGeom prst="rect">
            <a:avLst/>
          </a:prstGeom>
          <a:noFill/>
          <a:ln/>
        </p:spPr>
        <p:txBody>
          <a:bodyPr wrap="square" lIns="0" tIns="0" rIns="0" bIns="0" rtlCol="0" anchor="t"/>
          <a:lstStyle/>
          <a:p>
            <a:pPr indent="0" marL="0">
              <a:buNone/>
            </a:pPr>
            <a:r>
              <a:rPr lang="en-US" sz="1200" b="1" dirty="0">
                <a:solidFill>
                  <a:srgbClr val="8FB8E3"/>
                </a:solidFill>
                <a:latin typeface="Calibri" pitchFamily="34" charset="0"/>
                <a:ea typeface="Calibri" pitchFamily="34" charset="-122"/>
                <a:cs typeface="Calibri" pitchFamily="34" charset="-120"/>
              </a:rPr>
              <a:t>STEP 4 · STUDENT</a:t>
            </a:r>
            <a:endParaRPr lang="en-US" sz="1200" dirty="0"/>
          </a:p>
        </p:txBody>
      </p:sp>
      <p:sp>
        <p:nvSpPr>
          <p:cNvPr id="20" name="A4_300_zoom_s3h"/>
          <p:cNvSpPr txBox="1"/>
          <p:nvPr/>
        </p:nvSpPr>
        <p:spPr>
          <a:xfrm>
            <a:off x="9423400" y="2095500"/>
            <a:ext cx="1778000" cy="609600"/>
          </a:xfrm>
          <a:prstGeom prst="rect">
            <a:avLst/>
          </a:prstGeom>
          <a:noFill/>
          <a:ln/>
        </p:spPr>
        <p:txBody>
          <a:bodyPr wrap="square" lIns="0" tIns="0" rIns="0" bIns="0" rtlCol="0" anchor="t"/>
          <a:lstStyle/>
          <a:p>
            <a:pPr indent="0" marL="0">
              <a:buNone/>
            </a:pPr>
            <a:r>
              <a:rPr lang="en-US" sz="1700" b="1" dirty="0">
                <a:solidFill>
                  <a:srgbClr val="F6F5F1"/>
                </a:solidFill>
                <a:latin typeface="Calibri" pitchFamily="34" charset="0"/>
                <a:ea typeface="Calibri" pitchFamily="34" charset="-122"/>
                <a:cs typeface="Calibri" pitchFamily="34" charset="-120"/>
              </a:rPr>
              <a:t>Accept or dismiss</a:t>
            </a:r>
            <a:endParaRPr lang="en-US" sz="1700" dirty="0"/>
          </a:p>
        </p:txBody>
      </p:sp>
      <p:sp>
        <p:nvSpPr>
          <p:cNvPr id="21" name="A4_300_zoom_s3b"/>
          <p:cNvSpPr txBox="1"/>
          <p:nvPr/>
        </p:nvSpPr>
        <p:spPr>
          <a:xfrm>
            <a:off x="9423400" y="2768600"/>
            <a:ext cx="1778000" cy="1016000"/>
          </a:xfrm>
          <a:prstGeom prst="rect">
            <a:avLst/>
          </a:prstGeom>
          <a:noFill/>
          <a:ln/>
        </p:spPr>
        <p:txBody>
          <a:bodyPr wrap="square" lIns="0" tIns="0" rIns="0" bIns="0" rtlCol="0" anchor="t"/>
          <a:lstStyle/>
          <a:p>
            <a:pPr indent="0" marL="0">
              <a:lnSpc>
                <a:spcPct val="110000"/>
              </a:lnSpc>
              <a:buNone/>
            </a:pPr>
            <a:r>
              <a:rPr lang="en-US" sz="1300" dirty="0">
                <a:solidFill>
                  <a:srgbClr val="C9D3DF"/>
                </a:solidFill>
                <a:latin typeface="Calibri" pitchFamily="34" charset="0"/>
                <a:ea typeface="Calibri" pitchFamily="34" charset="-122"/>
                <a:cs typeface="Calibri" pitchFamily="34" charset="-120"/>
              </a:rPr>
              <a:t>accepting adds the sessions to the schedule</a:t>
            </a:r>
            <a:endParaRPr lang="en-US" sz="1300" dirty="0"/>
          </a:p>
        </p:txBody>
      </p:sp>
      <p:sp>
        <p:nvSpPr>
          <p:cNvPr id="22" name="A5_0_fade_key"/>
          <p:cNvSpPr txBox="1"/>
          <p:nvPr/>
        </p:nvSpPr>
        <p:spPr>
          <a:xfrm>
            <a:off x="812800" y="4318000"/>
            <a:ext cx="10160000" cy="698500"/>
          </a:xfrm>
          <a:prstGeom prst="rect">
            <a:avLst/>
          </a:prstGeom>
          <a:noFill/>
          <a:ln/>
        </p:spPr>
        <p:txBody>
          <a:bodyPr wrap="square" lIns="0" tIns="0" rIns="0" bIns="0" rtlCol="0" anchor="t"/>
          <a:lstStyle/>
          <a:p>
            <a:pPr indent="0" marL="0">
              <a:lnSpc>
                <a:spcPct val="115000"/>
              </a:lnSpc>
              <a:buNone/>
            </a:pPr>
            <a:r>
              <a:rPr lang="en-US" sz="1800" b="1" dirty="0">
                <a:solidFill>
                  <a:srgbClr val="1D2A3A"/>
                </a:solidFill>
                <a:latin typeface="Calibri" pitchFamily="34" charset="0"/>
                <a:ea typeface="Calibri" pitchFamily="34" charset="-122"/>
                <a:cs typeface="Calibri" pitchFamily="34" charset="-120"/>
              </a:rPr>
              <a:t>Key design choice: </a:t>
            </a:r>
            <a:pPr indent="0" marL="0">
              <a:lnSpc>
                <a:spcPct val="115000"/>
              </a:lnSpc>
              <a:buNone/>
            </a:pPr>
            <a:r>
              <a:rPr lang="en-US" sz="1800" dirty="0">
                <a:solidFill>
                  <a:srgbClr val="1D2A3A"/>
                </a:solidFill>
                <a:latin typeface="Calibri" pitchFamily="34" charset="0"/>
                <a:ea typeface="Calibri" pitchFamily="34" charset="-122"/>
                <a:cs typeface="Calibri" pitchFamily="34" charset="-120"/>
              </a:rPr>
              <a:t>the LLM never sets the hours or dates, so it can’t invent numbers in the student’s schedule.</a:t>
            </a:r>
            <a:endParaRPr lang="en-US" sz="18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anim calcmode="lin" valueType="num">
                                      <p:cBhvr additive="base">
                                        <p:cTn id="8" dur="7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700" fill="hold" decel="100000"/>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00"/>
                                        <p:tgtEl>
                                          <p:spTgt spid="4"/>
                                        </p:tgtEl>
                                      </p:cBhvr>
                                    </p:animEffect>
                                    <p:anim calcmode="lin" valueType="num">
                                      <p:cBhvr additive="base">
                                        <p:cTn id="13" dur="7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700" fill="hold" decel="100000"/>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700" fill="hold" decel="100000"/>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700" fill="hold" decel="100000"/>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par>
                                <p:cTn id="30" presetID="42" presetClass="entr" presetSubtype="0" fill="hold" grpId="0" nodeType="withEffect">
                                  <p:stCondLst>
                                    <p:cond delay="3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700"/>
                                        <p:tgtEl>
                                          <p:spTgt spid="10"/>
                                        </p:tgtEl>
                                      </p:cBhvr>
                                    </p:animEffect>
                                    <p:anim calcmode="lin" valueType="num">
                                      <p:cBhvr additive="base">
                                        <p:cTn id="33" dur="700" fill="hold" decel="100000"/>
                                        <p:tgtEl>
                                          <p:spTgt spid="10"/>
                                        </p:tgtEl>
                                        <p:attrNameLst>
                                          <p:attrName>ppt_x</p:attrName>
                                        </p:attrNameLst>
                                      </p:cBhvr>
                                      <p:tavLst>
                                        <p:tav tm="0">
                                          <p:val>
                                            <p:strVal val="#ppt_x"/>
                                          </p:val>
                                        </p:tav>
                                        <p:tav tm="100000">
                                          <p:val>
                                            <p:strVal val="#ppt_x"/>
                                          </p:val>
                                        </p:tav>
                                      </p:tavLst>
                                    </p:anim>
                                    <p:anim calcmode="lin" valueType="num">
                                      <p:cBhvr additive="base">
                                        <p:cTn id="34" dur="700" fill="hold" decel="100000"/>
                                        <p:tgtEl>
                                          <p:spTgt spid="10"/>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3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700"/>
                                        <p:tgtEl>
                                          <p:spTgt spid="11"/>
                                        </p:tgtEl>
                                      </p:cBhvr>
                                    </p:animEffect>
                                    <p:anim calcmode="lin" valueType="num">
                                      <p:cBhvr additive="base">
                                        <p:cTn id="38" dur="700" fill="hold" decel="100000"/>
                                        <p:tgtEl>
                                          <p:spTgt spid="11"/>
                                        </p:tgtEl>
                                        <p:attrNameLst>
                                          <p:attrName>ppt_x</p:attrName>
                                        </p:attrNameLst>
                                      </p:cBhvr>
                                      <p:tavLst>
                                        <p:tav tm="0">
                                          <p:val>
                                            <p:strVal val="#ppt_x"/>
                                          </p:val>
                                        </p:tav>
                                        <p:tav tm="100000">
                                          <p:val>
                                            <p:strVal val="#ppt_x"/>
                                          </p:val>
                                        </p:tav>
                                      </p:tavLst>
                                    </p:anim>
                                    <p:anim calcmode="lin" valueType="num">
                                      <p:cBhvr additive="base">
                                        <p:cTn id="39" dur="700" fill="hold" decel="100000"/>
                                        <p:tgtEl>
                                          <p:spTgt spid="1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30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700"/>
                                        <p:tgtEl>
                                          <p:spTgt spid="8"/>
                                        </p:tgtEl>
                                      </p:cBhvr>
                                    </p:animEffect>
                                    <p:anim calcmode="lin" valueType="num">
                                      <p:cBhvr additive="base">
                                        <p:cTn id="43" dur="700" fill="hold" decel="100000"/>
                                        <p:tgtEl>
                                          <p:spTgt spid="8"/>
                                        </p:tgtEl>
                                        <p:attrNameLst>
                                          <p:attrName>ppt_x</p:attrName>
                                        </p:attrNameLst>
                                      </p:cBhvr>
                                      <p:tavLst>
                                        <p:tav tm="0">
                                          <p:val>
                                            <p:strVal val="#ppt_x"/>
                                          </p:val>
                                        </p:tav>
                                        <p:tav tm="100000">
                                          <p:val>
                                            <p:strVal val="#ppt_x"/>
                                          </p:val>
                                        </p:tav>
                                      </p:tavLst>
                                    </p:anim>
                                    <p:anim calcmode="lin" valueType="num">
                                      <p:cBhvr additive="base">
                                        <p:cTn id="44" dur="700" fill="hold" decel="100000"/>
                                        <p:tgtEl>
                                          <p:spTgt spid="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30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700"/>
                                        <p:tgtEl>
                                          <p:spTgt spid="9"/>
                                        </p:tgtEl>
                                      </p:cBhvr>
                                    </p:animEffect>
                                    <p:anim calcmode="lin" valueType="num">
                                      <p:cBhvr additive="base">
                                        <p:cTn id="48" dur="700" fill="hold" decel="100000"/>
                                        <p:tgtEl>
                                          <p:spTgt spid="9"/>
                                        </p:tgtEl>
                                        <p:attrNameLst>
                                          <p:attrName>ppt_x</p:attrName>
                                        </p:attrNameLst>
                                      </p:cBhvr>
                                      <p:tavLst>
                                        <p:tav tm="0">
                                          <p:val>
                                            <p:strVal val="#ppt_x"/>
                                          </p:val>
                                        </p:tav>
                                        <p:tav tm="100000">
                                          <p:val>
                                            <p:strVal val="#ppt_x"/>
                                          </p:val>
                                        </p:tav>
                                      </p:tavLst>
                                    </p:anim>
                                    <p:anim calcmode="lin" valueType="num">
                                      <p:cBhvr additive="base">
                                        <p:cTn id="49" dur="700" fill="hold" decel="100000"/>
                                        <p:tgtEl>
                                          <p:spTgt spid="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left)">
                                      <p:cBhvr>
                                        <p:cTn id="54" dur="500"/>
                                        <p:tgtEl>
                                          <p:spTgt spid="12"/>
                                        </p:tgtEl>
                                      </p:cBhvr>
                                    </p:animEffect>
                                  </p:childTnLst>
                                </p:cTn>
                              </p:par>
                              <p:par>
                                <p:cTn id="55" presetID="42" presetClass="entr" presetSubtype="0" fill="hold" grpId="0" nodeType="withEffect">
                                  <p:stCondLst>
                                    <p:cond delay="30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700"/>
                                        <p:tgtEl>
                                          <p:spTgt spid="13"/>
                                        </p:tgtEl>
                                      </p:cBhvr>
                                    </p:animEffect>
                                    <p:anim calcmode="lin" valueType="num">
                                      <p:cBhvr additive="base">
                                        <p:cTn id="58" dur="700" fill="hold" decel="100000"/>
                                        <p:tgtEl>
                                          <p:spTgt spid="13"/>
                                        </p:tgtEl>
                                        <p:attrNameLst>
                                          <p:attrName>ppt_x</p:attrName>
                                        </p:attrNameLst>
                                      </p:cBhvr>
                                      <p:tavLst>
                                        <p:tav tm="0">
                                          <p:val>
                                            <p:strVal val="#ppt_x"/>
                                          </p:val>
                                        </p:tav>
                                        <p:tav tm="100000">
                                          <p:val>
                                            <p:strVal val="#ppt_x"/>
                                          </p:val>
                                        </p:tav>
                                      </p:tavLst>
                                    </p:anim>
                                    <p:anim calcmode="lin" valueType="num">
                                      <p:cBhvr additive="base">
                                        <p:cTn id="59" dur="700" fill="hold" decel="100000"/>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30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700"/>
                                        <p:tgtEl>
                                          <p:spTgt spid="14"/>
                                        </p:tgtEl>
                                      </p:cBhvr>
                                    </p:animEffect>
                                    <p:anim calcmode="lin" valueType="num">
                                      <p:cBhvr additive="base">
                                        <p:cTn id="63" dur="700" fill="hold" decel="100000"/>
                                        <p:tgtEl>
                                          <p:spTgt spid="14"/>
                                        </p:tgtEl>
                                        <p:attrNameLst>
                                          <p:attrName>ppt_x</p:attrName>
                                        </p:attrNameLst>
                                      </p:cBhvr>
                                      <p:tavLst>
                                        <p:tav tm="0">
                                          <p:val>
                                            <p:strVal val="#ppt_x"/>
                                          </p:val>
                                        </p:tav>
                                        <p:tav tm="100000">
                                          <p:val>
                                            <p:strVal val="#ppt_x"/>
                                          </p:val>
                                        </p:tav>
                                      </p:tavLst>
                                    </p:anim>
                                    <p:anim calcmode="lin" valueType="num">
                                      <p:cBhvr additive="base">
                                        <p:cTn id="64" dur="700" fill="hold" decel="100000"/>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3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700"/>
                                        <p:tgtEl>
                                          <p:spTgt spid="15"/>
                                        </p:tgtEl>
                                      </p:cBhvr>
                                    </p:animEffect>
                                    <p:anim calcmode="lin" valueType="num">
                                      <p:cBhvr additive="base">
                                        <p:cTn id="68" dur="700" fill="hold" decel="100000"/>
                                        <p:tgtEl>
                                          <p:spTgt spid="15"/>
                                        </p:tgtEl>
                                        <p:attrNameLst>
                                          <p:attrName>ppt_x</p:attrName>
                                        </p:attrNameLst>
                                      </p:cBhvr>
                                      <p:tavLst>
                                        <p:tav tm="0">
                                          <p:val>
                                            <p:strVal val="#ppt_x"/>
                                          </p:val>
                                        </p:tav>
                                        <p:tav tm="100000">
                                          <p:val>
                                            <p:strVal val="#ppt_x"/>
                                          </p:val>
                                        </p:tav>
                                      </p:tavLst>
                                    </p:anim>
                                    <p:anim calcmode="lin" valueType="num">
                                      <p:cBhvr additive="base">
                                        <p:cTn id="69" dur="700" fill="hold" decel="100000"/>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30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700"/>
                                        <p:tgtEl>
                                          <p:spTgt spid="16"/>
                                        </p:tgtEl>
                                      </p:cBhvr>
                                    </p:animEffect>
                                    <p:anim calcmode="lin" valueType="num">
                                      <p:cBhvr additive="base">
                                        <p:cTn id="73" dur="700" fill="hold" decel="100000"/>
                                        <p:tgtEl>
                                          <p:spTgt spid="16"/>
                                        </p:tgtEl>
                                        <p:attrNameLst>
                                          <p:attrName>ppt_x</p:attrName>
                                        </p:attrNameLst>
                                      </p:cBhvr>
                                      <p:tavLst>
                                        <p:tav tm="0">
                                          <p:val>
                                            <p:strVal val="#ppt_x"/>
                                          </p:val>
                                        </p:tav>
                                        <p:tav tm="100000">
                                          <p:val>
                                            <p:strVal val="#ppt_x"/>
                                          </p:val>
                                        </p:tav>
                                      </p:tavLst>
                                    </p:anim>
                                    <p:anim calcmode="lin" valueType="num">
                                      <p:cBhvr additive="base">
                                        <p:cTn id="74" dur="700" fill="hold" decel="100000"/>
                                        <p:tgtEl>
                                          <p:spTgt spid="16"/>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wipe(left)">
                                      <p:cBhvr>
                                        <p:cTn id="79" dur="500"/>
                                        <p:tgtEl>
                                          <p:spTgt spid="17"/>
                                        </p:tgtEl>
                                      </p:cBhvr>
                                    </p:animEffect>
                                  </p:childTnLst>
                                </p:cTn>
                              </p:par>
                              <p:par>
                                <p:cTn id="80" presetID="53" presetClass="entr" presetSubtype="16" fill="hold" grpId="0" nodeType="withEffect">
                                  <p:stCondLst>
                                    <p:cond delay="300"/>
                                  </p:stCondLst>
                                  <p:childTnLst>
                                    <p:set>
                                      <p:cBhvr>
                                        <p:cTn id="81" dur="1" fill="hold">
                                          <p:stCondLst>
                                            <p:cond delay="0"/>
                                          </p:stCondLst>
                                        </p:cTn>
                                        <p:tgtEl>
                                          <p:spTgt spid="18"/>
                                        </p:tgtEl>
                                        <p:attrNameLst>
                                          <p:attrName>style.visibility</p:attrName>
                                        </p:attrNameLst>
                                      </p:cBhvr>
                                      <p:to>
                                        <p:strVal val="visible"/>
                                      </p:to>
                                    </p:set>
                                    <p:anim calcmode="lin" valueType="num">
                                      <p:cBhvr additive="base">
                                        <p:cTn id="82" dur="600" fill="hold" decel="100000"/>
                                        <p:tgtEl>
                                          <p:spTgt spid="18"/>
                                        </p:tgtEl>
                                        <p:attrNameLst>
                                          <p:attrName>ppt_w</p:attrName>
                                        </p:attrNameLst>
                                      </p:cBhvr>
                                      <p:tavLst>
                                        <p:tav tm="0">
                                          <p:val>
                                            <p:strVal val="0"/>
                                          </p:val>
                                        </p:tav>
                                        <p:tav tm="100000">
                                          <p:val>
                                            <p:strVal val="#ppt_w"/>
                                          </p:val>
                                        </p:tav>
                                      </p:tavLst>
                                    </p:anim>
                                    <p:anim calcmode="lin" valueType="num">
                                      <p:cBhvr additive="base">
                                        <p:cTn id="83" dur="600" fill="hold" decel="100000"/>
                                        <p:tgtEl>
                                          <p:spTgt spid="18"/>
                                        </p:tgtEl>
                                        <p:attrNameLst>
                                          <p:attrName>ppt_h</p:attrName>
                                        </p:attrNameLst>
                                      </p:cBhvr>
                                      <p:tavLst>
                                        <p:tav tm="0">
                                          <p:val>
                                            <p:strVal val="0"/>
                                          </p:val>
                                        </p:tav>
                                        <p:tav tm="100000">
                                          <p:val>
                                            <p:strVal val="#ppt_h"/>
                                          </p:val>
                                        </p:tav>
                                      </p:tavLst>
                                    </p:anim>
                                    <p:animEffect transition="in" filter="fade">
                                      <p:cBhvr>
                                        <p:cTn id="84" dur="600"/>
                                        <p:tgtEl>
                                          <p:spTgt spid="18"/>
                                        </p:tgtEl>
                                      </p:cBhvr>
                                    </p:animEffect>
                                  </p:childTnLst>
                                </p:cTn>
                              </p:par>
                              <p:par>
                                <p:cTn id="85" presetID="53" presetClass="entr" presetSubtype="16" fill="hold" grpId="0" nodeType="withEffect">
                                  <p:stCondLst>
                                    <p:cond delay="300"/>
                                  </p:stCondLst>
                                  <p:childTnLst>
                                    <p:set>
                                      <p:cBhvr>
                                        <p:cTn id="86" dur="1" fill="hold">
                                          <p:stCondLst>
                                            <p:cond delay="0"/>
                                          </p:stCondLst>
                                        </p:cTn>
                                        <p:tgtEl>
                                          <p:spTgt spid="19"/>
                                        </p:tgtEl>
                                        <p:attrNameLst>
                                          <p:attrName>style.visibility</p:attrName>
                                        </p:attrNameLst>
                                      </p:cBhvr>
                                      <p:to>
                                        <p:strVal val="visible"/>
                                      </p:to>
                                    </p:set>
                                    <p:anim calcmode="lin" valueType="num">
                                      <p:cBhvr additive="base">
                                        <p:cTn id="87" dur="600" fill="hold" decel="100000"/>
                                        <p:tgtEl>
                                          <p:spTgt spid="19"/>
                                        </p:tgtEl>
                                        <p:attrNameLst>
                                          <p:attrName>ppt_w</p:attrName>
                                        </p:attrNameLst>
                                      </p:cBhvr>
                                      <p:tavLst>
                                        <p:tav tm="0">
                                          <p:val>
                                            <p:strVal val="0"/>
                                          </p:val>
                                        </p:tav>
                                        <p:tav tm="100000">
                                          <p:val>
                                            <p:strVal val="#ppt_w"/>
                                          </p:val>
                                        </p:tav>
                                      </p:tavLst>
                                    </p:anim>
                                    <p:anim calcmode="lin" valueType="num">
                                      <p:cBhvr additive="base">
                                        <p:cTn id="88" dur="600" fill="hold" decel="100000"/>
                                        <p:tgtEl>
                                          <p:spTgt spid="19"/>
                                        </p:tgtEl>
                                        <p:attrNameLst>
                                          <p:attrName>ppt_h</p:attrName>
                                        </p:attrNameLst>
                                      </p:cBhvr>
                                      <p:tavLst>
                                        <p:tav tm="0">
                                          <p:val>
                                            <p:strVal val="0"/>
                                          </p:val>
                                        </p:tav>
                                        <p:tav tm="100000">
                                          <p:val>
                                            <p:strVal val="#ppt_h"/>
                                          </p:val>
                                        </p:tav>
                                      </p:tavLst>
                                    </p:anim>
                                    <p:animEffect transition="in" filter="fade">
                                      <p:cBhvr>
                                        <p:cTn id="89" dur="600"/>
                                        <p:tgtEl>
                                          <p:spTgt spid="19"/>
                                        </p:tgtEl>
                                      </p:cBhvr>
                                    </p:animEffect>
                                  </p:childTnLst>
                                </p:cTn>
                              </p:par>
                              <p:par>
                                <p:cTn id="90" presetID="53" presetClass="entr" presetSubtype="16" fill="hold" grpId="0" nodeType="withEffect">
                                  <p:stCondLst>
                                    <p:cond delay="300"/>
                                  </p:stCondLst>
                                  <p:childTnLst>
                                    <p:set>
                                      <p:cBhvr>
                                        <p:cTn id="91" dur="1" fill="hold">
                                          <p:stCondLst>
                                            <p:cond delay="0"/>
                                          </p:stCondLst>
                                        </p:cTn>
                                        <p:tgtEl>
                                          <p:spTgt spid="20"/>
                                        </p:tgtEl>
                                        <p:attrNameLst>
                                          <p:attrName>style.visibility</p:attrName>
                                        </p:attrNameLst>
                                      </p:cBhvr>
                                      <p:to>
                                        <p:strVal val="visible"/>
                                      </p:to>
                                    </p:set>
                                    <p:anim calcmode="lin" valueType="num">
                                      <p:cBhvr additive="base">
                                        <p:cTn id="92" dur="600" fill="hold" decel="100000"/>
                                        <p:tgtEl>
                                          <p:spTgt spid="20"/>
                                        </p:tgtEl>
                                        <p:attrNameLst>
                                          <p:attrName>ppt_w</p:attrName>
                                        </p:attrNameLst>
                                      </p:cBhvr>
                                      <p:tavLst>
                                        <p:tav tm="0">
                                          <p:val>
                                            <p:strVal val="0"/>
                                          </p:val>
                                        </p:tav>
                                        <p:tav tm="100000">
                                          <p:val>
                                            <p:strVal val="#ppt_w"/>
                                          </p:val>
                                        </p:tav>
                                      </p:tavLst>
                                    </p:anim>
                                    <p:anim calcmode="lin" valueType="num">
                                      <p:cBhvr additive="base">
                                        <p:cTn id="93" dur="600" fill="hold" decel="100000"/>
                                        <p:tgtEl>
                                          <p:spTgt spid="20"/>
                                        </p:tgtEl>
                                        <p:attrNameLst>
                                          <p:attrName>ppt_h</p:attrName>
                                        </p:attrNameLst>
                                      </p:cBhvr>
                                      <p:tavLst>
                                        <p:tav tm="0">
                                          <p:val>
                                            <p:strVal val="0"/>
                                          </p:val>
                                        </p:tav>
                                        <p:tav tm="100000">
                                          <p:val>
                                            <p:strVal val="#ppt_h"/>
                                          </p:val>
                                        </p:tav>
                                      </p:tavLst>
                                    </p:anim>
                                    <p:animEffect transition="in" filter="fade">
                                      <p:cBhvr>
                                        <p:cTn id="94" dur="600"/>
                                        <p:tgtEl>
                                          <p:spTgt spid="20"/>
                                        </p:tgtEl>
                                      </p:cBhvr>
                                    </p:animEffect>
                                  </p:childTnLst>
                                </p:cTn>
                              </p:par>
                              <p:par>
                                <p:cTn id="95" presetID="53" presetClass="entr" presetSubtype="16" fill="hold" grpId="0" nodeType="withEffect">
                                  <p:stCondLst>
                                    <p:cond delay="300"/>
                                  </p:stCondLst>
                                  <p:childTnLst>
                                    <p:set>
                                      <p:cBhvr>
                                        <p:cTn id="96" dur="1" fill="hold">
                                          <p:stCondLst>
                                            <p:cond delay="0"/>
                                          </p:stCondLst>
                                        </p:cTn>
                                        <p:tgtEl>
                                          <p:spTgt spid="21"/>
                                        </p:tgtEl>
                                        <p:attrNameLst>
                                          <p:attrName>style.visibility</p:attrName>
                                        </p:attrNameLst>
                                      </p:cBhvr>
                                      <p:to>
                                        <p:strVal val="visible"/>
                                      </p:to>
                                    </p:set>
                                    <p:anim calcmode="lin" valueType="num">
                                      <p:cBhvr additive="base">
                                        <p:cTn id="97" dur="600" fill="hold" decel="100000"/>
                                        <p:tgtEl>
                                          <p:spTgt spid="21"/>
                                        </p:tgtEl>
                                        <p:attrNameLst>
                                          <p:attrName>ppt_w</p:attrName>
                                        </p:attrNameLst>
                                      </p:cBhvr>
                                      <p:tavLst>
                                        <p:tav tm="0">
                                          <p:val>
                                            <p:strVal val="0"/>
                                          </p:val>
                                        </p:tav>
                                        <p:tav tm="100000">
                                          <p:val>
                                            <p:strVal val="#ppt_w"/>
                                          </p:val>
                                        </p:tav>
                                      </p:tavLst>
                                    </p:anim>
                                    <p:anim calcmode="lin" valueType="num">
                                      <p:cBhvr additive="base">
                                        <p:cTn id="98" dur="600" fill="hold" decel="100000"/>
                                        <p:tgtEl>
                                          <p:spTgt spid="21"/>
                                        </p:tgtEl>
                                        <p:attrNameLst>
                                          <p:attrName>ppt_h</p:attrName>
                                        </p:attrNameLst>
                                      </p:cBhvr>
                                      <p:tavLst>
                                        <p:tav tm="0">
                                          <p:val>
                                            <p:strVal val="0"/>
                                          </p:val>
                                        </p:tav>
                                        <p:tav tm="100000">
                                          <p:val>
                                            <p:strVal val="#ppt_h"/>
                                          </p:val>
                                        </p:tav>
                                      </p:tavLst>
                                    </p:anim>
                                    <p:animEffect transition="in" filter="fade">
                                      <p:cBhvr>
                                        <p:cTn id="99" dur="600"/>
                                        <p:tgtEl>
                                          <p:spTgt spid="21"/>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fade">
                                      <p:cBhvr>
                                        <p:cTn id="104"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Architecture: a MERN web app in Docker</a:t>
            </a:r>
            <a:endParaRPr lang="en-US" sz="3200" dirty="0"/>
          </a:p>
        </p:txBody>
      </p:sp>
      <p:sp>
        <p:nvSpPr>
          <p:cNvPr id="3" name="A0_0_zoom_archc"/>
          <p:cNvSpPr/>
          <p:nvPr/>
        </p:nvSpPr>
        <p:spPr>
          <a:xfrm>
            <a:off x="812800" y="1587500"/>
            <a:ext cx="7289800" cy="3917950"/>
          </a:xfrm>
          <a:prstGeom prst="roundRect">
            <a:avLst>
              <a:gd name="adj" fmla="val 1867"/>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4" name="A0_0_zoom_archi" descr="Architecture diagram: the student’s browser loads the React client, which calls the Express server through /api; the server holds the REST API, the rule engine and the LLM service, and uses MongoDB, an uploads folder and an optional LLM">    </p:cNvPr>
          <p:cNvPicPr>
            <a:picLocks noChangeAspect="1"/>
          </p:cNvPicPr>
          <p:nvPr/>
        </p:nvPicPr>
        <p:blipFill>
          <a:blip r:embed="rId1"/>
          <a:stretch>
            <a:fillRect/>
          </a:stretch>
        </p:blipFill>
        <p:spPr>
          <a:xfrm>
            <a:off x="965200" y="1741183"/>
            <a:ext cx="6985000" cy="3610585"/>
          </a:xfrm>
          <a:prstGeom prst="rect">
            <a:avLst/>
          </a:prstGeom>
        </p:spPr>
      </p:pic>
      <p:sp>
        <p:nvSpPr>
          <p:cNvPr id="5" name="A0_600_right_t0"/>
          <p:cNvSpPr txBox="1"/>
          <p:nvPr/>
        </p:nvSpPr>
        <p:spPr>
          <a:xfrm>
            <a:off x="8407400" y="2095500"/>
            <a:ext cx="2971800" cy="381000"/>
          </a:xfrm>
          <a:prstGeom prst="rect">
            <a:avLst/>
          </a:prstGeom>
          <a:noFill/>
          <a:ln/>
        </p:spPr>
        <p:txBody>
          <a:bodyPr wrap="square" lIns="0" tIns="0" rIns="0" bIns="0" rtlCol="0" anchor="t"/>
          <a:lstStyle/>
          <a:p>
            <a:pPr indent="0" marL="0">
              <a:buNone/>
            </a:pPr>
            <a:r>
              <a:rPr lang="en-US" sz="1500" b="1" dirty="0">
                <a:solidFill>
                  <a:srgbClr val="1D2A3A"/>
                </a:solidFill>
                <a:latin typeface="Calibri" pitchFamily="34" charset="0"/>
                <a:ea typeface="Calibri" pitchFamily="34" charset="-122"/>
                <a:cs typeface="Calibri" pitchFamily="34" charset="-120"/>
              </a:rPr>
              <a:t>React </a:t>
            </a:r>
            <a:pPr indent="0" marL="0">
              <a:buNone/>
            </a:pPr>
            <a:r>
              <a:rPr lang="en-US" sz="1500" dirty="0">
                <a:solidFill>
                  <a:srgbClr val="4A5568"/>
                </a:solidFill>
                <a:latin typeface="Calibri" pitchFamily="34" charset="0"/>
                <a:ea typeface="Calibri" pitchFamily="34" charset="-122"/>
                <a:cs typeface="Calibri" pitchFamily="34" charset="-120"/>
              </a:rPr>
              <a:t>front end</a:t>
            </a:r>
            <a:endParaRPr lang="en-US" sz="1500" dirty="0"/>
          </a:p>
        </p:txBody>
      </p:sp>
      <p:sp>
        <p:nvSpPr>
          <p:cNvPr id="6" name="A0_800_right_t1"/>
          <p:cNvSpPr txBox="1"/>
          <p:nvPr/>
        </p:nvSpPr>
        <p:spPr>
          <a:xfrm>
            <a:off x="8407400" y="2641600"/>
            <a:ext cx="2971800" cy="381000"/>
          </a:xfrm>
          <a:prstGeom prst="rect">
            <a:avLst/>
          </a:prstGeom>
          <a:noFill/>
          <a:ln/>
        </p:spPr>
        <p:txBody>
          <a:bodyPr wrap="square" lIns="0" tIns="0" rIns="0" bIns="0" rtlCol="0" anchor="t"/>
          <a:lstStyle/>
          <a:p>
            <a:pPr indent="0" marL="0">
              <a:buNone/>
            </a:pPr>
            <a:r>
              <a:rPr lang="en-US" sz="1500" b="1" dirty="0">
                <a:solidFill>
                  <a:srgbClr val="1D2A3A"/>
                </a:solidFill>
                <a:latin typeface="Calibri" pitchFamily="34" charset="0"/>
                <a:ea typeface="Calibri" pitchFamily="34" charset="-122"/>
                <a:cs typeface="Calibri" pitchFamily="34" charset="-120"/>
              </a:rPr>
              <a:t>Express + Node.js </a:t>
            </a:r>
            <a:pPr indent="0" marL="0">
              <a:buNone/>
            </a:pPr>
            <a:r>
              <a:rPr lang="en-US" sz="1500" dirty="0">
                <a:solidFill>
                  <a:srgbClr val="4A5568"/>
                </a:solidFill>
                <a:latin typeface="Calibri" pitchFamily="34" charset="0"/>
                <a:ea typeface="Calibri" pitchFamily="34" charset="-122"/>
                <a:cs typeface="Calibri" pitchFamily="34" charset="-120"/>
              </a:rPr>
              <a:t>API</a:t>
            </a:r>
            <a:endParaRPr lang="en-US" sz="1500" dirty="0"/>
          </a:p>
        </p:txBody>
      </p:sp>
      <p:sp>
        <p:nvSpPr>
          <p:cNvPr id="7" name="A0_1000_right_t2"/>
          <p:cNvSpPr txBox="1"/>
          <p:nvPr/>
        </p:nvSpPr>
        <p:spPr>
          <a:xfrm>
            <a:off x="8407400" y="3187700"/>
            <a:ext cx="2971800" cy="381000"/>
          </a:xfrm>
          <a:prstGeom prst="rect">
            <a:avLst/>
          </a:prstGeom>
          <a:noFill/>
          <a:ln/>
        </p:spPr>
        <p:txBody>
          <a:bodyPr wrap="square" lIns="0" tIns="0" rIns="0" bIns="0" rtlCol="0" anchor="t"/>
          <a:lstStyle/>
          <a:p>
            <a:pPr indent="0" marL="0">
              <a:buNone/>
            </a:pPr>
            <a:r>
              <a:rPr lang="en-US" sz="1500" b="1" dirty="0">
                <a:solidFill>
                  <a:srgbClr val="1D2A3A"/>
                </a:solidFill>
                <a:latin typeface="Calibri" pitchFamily="34" charset="0"/>
                <a:ea typeface="Calibri" pitchFamily="34" charset="-122"/>
                <a:cs typeface="Calibri" pitchFamily="34" charset="-120"/>
              </a:rPr>
              <a:t>MongoDB </a:t>
            </a:r>
            <a:pPr indent="0" marL="0">
              <a:buNone/>
            </a:pPr>
            <a:r>
              <a:rPr lang="en-US" sz="1500" dirty="0">
                <a:solidFill>
                  <a:srgbClr val="4A5568"/>
                </a:solidFill>
                <a:latin typeface="Calibri" pitchFamily="34" charset="0"/>
                <a:ea typeface="Calibri" pitchFamily="34" charset="-122"/>
                <a:cs typeface="Calibri" pitchFamily="34" charset="-120"/>
              </a:rPr>
              <a:t>database</a:t>
            </a:r>
            <a:endParaRPr lang="en-US" sz="1500" dirty="0"/>
          </a:p>
        </p:txBody>
      </p:sp>
      <p:sp>
        <p:nvSpPr>
          <p:cNvPr id="8" name="A0_1200_right_t3"/>
          <p:cNvSpPr txBox="1"/>
          <p:nvPr/>
        </p:nvSpPr>
        <p:spPr>
          <a:xfrm>
            <a:off x="8407400" y="3733800"/>
            <a:ext cx="2971800" cy="381000"/>
          </a:xfrm>
          <a:prstGeom prst="rect">
            <a:avLst/>
          </a:prstGeom>
          <a:noFill/>
          <a:ln/>
        </p:spPr>
        <p:txBody>
          <a:bodyPr wrap="square" lIns="0" tIns="0" rIns="0" bIns="0" rtlCol="0" anchor="t"/>
          <a:lstStyle/>
          <a:p>
            <a:pPr indent="0" marL="0">
              <a:buNone/>
            </a:pPr>
            <a:r>
              <a:rPr lang="en-US" sz="1500" b="1" dirty="0">
                <a:solidFill>
                  <a:srgbClr val="1D2A3A"/>
                </a:solidFill>
                <a:latin typeface="Calibri" pitchFamily="34" charset="0"/>
                <a:ea typeface="Calibri" pitchFamily="34" charset="-122"/>
                <a:cs typeface="Calibri" pitchFamily="34" charset="-120"/>
              </a:rPr>
              <a:t>Llama 3.2 </a:t>
            </a:r>
            <a:pPr indent="0" marL="0">
              <a:buNone/>
            </a:pPr>
            <a:r>
              <a:rPr lang="en-US" sz="1500" dirty="0">
                <a:solidFill>
                  <a:srgbClr val="4A5568"/>
                </a:solidFill>
                <a:latin typeface="Calibri" pitchFamily="34" charset="0"/>
                <a:ea typeface="Calibri" pitchFamily="34" charset="-122"/>
                <a:cs typeface="Calibri" pitchFamily="34" charset="-120"/>
              </a:rPr>
              <a:t>via Ollama (optional)</a:t>
            </a:r>
            <a:endParaRPr lang="en-US" sz="1500" dirty="0"/>
          </a:p>
        </p:txBody>
      </p:sp>
      <p:sp>
        <p:nvSpPr>
          <p:cNvPr id="9" name="A0_1400_right_t4"/>
          <p:cNvSpPr txBox="1"/>
          <p:nvPr/>
        </p:nvSpPr>
        <p:spPr>
          <a:xfrm>
            <a:off x="8407400" y="4279900"/>
            <a:ext cx="2971800" cy="381000"/>
          </a:xfrm>
          <a:prstGeom prst="rect">
            <a:avLst/>
          </a:prstGeom>
          <a:noFill/>
          <a:ln/>
        </p:spPr>
        <p:txBody>
          <a:bodyPr wrap="square" lIns="0" tIns="0" rIns="0" bIns="0" rtlCol="0" anchor="t"/>
          <a:lstStyle/>
          <a:p>
            <a:pPr indent="0" marL="0">
              <a:buNone/>
            </a:pPr>
            <a:r>
              <a:rPr lang="en-US" sz="1500" b="1" dirty="0">
                <a:solidFill>
                  <a:srgbClr val="1D2A3A"/>
                </a:solidFill>
                <a:latin typeface="Calibri" pitchFamily="34" charset="0"/>
                <a:ea typeface="Calibri" pitchFamily="34" charset="-122"/>
                <a:cs typeface="Calibri" pitchFamily="34" charset="-120"/>
              </a:rPr>
              <a:t>Docker Compose </a:t>
            </a:r>
            <a:pPr indent="0" marL="0">
              <a:buNone/>
            </a:pPr>
            <a:r>
              <a:rPr lang="en-US" sz="1500" dirty="0">
                <a:solidFill>
                  <a:srgbClr val="4A5568"/>
                </a:solidFill>
                <a:latin typeface="Calibri" pitchFamily="34" charset="0"/>
                <a:ea typeface="Calibri" pitchFamily="34" charset="-122"/>
                <a:cs typeface="Calibri" pitchFamily="34" charset="-120"/>
              </a:rPr>
              <a:t>starts it all</a:t>
            </a:r>
            <a:endParaRPr lang="en-US" sz="15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600" fill="hold" decel="100000"/>
                                        <p:tgtEl>
                                          <p:spTgt spid="3"/>
                                        </p:tgtEl>
                                        <p:attrNameLst>
                                          <p:attrName>ppt_w</p:attrName>
                                        </p:attrNameLst>
                                      </p:cBhvr>
                                      <p:tavLst>
                                        <p:tav tm="0">
                                          <p:val>
                                            <p:strVal val="0"/>
                                          </p:val>
                                        </p:tav>
                                        <p:tav tm="100000">
                                          <p:val>
                                            <p:strVal val="#ppt_w"/>
                                          </p:val>
                                        </p:tav>
                                      </p:tavLst>
                                    </p:anim>
                                    <p:anim calcmode="lin" valueType="num">
                                      <p:cBhvr additive="base">
                                        <p:cTn id="8" dur="600" fill="hold" decel="100000"/>
                                        <p:tgtEl>
                                          <p:spTgt spid="3"/>
                                        </p:tgtEl>
                                        <p:attrNameLst>
                                          <p:attrName>ppt_h</p:attrName>
                                        </p:attrNameLst>
                                      </p:cBhvr>
                                      <p:tavLst>
                                        <p:tav tm="0">
                                          <p:val>
                                            <p:strVal val="0"/>
                                          </p:val>
                                        </p:tav>
                                        <p:tav tm="100000">
                                          <p:val>
                                            <p:strVal val="#ppt_h"/>
                                          </p:val>
                                        </p:tav>
                                      </p:tavLst>
                                    </p:anim>
                                    <p:animEffect transition="in" filter="fade">
                                      <p:cBhvr>
                                        <p:cTn id="9" dur="6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600" fill="hold" decel="100000"/>
                                        <p:tgtEl>
                                          <p:spTgt spid="4"/>
                                        </p:tgtEl>
                                        <p:attrNameLst>
                                          <p:attrName>ppt_w</p:attrName>
                                        </p:attrNameLst>
                                      </p:cBhvr>
                                      <p:tavLst>
                                        <p:tav tm="0">
                                          <p:val>
                                            <p:strVal val="0"/>
                                          </p:val>
                                        </p:tav>
                                        <p:tav tm="100000">
                                          <p:val>
                                            <p:strVal val="#ppt_w"/>
                                          </p:val>
                                        </p:tav>
                                      </p:tavLst>
                                    </p:anim>
                                    <p:anim calcmode="lin" valueType="num">
                                      <p:cBhvr additive="base">
                                        <p:cTn id="13" dur="600" fill="hold" decel="100000"/>
                                        <p:tgtEl>
                                          <p:spTgt spid="4"/>
                                        </p:tgtEl>
                                        <p:attrNameLst>
                                          <p:attrName>ppt_h</p:attrName>
                                        </p:attrNameLst>
                                      </p:cBhvr>
                                      <p:tavLst>
                                        <p:tav tm="0">
                                          <p:val>
                                            <p:strVal val="0"/>
                                          </p:val>
                                        </p:tav>
                                        <p:tav tm="100000">
                                          <p:val>
                                            <p:strVal val="#ppt_h"/>
                                          </p:val>
                                        </p:tav>
                                      </p:tavLst>
                                    </p:anim>
                                    <p:animEffect transition="in" filter="fade">
                                      <p:cBhvr>
                                        <p:cTn id="14" dur="600"/>
                                        <p:tgtEl>
                                          <p:spTgt spid="4"/>
                                        </p:tgtEl>
                                      </p:cBhvr>
                                    </p:animEffect>
                                  </p:childTnLst>
                                </p:cTn>
                              </p:par>
                              <p:par>
                                <p:cTn id="15" presetID="42" presetClass="entr" presetSubtype="0" fill="hold" grpId="0" nodeType="withEffect">
                                  <p:stCondLst>
                                    <p:cond delay="6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decel="100000"/>
                                        <p:tgtEl>
                                          <p:spTgt spid="5"/>
                                        </p:tgtEl>
                                        <p:attrNameLst>
                                          <p:attrName>ppt_x</p:attrName>
                                        </p:attrNameLst>
                                      </p:cBhvr>
                                      <p:tavLst>
                                        <p:tav tm="0">
                                          <p:val>
                                            <p:strVal val="#ppt_x+.1"/>
                                          </p:val>
                                        </p:tav>
                                        <p:tav tm="100000">
                                          <p:val>
                                            <p:strVal val="#ppt_x"/>
                                          </p:val>
                                        </p:tav>
                                      </p:tavLst>
                                    </p:anim>
                                    <p:anim calcmode="lin" valueType="num">
                                      <p:cBhvr additive="base">
                                        <p:cTn id="19" dur="600" fill="hold" decel="100000"/>
                                        <p:tgtEl>
                                          <p:spTgt spid="5"/>
                                        </p:tgtEl>
                                        <p:attrNameLst>
                                          <p:attrName>ppt_y</p:attrName>
                                        </p:attrNameLst>
                                      </p:cBhvr>
                                      <p:tavLst>
                                        <p:tav tm="0">
                                          <p:val>
                                            <p:strVal val="#ppt_y"/>
                                          </p:val>
                                        </p:tav>
                                        <p:tav tm="100000">
                                          <p:val>
                                            <p:strVal val="#ppt_y"/>
                                          </p:val>
                                        </p:tav>
                                      </p:tavLst>
                                    </p:anim>
                                  </p:childTnLst>
                                </p:cTn>
                              </p:par>
                              <p:par>
                                <p:cTn id="20" presetID="42" presetClass="entr" presetSubtype="0" fill="hold" grpId="0" nodeType="withEffect">
                                  <p:stCondLst>
                                    <p:cond delay="8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anim calcmode="lin" valueType="num">
                                      <p:cBhvr additive="base">
                                        <p:cTn id="23" dur="600" fill="hold" decel="100000"/>
                                        <p:tgtEl>
                                          <p:spTgt spid="6"/>
                                        </p:tgtEl>
                                        <p:attrNameLst>
                                          <p:attrName>ppt_x</p:attrName>
                                        </p:attrNameLst>
                                      </p:cBhvr>
                                      <p:tavLst>
                                        <p:tav tm="0">
                                          <p:val>
                                            <p:strVal val="#ppt_x+.1"/>
                                          </p:val>
                                        </p:tav>
                                        <p:tav tm="100000">
                                          <p:val>
                                            <p:strVal val="#ppt_x"/>
                                          </p:val>
                                        </p:tav>
                                      </p:tavLst>
                                    </p:anim>
                                    <p:anim calcmode="lin" valueType="num">
                                      <p:cBhvr additive="base">
                                        <p:cTn id="24" dur="600" fill="hold" decel="100000"/>
                                        <p:tgtEl>
                                          <p:spTgt spid="6"/>
                                        </p:tgtEl>
                                        <p:attrNameLst>
                                          <p:attrName>ppt_y</p:attrName>
                                        </p:attrNameLst>
                                      </p:cBhvr>
                                      <p:tavLst>
                                        <p:tav tm="0">
                                          <p:val>
                                            <p:strVal val="#ppt_y"/>
                                          </p:val>
                                        </p:tav>
                                        <p:tav tm="100000">
                                          <p:val>
                                            <p:strVal val="#ppt_y"/>
                                          </p:val>
                                        </p:tav>
                                      </p:tavLst>
                                    </p:anim>
                                  </p:childTnLst>
                                </p:cTn>
                              </p:par>
                              <p:par>
                                <p:cTn id="25" presetID="42" presetClass="entr" presetSubtype="0" fill="hold" grpId="0" nodeType="withEffect">
                                  <p:stCondLst>
                                    <p:cond delay="10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anim calcmode="lin" valueType="num">
                                      <p:cBhvr additive="base">
                                        <p:cTn id="28" dur="600" fill="hold" decel="100000"/>
                                        <p:tgtEl>
                                          <p:spTgt spid="7"/>
                                        </p:tgtEl>
                                        <p:attrNameLst>
                                          <p:attrName>ppt_x</p:attrName>
                                        </p:attrNameLst>
                                      </p:cBhvr>
                                      <p:tavLst>
                                        <p:tav tm="0">
                                          <p:val>
                                            <p:strVal val="#ppt_x+.1"/>
                                          </p:val>
                                        </p:tav>
                                        <p:tav tm="100000">
                                          <p:val>
                                            <p:strVal val="#ppt_x"/>
                                          </p:val>
                                        </p:tav>
                                      </p:tavLst>
                                    </p:anim>
                                    <p:anim calcmode="lin" valueType="num">
                                      <p:cBhvr additive="base">
                                        <p:cTn id="29" dur="600" fill="hold" decel="100000"/>
                                        <p:tgtEl>
                                          <p:spTgt spid="7"/>
                                        </p:tgtEl>
                                        <p:attrNameLst>
                                          <p:attrName>ppt_y</p:attrName>
                                        </p:attrNameLst>
                                      </p:cBhvr>
                                      <p:tavLst>
                                        <p:tav tm="0">
                                          <p:val>
                                            <p:strVal val="#ppt_y"/>
                                          </p:val>
                                        </p:tav>
                                        <p:tav tm="100000">
                                          <p:val>
                                            <p:strVal val="#ppt_y"/>
                                          </p:val>
                                        </p:tav>
                                      </p:tavLst>
                                    </p:anim>
                                  </p:childTnLst>
                                </p:cTn>
                              </p:par>
                              <p:par>
                                <p:cTn id="30" presetID="42" presetClass="entr" presetSubtype="0" fill="hold" grpId="0" nodeType="withEffect">
                                  <p:stCondLst>
                                    <p:cond delay="120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600"/>
                                        <p:tgtEl>
                                          <p:spTgt spid="8"/>
                                        </p:tgtEl>
                                      </p:cBhvr>
                                    </p:animEffect>
                                    <p:anim calcmode="lin" valueType="num">
                                      <p:cBhvr additive="base">
                                        <p:cTn id="33" dur="600" fill="hold" decel="100000"/>
                                        <p:tgtEl>
                                          <p:spTgt spid="8"/>
                                        </p:tgtEl>
                                        <p:attrNameLst>
                                          <p:attrName>ppt_x</p:attrName>
                                        </p:attrNameLst>
                                      </p:cBhvr>
                                      <p:tavLst>
                                        <p:tav tm="0">
                                          <p:val>
                                            <p:strVal val="#ppt_x+.1"/>
                                          </p:val>
                                        </p:tav>
                                        <p:tav tm="100000">
                                          <p:val>
                                            <p:strVal val="#ppt_x"/>
                                          </p:val>
                                        </p:tav>
                                      </p:tavLst>
                                    </p:anim>
                                    <p:anim calcmode="lin" valueType="num">
                                      <p:cBhvr additive="base">
                                        <p:cTn id="34" dur="600" fill="hold" decel="100000"/>
                                        <p:tgtEl>
                                          <p:spTgt spid="8"/>
                                        </p:tgtEl>
                                        <p:attrNameLst>
                                          <p:attrName>ppt_y</p:attrName>
                                        </p:attrNameLst>
                                      </p:cBhvr>
                                      <p:tavLst>
                                        <p:tav tm="0">
                                          <p:val>
                                            <p:strVal val="#ppt_y"/>
                                          </p:val>
                                        </p:tav>
                                        <p:tav tm="100000">
                                          <p:val>
                                            <p:strVal val="#ppt_y"/>
                                          </p:val>
                                        </p:tav>
                                      </p:tavLst>
                                    </p:anim>
                                  </p:childTnLst>
                                </p:cTn>
                              </p:par>
                              <p:par>
                                <p:cTn id="35" presetID="42" presetClass="entr" presetSubtype="0" fill="hold" grpId="0" nodeType="withEffect">
                                  <p:stCondLst>
                                    <p:cond delay="140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600"/>
                                        <p:tgtEl>
                                          <p:spTgt spid="9"/>
                                        </p:tgtEl>
                                      </p:cBhvr>
                                    </p:animEffect>
                                    <p:anim calcmode="lin" valueType="num">
                                      <p:cBhvr additive="base">
                                        <p:cTn id="38" dur="600" fill="hold" decel="100000"/>
                                        <p:tgtEl>
                                          <p:spTgt spid="9"/>
                                        </p:tgtEl>
                                        <p:attrNameLst>
                                          <p:attrName>ppt_x</p:attrName>
                                        </p:attrNameLst>
                                      </p:cBhvr>
                                      <p:tavLst>
                                        <p:tav tm="0">
                                          <p:val>
                                            <p:strVal val="#ppt_x+.1"/>
                                          </p:val>
                                        </p:tav>
                                        <p:tav tm="100000">
                                          <p:val>
                                            <p:strVal val="#ppt_x"/>
                                          </p:val>
                                        </p:tav>
                                      </p:tavLst>
                                    </p:anim>
                                    <p:anim calcmode="lin" valueType="num">
                                      <p:cBhvr additive="base">
                                        <p:cTn id="39" dur="600" fill="hold" decel="100000"/>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UML class diagram</a:t>
            </a:r>
            <a:endParaRPr lang="en-US" sz="3200" dirty="0"/>
          </a:p>
        </p:txBody>
      </p:sp>
      <p:sp>
        <p:nvSpPr>
          <p:cNvPr id="3" name="A0_0_zoom_clsc"/>
          <p:cNvSpPr/>
          <p:nvPr/>
        </p:nvSpPr>
        <p:spPr>
          <a:xfrm>
            <a:off x="812800" y="1460500"/>
            <a:ext cx="10566400" cy="3302000"/>
          </a:xfrm>
          <a:prstGeom prst="roundRect">
            <a:avLst>
              <a:gd name="adj" fmla="val 2215"/>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4" name="A0_0_zoom_clsi" descr="UML class diagram with Student, Course, Task, Material, StudyLog, StudySchedule, StudySession, Reminder, RecommendationEngine and Recommendation, and the relationships between them">    </p:cNvPr>
          <p:cNvPicPr>
            <a:picLocks noChangeAspect="1"/>
          </p:cNvPicPr>
          <p:nvPr/>
        </p:nvPicPr>
        <p:blipFill>
          <a:blip r:embed="rId1"/>
          <a:stretch>
            <a:fillRect/>
          </a:stretch>
        </p:blipFill>
        <p:spPr>
          <a:xfrm>
            <a:off x="965200" y="1696865"/>
            <a:ext cx="10261600" cy="2829270"/>
          </a:xfrm>
          <a:prstGeom prst="rect">
            <a:avLst/>
          </a:prstGeom>
        </p:spPr>
      </p:pic>
      <p:sp>
        <p:nvSpPr>
          <p:cNvPr id="5" name="A0_700_rise_cap"/>
          <p:cNvSpPr txBox="1"/>
          <p:nvPr/>
        </p:nvSpPr>
        <p:spPr>
          <a:xfrm>
            <a:off x="812800" y="5016500"/>
            <a:ext cx="10160000" cy="698500"/>
          </a:xfrm>
          <a:prstGeom prst="rect">
            <a:avLst/>
          </a:prstGeom>
          <a:noFill/>
          <a:ln/>
        </p:spPr>
        <p:txBody>
          <a:bodyPr wrap="square" lIns="0" tIns="0" rIns="0" bIns="0" rtlCol="0" anchor="t"/>
          <a:lstStyle/>
          <a:p>
            <a:pPr indent="0" marL="0">
              <a:lnSpc>
                <a:spcPct val="115000"/>
              </a:lnSpc>
              <a:buNone/>
            </a:pPr>
            <a:r>
              <a:rPr lang="en-US" sz="1600" dirty="0">
                <a:solidFill>
                  <a:srgbClr val="4A5568"/>
                </a:solidFill>
                <a:latin typeface="Calibri" pitchFamily="34" charset="0"/>
                <a:ea typeface="Calibri" pitchFamily="34" charset="-122"/>
                <a:cs typeface="Calibri" pitchFamily="34" charset="-120"/>
              </a:rPr>
              <a:t>A </a:t>
            </a:r>
            <a:pPr indent="0" marL="0">
              <a:lnSpc>
                <a:spcPct val="115000"/>
              </a:lnSpc>
              <a:buNone/>
            </a:pPr>
            <a:r>
              <a:rPr lang="en-US" sz="1600" b="1" dirty="0">
                <a:solidFill>
                  <a:srgbClr val="1D2A3A"/>
                </a:solidFill>
                <a:latin typeface="Calibri" pitchFamily="34" charset="0"/>
                <a:ea typeface="Calibri" pitchFamily="34" charset="-122"/>
                <a:cs typeface="Calibri" pitchFamily="34" charset="-120"/>
              </a:rPr>
              <a:t>Student</a:t>
            </a:r>
            <a:pPr indent="0" marL="0">
              <a:lnSpc>
                <a:spcPct val="115000"/>
              </a:lnSpc>
              <a:buNone/>
            </a:pPr>
            <a:r>
              <a:rPr lang="en-US" sz="1600" dirty="0">
                <a:solidFill>
                  <a:srgbClr val="4A5568"/>
                </a:solidFill>
                <a:latin typeface="Calibri" pitchFamily="34" charset="0"/>
                <a:ea typeface="Calibri" pitchFamily="34" charset="-122"/>
                <a:cs typeface="Calibri" pitchFamily="34" charset="-120"/>
              </a:rPr>
              <a:t> creates </a:t>
            </a:r>
            <a:pPr indent="0" marL="0">
              <a:lnSpc>
                <a:spcPct val="115000"/>
              </a:lnSpc>
              <a:buNone/>
            </a:pPr>
            <a:r>
              <a:rPr lang="en-US" sz="1600" b="1" dirty="0">
                <a:solidFill>
                  <a:srgbClr val="1D2A3A"/>
                </a:solidFill>
                <a:latin typeface="Calibri" pitchFamily="34" charset="0"/>
                <a:ea typeface="Calibri" pitchFamily="34" charset="-122"/>
                <a:cs typeface="Calibri" pitchFamily="34" charset="-120"/>
              </a:rPr>
              <a:t>Courses</a:t>
            </a:r>
            <a:pPr indent="0" marL="0">
              <a:lnSpc>
                <a:spcPct val="115000"/>
              </a:lnSpc>
              <a:buNone/>
            </a:pPr>
            <a:r>
              <a:rPr lang="en-US" sz="1600" dirty="0">
                <a:solidFill>
                  <a:srgbClr val="4A5568"/>
                </a:solidFill>
                <a:latin typeface="Calibri" pitchFamily="34" charset="0"/>
                <a:ea typeface="Calibri" pitchFamily="34" charset="-122"/>
                <a:cs typeface="Calibri" pitchFamily="34" charset="-120"/>
              </a:rPr>
              <a:t>, which hold Tasks, Materials and Study Logs. The </a:t>
            </a:r>
            <a:pPr indent="0" marL="0">
              <a:lnSpc>
                <a:spcPct val="115000"/>
              </a:lnSpc>
              <a:buNone/>
            </a:pPr>
            <a:r>
              <a:rPr lang="en-US" sz="1600" b="1" dirty="0">
                <a:solidFill>
                  <a:srgbClr val="1D2A3A"/>
                </a:solidFill>
                <a:latin typeface="Calibri" pitchFamily="34" charset="0"/>
                <a:ea typeface="Calibri" pitchFamily="34" charset="-122"/>
                <a:cs typeface="Calibri" pitchFamily="34" charset="-120"/>
              </a:rPr>
              <a:t>RecommendationEngine</a:t>
            </a:r>
            <a:pPr indent="0" marL="0">
              <a:lnSpc>
                <a:spcPct val="115000"/>
              </a:lnSpc>
              <a:buNone/>
            </a:pPr>
            <a:r>
              <a:rPr lang="en-US" sz="1600" dirty="0">
                <a:solidFill>
                  <a:srgbClr val="4A5568"/>
                </a:solidFill>
                <a:latin typeface="Calibri" pitchFamily="34" charset="0"/>
                <a:ea typeface="Calibri" pitchFamily="34" charset="-122"/>
                <a:cs typeface="Calibri" pitchFamily="34" charset="-120"/>
              </a:rPr>
              <a:t> reads the student’s data and creates </a:t>
            </a:r>
            <a:pPr indent="0" marL="0">
              <a:lnSpc>
                <a:spcPct val="115000"/>
              </a:lnSpc>
              <a:buNone/>
            </a:pPr>
            <a:r>
              <a:rPr lang="en-US" sz="1600" b="1" dirty="0">
                <a:solidFill>
                  <a:srgbClr val="1D2A3A"/>
                </a:solidFill>
                <a:latin typeface="Calibri" pitchFamily="34" charset="0"/>
                <a:ea typeface="Calibri" pitchFamily="34" charset="-122"/>
                <a:cs typeface="Calibri" pitchFamily="34" charset="-120"/>
              </a:rPr>
              <a:t>Recommendations</a:t>
            </a:r>
            <a:pPr indent="0" marL="0">
              <a:lnSpc>
                <a:spcPct val="115000"/>
              </a:lnSpc>
              <a:buNone/>
            </a:pPr>
            <a:r>
              <a:rPr lang="en-US" sz="1600" dirty="0">
                <a:solidFill>
                  <a:srgbClr val="4A5568"/>
                </a:solidFill>
                <a:latin typeface="Calibri" pitchFamily="34" charset="0"/>
                <a:ea typeface="Calibri" pitchFamily="34" charset="-122"/>
                <a:cs typeface="Calibri" pitchFamily="34" charset="-120"/>
              </a:rPr>
              <a:t> that propose Study Sessions.</a:t>
            </a:r>
            <a:endParaRPr lang="en-US" sz="16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600" fill="hold" decel="100000"/>
                                        <p:tgtEl>
                                          <p:spTgt spid="3"/>
                                        </p:tgtEl>
                                        <p:attrNameLst>
                                          <p:attrName>ppt_w</p:attrName>
                                        </p:attrNameLst>
                                      </p:cBhvr>
                                      <p:tavLst>
                                        <p:tav tm="0">
                                          <p:val>
                                            <p:strVal val="0"/>
                                          </p:val>
                                        </p:tav>
                                        <p:tav tm="100000">
                                          <p:val>
                                            <p:strVal val="#ppt_w"/>
                                          </p:val>
                                        </p:tav>
                                      </p:tavLst>
                                    </p:anim>
                                    <p:anim calcmode="lin" valueType="num">
                                      <p:cBhvr additive="base">
                                        <p:cTn id="8" dur="600" fill="hold" decel="100000"/>
                                        <p:tgtEl>
                                          <p:spTgt spid="3"/>
                                        </p:tgtEl>
                                        <p:attrNameLst>
                                          <p:attrName>ppt_h</p:attrName>
                                        </p:attrNameLst>
                                      </p:cBhvr>
                                      <p:tavLst>
                                        <p:tav tm="0">
                                          <p:val>
                                            <p:strVal val="0"/>
                                          </p:val>
                                        </p:tav>
                                        <p:tav tm="100000">
                                          <p:val>
                                            <p:strVal val="#ppt_h"/>
                                          </p:val>
                                        </p:tav>
                                      </p:tavLst>
                                    </p:anim>
                                    <p:animEffect transition="in" filter="fade">
                                      <p:cBhvr>
                                        <p:cTn id="9" dur="6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600" fill="hold" decel="100000"/>
                                        <p:tgtEl>
                                          <p:spTgt spid="4"/>
                                        </p:tgtEl>
                                        <p:attrNameLst>
                                          <p:attrName>ppt_w</p:attrName>
                                        </p:attrNameLst>
                                      </p:cBhvr>
                                      <p:tavLst>
                                        <p:tav tm="0">
                                          <p:val>
                                            <p:strVal val="0"/>
                                          </p:val>
                                        </p:tav>
                                        <p:tav tm="100000">
                                          <p:val>
                                            <p:strVal val="#ppt_w"/>
                                          </p:val>
                                        </p:tav>
                                      </p:tavLst>
                                    </p:anim>
                                    <p:anim calcmode="lin" valueType="num">
                                      <p:cBhvr additive="base">
                                        <p:cTn id="13" dur="600" fill="hold" decel="100000"/>
                                        <p:tgtEl>
                                          <p:spTgt spid="4"/>
                                        </p:tgtEl>
                                        <p:attrNameLst>
                                          <p:attrName>ppt_h</p:attrName>
                                        </p:attrNameLst>
                                      </p:cBhvr>
                                      <p:tavLst>
                                        <p:tav tm="0">
                                          <p:val>
                                            <p:strVal val="0"/>
                                          </p:val>
                                        </p:tav>
                                        <p:tav tm="100000">
                                          <p:val>
                                            <p:strVal val="#ppt_h"/>
                                          </p:val>
                                        </p:tav>
                                      </p:tavLst>
                                    </p:anim>
                                    <p:animEffect transition="in" filter="fade">
                                      <p:cBhvr>
                                        <p:cTn id="14" dur="600"/>
                                        <p:tgtEl>
                                          <p:spTgt spid="4"/>
                                        </p:tgtEl>
                                      </p:cBhvr>
                                    </p:animEffect>
                                  </p:childTnLst>
                                </p:cTn>
                              </p:par>
                              <p:par>
                                <p:cTn id="15" presetID="42" presetClass="entr" presetSubtype="0" fill="hold" grpId="0" nodeType="withEffect">
                                  <p:stCondLst>
                                    <p:cond delay="7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700" fill="hold" decel="100000"/>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CRC cards for the main classes</a:t>
            </a:r>
            <a:endParaRPr lang="en-US" sz="3200" dirty="0"/>
          </a:p>
        </p:txBody>
      </p:sp>
      <p:sp>
        <p:nvSpPr>
          <p:cNvPr id="3" name="A0_150_rise_k0c"/>
          <p:cNvSpPr/>
          <p:nvPr/>
        </p:nvSpPr>
        <p:spPr>
          <a:xfrm>
            <a:off x="812800" y="1524000"/>
            <a:ext cx="3403600" cy="3810000"/>
          </a:xfrm>
          <a:prstGeom prst="roundRect">
            <a:avLst>
              <a:gd name="adj" fmla="val 2149"/>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sp>
        <p:nvSpPr>
          <p:cNvPr id="4" name="A0_150_rise_k0ln"/>
          <p:cNvSpPr/>
          <p:nvPr/>
        </p:nvSpPr>
        <p:spPr>
          <a:xfrm>
            <a:off x="1016000" y="1981200"/>
            <a:ext cx="2997200" cy="9525"/>
          </a:xfrm>
          <a:prstGeom prst="rect">
            <a:avLst/>
          </a:prstGeom>
          <a:solidFill>
            <a:srgbClr val="DDD9CE"/>
          </a:solidFill>
          <a:ln/>
        </p:spPr>
      </p:sp>
      <p:sp>
        <p:nvSpPr>
          <p:cNvPr id="5" name="A0_150_rise_k0h"/>
          <p:cNvSpPr txBox="1"/>
          <p:nvPr/>
        </p:nvSpPr>
        <p:spPr>
          <a:xfrm>
            <a:off x="1016000" y="1701800"/>
            <a:ext cx="2997200" cy="279400"/>
          </a:xfrm>
          <a:prstGeom prst="rect">
            <a:avLst/>
          </a:prstGeom>
          <a:noFill/>
          <a:ln/>
        </p:spPr>
        <p:txBody>
          <a:bodyPr wrap="square" lIns="0" tIns="0" rIns="0" bIns="0" rtlCol="0" anchor="t"/>
          <a:lstStyle/>
          <a:p>
            <a:pPr indent="0" marL="0">
              <a:buNone/>
            </a:pPr>
            <a:r>
              <a:rPr lang="en-US" sz="1700" b="1" dirty="0">
                <a:solidFill>
                  <a:srgbClr val="1D2A3A"/>
                </a:solidFill>
                <a:latin typeface="Calibri" pitchFamily="34" charset="0"/>
                <a:ea typeface="Calibri" pitchFamily="34" charset="-122"/>
                <a:cs typeface="Calibri" pitchFamily="34" charset="-120"/>
              </a:rPr>
              <a:t>RecommendationEngine</a:t>
            </a:r>
            <a:endParaRPr lang="en-US" sz="1700" dirty="0"/>
          </a:p>
        </p:txBody>
      </p:sp>
      <p:sp>
        <p:nvSpPr>
          <p:cNvPr id="6" name="A0_150_rise_k0r"/>
          <p:cNvSpPr txBox="1"/>
          <p:nvPr/>
        </p:nvSpPr>
        <p:spPr>
          <a:xfrm>
            <a:off x="1016000" y="2108200"/>
            <a:ext cx="2997200" cy="190500"/>
          </a:xfrm>
          <a:prstGeom prst="rect">
            <a:avLst/>
          </a:prstGeom>
          <a:noFill/>
          <a:ln/>
        </p:spPr>
        <p:txBody>
          <a:bodyPr wrap="square" lIns="0" tIns="0" rIns="0" bIns="0" rtlCol="0" anchor="t"/>
          <a:lstStyle/>
          <a:p>
            <a:pPr indent="0" marL="0">
              <a:buNone/>
            </a:pPr>
            <a:r>
              <a:rPr lang="en-US" sz="1100" b="1" spc="100" kern="0" dirty="0">
                <a:solidFill>
                  <a:srgbClr val="2E6AA8"/>
                </a:solidFill>
                <a:latin typeface="Calibri" pitchFamily="34" charset="0"/>
                <a:ea typeface="Calibri" pitchFamily="34" charset="-122"/>
                <a:cs typeface="Calibri" pitchFamily="34" charset="-120"/>
              </a:rPr>
              <a:t>RESPONSIBILITIES</a:t>
            </a:r>
            <a:endParaRPr lang="en-US" sz="1100" dirty="0"/>
          </a:p>
        </p:txBody>
      </p:sp>
      <p:sp>
        <p:nvSpPr>
          <p:cNvPr id="7" name="A0_150_rise_k0l"/>
          <p:cNvSpPr txBox="1"/>
          <p:nvPr/>
        </p:nvSpPr>
        <p:spPr>
          <a:xfrm>
            <a:off x="1016000" y="2362200"/>
            <a:ext cx="2997200" cy="1651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Find tasks due in 14 days</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Calculate each study gap</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Rank the gaps</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Build a session plan</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Create recommendations</a:t>
            </a:r>
            <a:endParaRPr lang="en-US" sz="1300" dirty="0"/>
          </a:p>
        </p:txBody>
      </p:sp>
      <p:sp>
        <p:nvSpPr>
          <p:cNvPr id="8" name="A0_150_rise_k0cl"/>
          <p:cNvSpPr txBox="1"/>
          <p:nvPr/>
        </p:nvSpPr>
        <p:spPr>
          <a:xfrm>
            <a:off x="1016000" y="4191000"/>
            <a:ext cx="2997200" cy="190500"/>
          </a:xfrm>
          <a:prstGeom prst="rect">
            <a:avLst/>
          </a:prstGeom>
          <a:noFill/>
          <a:ln/>
        </p:spPr>
        <p:txBody>
          <a:bodyPr wrap="square" lIns="0" tIns="0" rIns="0" bIns="0" rtlCol="0" anchor="t"/>
          <a:lstStyle/>
          <a:p>
            <a:pPr indent="0" marL="0">
              <a:buNone/>
            </a:pPr>
            <a:r>
              <a:rPr lang="en-US" sz="1100" b="1" spc="100" kern="0" dirty="0">
                <a:solidFill>
                  <a:srgbClr val="C8662F"/>
                </a:solidFill>
                <a:latin typeface="Calibri" pitchFamily="34" charset="0"/>
                <a:ea typeface="Calibri" pitchFamily="34" charset="-122"/>
                <a:cs typeface="Calibri" pitchFamily="34" charset="-120"/>
              </a:rPr>
              <a:t>COLLABORATORS</a:t>
            </a:r>
            <a:endParaRPr lang="en-US" sz="1100" dirty="0"/>
          </a:p>
        </p:txBody>
      </p:sp>
      <p:sp>
        <p:nvSpPr>
          <p:cNvPr id="9" name="A0_150_rise_k0cv"/>
          <p:cNvSpPr txBox="1"/>
          <p:nvPr/>
        </p:nvSpPr>
        <p:spPr>
          <a:xfrm>
            <a:off x="1016000" y="4445000"/>
            <a:ext cx="2997200" cy="698500"/>
          </a:xfrm>
          <a:prstGeom prst="rect">
            <a:avLst/>
          </a:prstGeom>
          <a:noFill/>
          <a:ln/>
        </p:spPr>
        <p:txBody>
          <a:bodyPr wrap="square" lIns="0" tIns="0" rIns="0" bIns="0" rtlCol="0" anchor="t"/>
          <a:lstStyle/>
          <a:p>
            <a:pPr indent="0" marL="0">
              <a:lnSpc>
                <a:spcPct val="110000"/>
              </a:lnSpc>
              <a:buNone/>
            </a:pPr>
            <a:r>
              <a:rPr lang="en-US" sz="1300" dirty="0">
                <a:solidFill>
                  <a:srgbClr val="4A5568"/>
                </a:solidFill>
                <a:latin typeface="Calibri" pitchFamily="34" charset="0"/>
                <a:ea typeface="Calibri" pitchFamily="34" charset="-122"/>
                <a:cs typeface="Calibri" pitchFamily="34" charset="-120"/>
              </a:rPr>
              <a:t>Student, Task, Course, StudySchedule, StudySession, Recommendation</a:t>
            </a:r>
            <a:endParaRPr lang="en-US" sz="1300" dirty="0"/>
          </a:p>
        </p:txBody>
      </p:sp>
      <p:sp>
        <p:nvSpPr>
          <p:cNvPr id="10" name="A0_450_rise_k1c"/>
          <p:cNvSpPr/>
          <p:nvPr/>
        </p:nvSpPr>
        <p:spPr>
          <a:xfrm>
            <a:off x="4394200" y="1524000"/>
            <a:ext cx="3403600" cy="3810000"/>
          </a:xfrm>
          <a:prstGeom prst="roundRect">
            <a:avLst>
              <a:gd name="adj" fmla="val 2149"/>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sp>
        <p:nvSpPr>
          <p:cNvPr id="11" name="A0_450_rise_k1ln"/>
          <p:cNvSpPr/>
          <p:nvPr/>
        </p:nvSpPr>
        <p:spPr>
          <a:xfrm>
            <a:off x="4597400" y="1981200"/>
            <a:ext cx="2997200" cy="9525"/>
          </a:xfrm>
          <a:prstGeom prst="rect">
            <a:avLst/>
          </a:prstGeom>
          <a:solidFill>
            <a:srgbClr val="DDD9CE"/>
          </a:solidFill>
          <a:ln/>
        </p:spPr>
      </p:sp>
      <p:sp>
        <p:nvSpPr>
          <p:cNvPr id="12" name="A0_450_rise_k1h"/>
          <p:cNvSpPr txBox="1"/>
          <p:nvPr/>
        </p:nvSpPr>
        <p:spPr>
          <a:xfrm>
            <a:off x="4597400" y="1701800"/>
            <a:ext cx="2997200" cy="279400"/>
          </a:xfrm>
          <a:prstGeom prst="rect">
            <a:avLst/>
          </a:prstGeom>
          <a:noFill/>
          <a:ln/>
        </p:spPr>
        <p:txBody>
          <a:bodyPr wrap="square" lIns="0" tIns="0" rIns="0" bIns="0" rtlCol="0" anchor="t"/>
          <a:lstStyle/>
          <a:p>
            <a:pPr indent="0" marL="0">
              <a:buNone/>
            </a:pPr>
            <a:r>
              <a:rPr lang="en-US" sz="1700" b="1" dirty="0">
                <a:solidFill>
                  <a:srgbClr val="1D2A3A"/>
                </a:solidFill>
                <a:latin typeface="Calibri" pitchFamily="34" charset="0"/>
                <a:ea typeface="Calibri" pitchFamily="34" charset="-122"/>
                <a:cs typeface="Calibri" pitchFamily="34" charset="-120"/>
              </a:rPr>
              <a:t>Course</a:t>
            </a:r>
            <a:endParaRPr lang="en-US" sz="1700" dirty="0"/>
          </a:p>
        </p:txBody>
      </p:sp>
      <p:sp>
        <p:nvSpPr>
          <p:cNvPr id="13" name="A0_450_rise_k1r"/>
          <p:cNvSpPr txBox="1"/>
          <p:nvPr/>
        </p:nvSpPr>
        <p:spPr>
          <a:xfrm>
            <a:off x="4597400" y="2108200"/>
            <a:ext cx="2997200" cy="190500"/>
          </a:xfrm>
          <a:prstGeom prst="rect">
            <a:avLst/>
          </a:prstGeom>
          <a:noFill/>
          <a:ln/>
        </p:spPr>
        <p:txBody>
          <a:bodyPr wrap="square" lIns="0" tIns="0" rIns="0" bIns="0" rtlCol="0" anchor="t"/>
          <a:lstStyle/>
          <a:p>
            <a:pPr indent="0" marL="0">
              <a:buNone/>
            </a:pPr>
            <a:r>
              <a:rPr lang="en-US" sz="1100" b="1" spc="100" kern="0" dirty="0">
                <a:solidFill>
                  <a:srgbClr val="2E6AA8"/>
                </a:solidFill>
                <a:latin typeface="Calibri" pitchFamily="34" charset="0"/>
                <a:ea typeface="Calibri" pitchFamily="34" charset="-122"/>
                <a:cs typeface="Calibri" pitchFamily="34" charset="-120"/>
              </a:rPr>
              <a:t>RESPONSIBILITIES</a:t>
            </a:r>
            <a:endParaRPr lang="en-US" sz="1100" dirty="0"/>
          </a:p>
        </p:txBody>
      </p:sp>
      <p:sp>
        <p:nvSpPr>
          <p:cNvPr id="14" name="A0_450_rise_k1l"/>
          <p:cNvSpPr txBox="1"/>
          <p:nvPr/>
        </p:nvSpPr>
        <p:spPr>
          <a:xfrm>
            <a:off x="4597400" y="2362200"/>
            <a:ext cx="2997200" cy="1651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Know its code, name and goal</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Keep its tasks</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Keep its files and links</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Record study time</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Report weekly progress</a:t>
            </a:r>
            <a:endParaRPr lang="en-US" sz="1300" dirty="0"/>
          </a:p>
        </p:txBody>
      </p:sp>
      <p:sp>
        <p:nvSpPr>
          <p:cNvPr id="15" name="A0_450_rise_k1cl"/>
          <p:cNvSpPr txBox="1"/>
          <p:nvPr/>
        </p:nvSpPr>
        <p:spPr>
          <a:xfrm>
            <a:off x="4597400" y="4191000"/>
            <a:ext cx="2997200" cy="190500"/>
          </a:xfrm>
          <a:prstGeom prst="rect">
            <a:avLst/>
          </a:prstGeom>
          <a:noFill/>
          <a:ln/>
        </p:spPr>
        <p:txBody>
          <a:bodyPr wrap="square" lIns="0" tIns="0" rIns="0" bIns="0" rtlCol="0" anchor="t"/>
          <a:lstStyle/>
          <a:p>
            <a:pPr indent="0" marL="0">
              <a:buNone/>
            </a:pPr>
            <a:r>
              <a:rPr lang="en-US" sz="1100" b="1" spc="100" kern="0" dirty="0">
                <a:solidFill>
                  <a:srgbClr val="C8662F"/>
                </a:solidFill>
                <a:latin typeface="Calibri" pitchFamily="34" charset="0"/>
                <a:ea typeface="Calibri" pitchFamily="34" charset="-122"/>
                <a:cs typeface="Calibri" pitchFamily="34" charset="-120"/>
              </a:rPr>
              <a:t>COLLABORATORS</a:t>
            </a:r>
            <a:endParaRPr lang="en-US" sz="1100" dirty="0"/>
          </a:p>
        </p:txBody>
      </p:sp>
      <p:sp>
        <p:nvSpPr>
          <p:cNvPr id="16" name="A0_450_rise_k1cv"/>
          <p:cNvSpPr txBox="1"/>
          <p:nvPr/>
        </p:nvSpPr>
        <p:spPr>
          <a:xfrm>
            <a:off x="4597400" y="4445000"/>
            <a:ext cx="2997200" cy="698500"/>
          </a:xfrm>
          <a:prstGeom prst="rect">
            <a:avLst/>
          </a:prstGeom>
          <a:noFill/>
          <a:ln/>
        </p:spPr>
        <p:txBody>
          <a:bodyPr wrap="square" lIns="0" tIns="0" rIns="0" bIns="0" rtlCol="0" anchor="t"/>
          <a:lstStyle/>
          <a:p>
            <a:pPr indent="0" marL="0">
              <a:lnSpc>
                <a:spcPct val="110000"/>
              </a:lnSpc>
              <a:buNone/>
            </a:pPr>
            <a:r>
              <a:rPr lang="en-US" sz="1300" dirty="0">
                <a:solidFill>
                  <a:srgbClr val="4A5568"/>
                </a:solidFill>
                <a:latin typeface="Calibri" pitchFamily="34" charset="0"/>
                <a:ea typeface="Calibri" pitchFamily="34" charset="-122"/>
                <a:cs typeface="Calibri" pitchFamily="34" charset="-120"/>
              </a:rPr>
              <a:t>Task, Material, StudyLog, StudySession</a:t>
            </a:r>
            <a:endParaRPr lang="en-US" sz="1300" dirty="0"/>
          </a:p>
        </p:txBody>
      </p:sp>
      <p:sp>
        <p:nvSpPr>
          <p:cNvPr id="17" name="A0_750_rise_k2c"/>
          <p:cNvSpPr/>
          <p:nvPr/>
        </p:nvSpPr>
        <p:spPr>
          <a:xfrm>
            <a:off x="7975600" y="1524000"/>
            <a:ext cx="3403600" cy="3810000"/>
          </a:xfrm>
          <a:prstGeom prst="roundRect">
            <a:avLst>
              <a:gd name="adj" fmla="val 2149"/>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sp>
        <p:nvSpPr>
          <p:cNvPr id="18" name="A0_750_rise_k2ln"/>
          <p:cNvSpPr/>
          <p:nvPr/>
        </p:nvSpPr>
        <p:spPr>
          <a:xfrm>
            <a:off x="8178800" y="1981200"/>
            <a:ext cx="2997200" cy="9525"/>
          </a:xfrm>
          <a:prstGeom prst="rect">
            <a:avLst/>
          </a:prstGeom>
          <a:solidFill>
            <a:srgbClr val="DDD9CE"/>
          </a:solidFill>
          <a:ln/>
        </p:spPr>
      </p:sp>
      <p:sp>
        <p:nvSpPr>
          <p:cNvPr id="19" name="A0_750_rise_k2h"/>
          <p:cNvSpPr txBox="1"/>
          <p:nvPr/>
        </p:nvSpPr>
        <p:spPr>
          <a:xfrm>
            <a:off x="8178800" y="1701800"/>
            <a:ext cx="2997200" cy="279400"/>
          </a:xfrm>
          <a:prstGeom prst="rect">
            <a:avLst/>
          </a:prstGeom>
          <a:noFill/>
          <a:ln/>
        </p:spPr>
        <p:txBody>
          <a:bodyPr wrap="square" lIns="0" tIns="0" rIns="0" bIns="0" rtlCol="0" anchor="t"/>
          <a:lstStyle/>
          <a:p>
            <a:pPr indent="0" marL="0">
              <a:buNone/>
            </a:pPr>
            <a:r>
              <a:rPr lang="en-US" sz="1700" b="1" dirty="0">
                <a:solidFill>
                  <a:srgbClr val="1D2A3A"/>
                </a:solidFill>
                <a:latin typeface="Calibri" pitchFamily="34" charset="0"/>
                <a:ea typeface="Calibri" pitchFamily="34" charset="-122"/>
                <a:cs typeface="Calibri" pitchFamily="34" charset="-120"/>
              </a:rPr>
              <a:t>Recommendation</a:t>
            </a:r>
            <a:endParaRPr lang="en-US" sz="1700" dirty="0"/>
          </a:p>
        </p:txBody>
      </p:sp>
      <p:sp>
        <p:nvSpPr>
          <p:cNvPr id="20" name="A0_750_rise_k2r"/>
          <p:cNvSpPr txBox="1"/>
          <p:nvPr/>
        </p:nvSpPr>
        <p:spPr>
          <a:xfrm>
            <a:off x="8178800" y="2108200"/>
            <a:ext cx="2997200" cy="190500"/>
          </a:xfrm>
          <a:prstGeom prst="rect">
            <a:avLst/>
          </a:prstGeom>
          <a:noFill/>
          <a:ln/>
        </p:spPr>
        <p:txBody>
          <a:bodyPr wrap="square" lIns="0" tIns="0" rIns="0" bIns="0" rtlCol="0" anchor="t"/>
          <a:lstStyle/>
          <a:p>
            <a:pPr indent="0" marL="0">
              <a:buNone/>
            </a:pPr>
            <a:r>
              <a:rPr lang="en-US" sz="1100" b="1" spc="100" kern="0" dirty="0">
                <a:solidFill>
                  <a:srgbClr val="2E6AA8"/>
                </a:solidFill>
                <a:latin typeface="Calibri" pitchFamily="34" charset="0"/>
                <a:ea typeface="Calibri" pitchFamily="34" charset="-122"/>
                <a:cs typeface="Calibri" pitchFamily="34" charset="-120"/>
              </a:rPr>
              <a:t>RESPONSIBILITIES</a:t>
            </a:r>
            <a:endParaRPr lang="en-US" sz="1100" dirty="0"/>
          </a:p>
        </p:txBody>
      </p:sp>
      <p:sp>
        <p:nvSpPr>
          <p:cNvPr id="21" name="A0_750_rise_k2l"/>
          <p:cNvSpPr txBox="1"/>
          <p:nvPr/>
        </p:nvSpPr>
        <p:spPr>
          <a:xfrm>
            <a:off x="8178800" y="2362200"/>
            <a:ext cx="2997200" cy="1651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Know its message and reason</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Know which task it is about</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Hold the proposed sessions</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Add sessions when accepted</a:t>
            </a:r>
            <a:endParaRPr lang="en-US" sz="1300" dirty="0"/>
          </a:p>
          <a:p>
            <a:pPr marL="342900" indent="-342900">
              <a:spcAft>
                <a:spcPts val="600"/>
              </a:spcAft>
              <a:buSzPct val="100000"/>
              <a:buChar char="•"/>
            </a:pPr>
            <a:r>
              <a:rPr lang="en-US" sz="1300" dirty="0">
                <a:solidFill>
                  <a:srgbClr val="4A5568"/>
                </a:solidFill>
                <a:latin typeface="Calibri" pitchFamily="34" charset="0"/>
                <a:ea typeface="Calibri" pitchFamily="34" charset="-122"/>
                <a:cs typeface="Calibri" pitchFamily="34" charset="-120"/>
              </a:rPr>
              <a:t>Hide itself when dismissed</a:t>
            </a:r>
            <a:endParaRPr lang="en-US" sz="1300" dirty="0"/>
          </a:p>
        </p:txBody>
      </p:sp>
      <p:sp>
        <p:nvSpPr>
          <p:cNvPr id="22" name="A0_750_rise_k2cl"/>
          <p:cNvSpPr txBox="1"/>
          <p:nvPr/>
        </p:nvSpPr>
        <p:spPr>
          <a:xfrm>
            <a:off x="8178800" y="4191000"/>
            <a:ext cx="2997200" cy="190500"/>
          </a:xfrm>
          <a:prstGeom prst="rect">
            <a:avLst/>
          </a:prstGeom>
          <a:noFill/>
          <a:ln/>
        </p:spPr>
        <p:txBody>
          <a:bodyPr wrap="square" lIns="0" tIns="0" rIns="0" bIns="0" rtlCol="0" anchor="t"/>
          <a:lstStyle/>
          <a:p>
            <a:pPr indent="0" marL="0">
              <a:buNone/>
            </a:pPr>
            <a:r>
              <a:rPr lang="en-US" sz="1100" b="1" spc="100" kern="0" dirty="0">
                <a:solidFill>
                  <a:srgbClr val="C8662F"/>
                </a:solidFill>
                <a:latin typeface="Calibri" pitchFamily="34" charset="0"/>
                <a:ea typeface="Calibri" pitchFamily="34" charset="-122"/>
                <a:cs typeface="Calibri" pitchFamily="34" charset="-120"/>
              </a:rPr>
              <a:t>COLLABORATORS</a:t>
            </a:r>
            <a:endParaRPr lang="en-US" sz="1100" dirty="0"/>
          </a:p>
        </p:txBody>
      </p:sp>
      <p:sp>
        <p:nvSpPr>
          <p:cNvPr id="23" name="A0_750_rise_k2cv"/>
          <p:cNvSpPr txBox="1"/>
          <p:nvPr/>
        </p:nvSpPr>
        <p:spPr>
          <a:xfrm>
            <a:off x="8178800" y="4445000"/>
            <a:ext cx="2997200" cy="698500"/>
          </a:xfrm>
          <a:prstGeom prst="rect">
            <a:avLst/>
          </a:prstGeom>
          <a:noFill/>
          <a:ln/>
        </p:spPr>
        <p:txBody>
          <a:bodyPr wrap="square" lIns="0" tIns="0" rIns="0" bIns="0" rtlCol="0" anchor="t"/>
          <a:lstStyle/>
          <a:p>
            <a:pPr indent="0" marL="0">
              <a:lnSpc>
                <a:spcPct val="110000"/>
              </a:lnSpc>
              <a:buNone/>
            </a:pPr>
            <a:r>
              <a:rPr lang="en-US" sz="1300" dirty="0">
                <a:solidFill>
                  <a:srgbClr val="4A5568"/>
                </a:solidFill>
                <a:latin typeface="Calibri" pitchFamily="34" charset="0"/>
                <a:ea typeface="Calibri" pitchFamily="34" charset="-122"/>
                <a:cs typeface="Calibri" pitchFamily="34" charset="-120"/>
              </a:rPr>
              <a:t>Task, StudySession, StudySchedule</a:t>
            </a:r>
            <a:endParaRPr lang="en-US" sz="13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anim calcmode="lin" valueType="num">
                                      <p:cBhvr additive="base">
                                        <p:cTn id="8" dur="7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700" fill="hold" decel="100000"/>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00"/>
                                        <p:tgtEl>
                                          <p:spTgt spid="4"/>
                                        </p:tgtEl>
                                      </p:cBhvr>
                                    </p:animEffect>
                                    <p:anim calcmode="lin" valueType="num">
                                      <p:cBhvr additive="base">
                                        <p:cTn id="13" dur="7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700" fill="hold" decel="100000"/>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5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700" fill="hold" decel="100000"/>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5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700" fill="hold" decel="100000"/>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1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700"/>
                                        <p:tgtEl>
                                          <p:spTgt spid="7"/>
                                        </p:tgtEl>
                                      </p:cBhvr>
                                    </p:animEffect>
                                    <p:anim calcmode="lin" valueType="num">
                                      <p:cBhvr additive="base">
                                        <p:cTn id="28" dur="7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700" fill="hold" decel="100000"/>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15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700"/>
                                        <p:tgtEl>
                                          <p:spTgt spid="8"/>
                                        </p:tgtEl>
                                      </p:cBhvr>
                                    </p:animEffect>
                                    <p:anim calcmode="lin" valueType="num">
                                      <p:cBhvr additive="base">
                                        <p:cTn id="33" dur="700" fill="hold" decel="100000"/>
                                        <p:tgtEl>
                                          <p:spTgt spid="8"/>
                                        </p:tgtEl>
                                        <p:attrNameLst>
                                          <p:attrName>ppt_x</p:attrName>
                                        </p:attrNameLst>
                                      </p:cBhvr>
                                      <p:tavLst>
                                        <p:tav tm="0">
                                          <p:val>
                                            <p:strVal val="#ppt_x"/>
                                          </p:val>
                                        </p:tav>
                                        <p:tav tm="100000">
                                          <p:val>
                                            <p:strVal val="#ppt_x"/>
                                          </p:val>
                                        </p:tav>
                                      </p:tavLst>
                                    </p:anim>
                                    <p:anim calcmode="lin" valueType="num">
                                      <p:cBhvr additive="base">
                                        <p:cTn id="34" dur="700" fill="hold" decel="100000"/>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15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700"/>
                                        <p:tgtEl>
                                          <p:spTgt spid="9"/>
                                        </p:tgtEl>
                                      </p:cBhvr>
                                    </p:animEffect>
                                    <p:anim calcmode="lin" valueType="num">
                                      <p:cBhvr additive="base">
                                        <p:cTn id="38" dur="700" fill="hold" decel="100000"/>
                                        <p:tgtEl>
                                          <p:spTgt spid="9"/>
                                        </p:tgtEl>
                                        <p:attrNameLst>
                                          <p:attrName>ppt_x</p:attrName>
                                        </p:attrNameLst>
                                      </p:cBhvr>
                                      <p:tavLst>
                                        <p:tav tm="0">
                                          <p:val>
                                            <p:strVal val="#ppt_x"/>
                                          </p:val>
                                        </p:tav>
                                        <p:tav tm="100000">
                                          <p:val>
                                            <p:strVal val="#ppt_x"/>
                                          </p:val>
                                        </p:tav>
                                      </p:tavLst>
                                    </p:anim>
                                    <p:anim calcmode="lin" valueType="num">
                                      <p:cBhvr additive="base">
                                        <p:cTn id="39" dur="700" fill="hold" decel="100000"/>
                                        <p:tgtEl>
                                          <p:spTgt spid="9"/>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4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700"/>
                                        <p:tgtEl>
                                          <p:spTgt spid="10"/>
                                        </p:tgtEl>
                                      </p:cBhvr>
                                    </p:animEffect>
                                    <p:anim calcmode="lin" valueType="num">
                                      <p:cBhvr additive="base">
                                        <p:cTn id="43" dur="700" fill="hold" decel="100000"/>
                                        <p:tgtEl>
                                          <p:spTgt spid="10"/>
                                        </p:tgtEl>
                                        <p:attrNameLst>
                                          <p:attrName>ppt_x</p:attrName>
                                        </p:attrNameLst>
                                      </p:cBhvr>
                                      <p:tavLst>
                                        <p:tav tm="0">
                                          <p:val>
                                            <p:strVal val="#ppt_x"/>
                                          </p:val>
                                        </p:tav>
                                        <p:tav tm="100000">
                                          <p:val>
                                            <p:strVal val="#ppt_x"/>
                                          </p:val>
                                        </p:tav>
                                      </p:tavLst>
                                    </p:anim>
                                    <p:anim calcmode="lin" valueType="num">
                                      <p:cBhvr additive="base">
                                        <p:cTn id="44" dur="700" fill="hold" decel="100000"/>
                                        <p:tgtEl>
                                          <p:spTgt spid="1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45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700"/>
                                        <p:tgtEl>
                                          <p:spTgt spid="11"/>
                                        </p:tgtEl>
                                      </p:cBhvr>
                                    </p:animEffect>
                                    <p:anim calcmode="lin" valueType="num">
                                      <p:cBhvr additive="base">
                                        <p:cTn id="48" dur="700" fill="hold" decel="100000"/>
                                        <p:tgtEl>
                                          <p:spTgt spid="11"/>
                                        </p:tgtEl>
                                        <p:attrNameLst>
                                          <p:attrName>ppt_x</p:attrName>
                                        </p:attrNameLst>
                                      </p:cBhvr>
                                      <p:tavLst>
                                        <p:tav tm="0">
                                          <p:val>
                                            <p:strVal val="#ppt_x"/>
                                          </p:val>
                                        </p:tav>
                                        <p:tav tm="100000">
                                          <p:val>
                                            <p:strVal val="#ppt_x"/>
                                          </p:val>
                                        </p:tav>
                                      </p:tavLst>
                                    </p:anim>
                                    <p:anim calcmode="lin" valueType="num">
                                      <p:cBhvr additive="base">
                                        <p:cTn id="49" dur="700" fill="hold" decel="100000"/>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45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700"/>
                                        <p:tgtEl>
                                          <p:spTgt spid="12"/>
                                        </p:tgtEl>
                                      </p:cBhvr>
                                    </p:animEffect>
                                    <p:anim calcmode="lin" valueType="num">
                                      <p:cBhvr additive="base">
                                        <p:cTn id="53" dur="700" fill="hold" decel="100000"/>
                                        <p:tgtEl>
                                          <p:spTgt spid="12"/>
                                        </p:tgtEl>
                                        <p:attrNameLst>
                                          <p:attrName>ppt_x</p:attrName>
                                        </p:attrNameLst>
                                      </p:cBhvr>
                                      <p:tavLst>
                                        <p:tav tm="0">
                                          <p:val>
                                            <p:strVal val="#ppt_x"/>
                                          </p:val>
                                        </p:tav>
                                        <p:tav tm="100000">
                                          <p:val>
                                            <p:strVal val="#ppt_x"/>
                                          </p:val>
                                        </p:tav>
                                      </p:tavLst>
                                    </p:anim>
                                    <p:anim calcmode="lin" valueType="num">
                                      <p:cBhvr additive="base">
                                        <p:cTn id="54" dur="700" fill="hold" decel="100000"/>
                                        <p:tgtEl>
                                          <p:spTgt spid="12"/>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45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700"/>
                                        <p:tgtEl>
                                          <p:spTgt spid="13"/>
                                        </p:tgtEl>
                                      </p:cBhvr>
                                    </p:animEffect>
                                    <p:anim calcmode="lin" valueType="num">
                                      <p:cBhvr additive="base">
                                        <p:cTn id="58" dur="700" fill="hold" decel="100000"/>
                                        <p:tgtEl>
                                          <p:spTgt spid="13"/>
                                        </p:tgtEl>
                                        <p:attrNameLst>
                                          <p:attrName>ppt_x</p:attrName>
                                        </p:attrNameLst>
                                      </p:cBhvr>
                                      <p:tavLst>
                                        <p:tav tm="0">
                                          <p:val>
                                            <p:strVal val="#ppt_x"/>
                                          </p:val>
                                        </p:tav>
                                        <p:tav tm="100000">
                                          <p:val>
                                            <p:strVal val="#ppt_x"/>
                                          </p:val>
                                        </p:tav>
                                      </p:tavLst>
                                    </p:anim>
                                    <p:anim calcmode="lin" valueType="num">
                                      <p:cBhvr additive="base">
                                        <p:cTn id="59" dur="700" fill="hold" decel="100000"/>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45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700"/>
                                        <p:tgtEl>
                                          <p:spTgt spid="14"/>
                                        </p:tgtEl>
                                      </p:cBhvr>
                                    </p:animEffect>
                                    <p:anim calcmode="lin" valueType="num">
                                      <p:cBhvr additive="base">
                                        <p:cTn id="63" dur="700" fill="hold" decel="100000"/>
                                        <p:tgtEl>
                                          <p:spTgt spid="14"/>
                                        </p:tgtEl>
                                        <p:attrNameLst>
                                          <p:attrName>ppt_x</p:attrName>
                                        </p:attrNameLst>
                                      </p:cBhvr>
                                      <p:tavLst>
                                        <p:tav tm="0">
                                          <p:val>
                                            <p:strVal val="#ppt_x"/>
                                          </p:val>
                                        </p:tav>
                                        <p:tav tm="100000">
                                          <p:val>
                                            <p:strVal val="#ppt_x"/>
                                          </p:val>
                                        </p:tav>
                                      </p:tavLst>
                                    </p:anim>
                                    <p:anim calcmode="lin" valueType="num">
                                      <p:cBhvr additive="base">
                                        <p:cTn id="64" dur="700" fill="hold" decel="100000"/>
                                        <p:tgtEl>
                                          <p:spTgt spid="1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45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700"/>
                                        <p:tgtEl>
                                          <p:spTgt spid="15"/>
                                        </p:tgtEl>
                                      </p:cBhvr>
                                    </p:animEffect>
                                    <p:anim calcmode="lin" valueType="num">
                                      <p:cBhvr additive="base">
                                        <p:cTn id="68" dur="700" fill="hold" decel="100000"/>
                                        <p:tgtEl>
                                          <p:spTgt spid="15"/>
                                        </p:tgtEl>
                                        <p:attrNameLst>
                                          <p:attrName>ppt_x</p:attrName>
                                        </p:attrNameLst>
                                      </p:cBhvr>
                                      <p:tavLst>
                                        <p:tav tm="0">
                                          <p:val>
                                            <p:strVal val="#ppt_x"/>
                                          </p:val>
                                        </p:tav>
                                        <p:tav tm="100000">
                                          <p:val>
                                            <p:strVal val="#ppt_x"/>
                                          </p:val>
                                        </p:tav>
                                      </p:tavLst>
                                    </p:anim>
                                    <p:anim calcmode="lin" valueType="num">
                                      <p:cBhvr additive="base">
                                        <p:cTn id="69" dur="700" fill="hold" decel="100000"/>
                                        <p:tgtEl>
                                          <p:spTgt spid="1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45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700"/>
                                        <p:tgtEl>
                                          <p:spTgt spid="16"/>
                                        </p:tgtEl>
                                      </p:cBhvr>
                                    </p:animEffect>
                                    <p:anim calcmode="lin" valueType="num">
                                      <p:cBhvr additive="base">
                                        <p:cTn id="73" dur="700" fill="hold" decel="100000"/>
                                        <p:tgtEl>
                                          <p:spTgt spid="16"/>
                                        </p:tgtEl>
                                        <p:attrNameLst>
                                          <p:attrName>ppt_x</p:attrName>
                                        </p:attrNameLst>
                                      </p:cBhvr>
                                      <p:tavLst>
                                        <p:tav tm="0">
                                          <p:val>
                                            <p:strVal val="#ppt_x"/>
                                          </p:val>
                                        </p:tav>
                                        <p:tav tm="100000">
                                          <p:val>
                                            <p:strVal val="#ppt_x"/>
                                          </p:val>
                                        </p:tav>
                                      </p:tavLst>
                                    </p:anim>
                                    <p:anim calcmode="lin" valueType="num">
                                      <p:cBhvr additive="base">
                                        <p:cTn id="74" dur="700" fill="hold" decel="100000"/>
                                        <p:tgtEl>
                                          <p:spTgt spid="16"/>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75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700"/>
                                        <p:tgtEl>
                                          <p:spTgt spid="17"/>
                                        </p:tgtEl>
                                      </p:cBhvr>
                                    </p:animEffect>
                                    <p:anim calcmode="lin" valueType="num">
                                      <p:cBhvr additive="base">
                                        <p:cTn id="78" dur="700" fill="hold" decel="100000"/>
                                        <p:tgtEl>
                                          <p:spTgt spid="17"/>
                                        </p:tgtEl>
                                        <p:attrNameLst>
                                          <p:attrName>ppt_x</p:attrName>
                                        </p:attrNameLst>
                                      </p:cBhvr>
                                      <p:tavLst>
                                        <p:tav tm="0">
                                          <p:val>
                                            <p:strVal val="#ppt_x"/>
                                          </p:val>
                                        </p:tav>
                                        <p:tav tm="100000">
                                          <p:val>
                                            <p:strVal val="#ppt_x"/>
                                          </p:val>
                                        </p:tav>
                                      </p:tavLst>
                                    </p:anim>
                                    <p:anim calcmode="lin" valueType="num">
                                      <p:cBhvr additive="base">
                                        <p:cTn id="79" dur="700" fill="hold" decel="100000"/>
                                        <p:tgtEl>
                                          <p:spTgt spid="17"/>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75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700"/>
                                        <p:tgtEl>
                                          <p:spTgt spid="18"/>
                                        </p:tgtEl>
                                      </p:cBhvr>
                                    </p:animEffect>
                                    <p:anim calcmode="lin" valueType="num">
                                      <p:cBhvr additive="base">
                                        <p:cTn id="83" dur="700" fill="hold" decel="100000"/>
                                        <p:tgtEl>
                                          <p:spTgt spid="18"/>
                                        </p:tgtEl>
                                        <p:attrNameLst>
                                          <p:attrName>ppt_x</p:attrName>
                                        </p:attrNameLst>
                                      </p:cBhvr>
                                      <p:tavLst>
                                        <p:tav tm="0">
                                          <p:val>
                                            <p:strVal val="#ppt_x"/>
                                          </p:val>
                                        </p:tav>
                                        <p:tav tm="100000">
                                          <p:val>
                                            <p:strVal val="#ppt_x"/>
                                          </p:val>
                                        </p:tav>
                                      </p:tavLst>
                                    </p:anim>
                                    <p:anim calcmode="lin" valueType="num">
                                      <p:cBhvr additive="base">
                                        <p:cTn id="84" dur="700" fill="hold" decel="100000"/>
                                        <p:tgtEl>
                                          <p:spTgt spid="18"/>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75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700"/>
                                        <p:tgtEl>
                                          <p:spTgt spid="19"/>
                                        </p:tgtEl>
                                      </p:cBhvr>
                                    </p:animEffect>
                                    <p:anim calcmode="lin" valueType="num">
                                      <p:cBhvr additive="base">
                                        <p:cTn id="88" dur="700" fill="hold" decel="100000"/>
                                        <p:tgtEl>
                                          <p:spTgt spid="19"/>
                                        </p:tgtEl>
                                        <p:attrNameLst>
                                          <p:attrName>ppt_x</p:attrName>
                                        </p:attrNameLst>
                                      </p:cBhvr>
                                      <p:tavLst>
                                        <p:tav tm="0">
                                          <p:val>
                                            <p:strVal val="#ppt_x"/>
                                          </p:val>
                                        </p:tav>
                                        <p:tav tm="100000">
                                          <p:val>
                                            <p:strVal val="#ppt_x"/>
                                          </p:val>
                                        </p:tav>
                                      </p:tavLst>
                                    </p:anim>
                                    <p:anim calcmode="lin" valueType="num">
                                      <p:cBhvr additive="base">
                                        <p:cTn id="89" dur="700" fill="hold" decel="100000"/>
                                        <p:tgtEl>
                                          <p:spTgt spid="19"/>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75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700"/>
                                        <p:tgtEl>
                                          <p:spTgt spid="20"/>
                                        </p:tgtEl>
                                      </p:cBhvr>
                                    </p:animEffect>
                                    <p:anim calcmode="lin" valueType="num">
                                      <p:cBhvr additive="base">
                                        <p:cTn id="93" dur="700" fill="hold" decel="100000"/>
                                        <p:tgtEl>
                                          <p:spTgt spid="20"/>
                                        </p:tgtEl>
                                        <p:attrNameLst>
                                          <p:attrName>ppt_x</p:attrName>
                                        </p:attrNameLst>
                                      </p:cBhvr>
                                      <p:tavLst>
                                        <p:tav tm="0">
                                          <p:val>
                                            <p:strVal val="#ppt_x"/>
                                          </p:val>
                                        </p:tav>
                                        <p:tav tm="100000">
                                          <p:val>
                                            <p:strVal val="#ppt_x"/>
                                          </p:val>
                                        </p:tav>
                                      </p:tavLst>
                                    </p:anim>
                                    <p:anim calcmode="lin" valueType="num">
                                      <p:cBhvr additive="base">
                                        <p:cTn id="94" dur="700" fill="hold" decel="100000"/>
                                        <p:tgtEl>
                                          <p:spTgt spid="20"/>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750"/>
                                  </p:stCondLst>
                                  <p:childTnLst>
                                    <p:set>
                                      <p:cBhvr>
                                        <p:cTn id="96" dur="1" fill="hold">
                                          <p:stCondLst>
                                            <p:cond delay="0"/>
                                          </p:stCondLst>
                                        </p:cTn>
                                        <p:tgtEl>
                                          <p:spTgt spid="21"/>
                                        </p:tgtEl>
                                        <p:attrNameLst>
                                          <p:attrName>style.visibility</p:attrName>
                                        </p:attrNameLst>
                                      </p:cBhvr>
                                      <p:to>
                                        <p:strVal val="visible"/>
                                      </p:to>
                                    </p:set>
                                    <p:animEffect transition="in" filter="fade">
                                      <p:cBhvr>
                                        <p:cTn id="97" dur="700"/>
                                        <p:tgtEl>
                                          <p:spTgt spid="21"/>
                                        </p:tgtEl>
                                      </p:cBhvr>
                                    </p:animEffect>
                                    <p:anim calcmode="lin" valueType="num">
                                      <p:cBhvr additive="base">
                                        <p:cTn id="98" dur="700" fill="hold" decel="100000"/>
                                        <p:tgtEl>
                                          <p:spTgt spid="21"/>
                                        </p:tgtEl>
                                        <p:attrNameLst>
                                          <p:attrName>ppt_x</p:attrName>
                                        </p:attrNameLst>
                                      </p:cBhvr>
                                      <p:tavLst>
                                        <p:tav tm="0">
                                          <p:val>
                                            <p:strVal val="#ppt_x"/>
                                          </p:val>
                                        </p:tav>
                                        <p:tav tm="100000">
                                          <p:val>
                                            <p:strVal val="#ppt_x"/>
                                          </p:val>
                                        </p:tav>
                                      </p:tavLst>
                                    </p:anim>
                                    <p:anim calcmode="lin" valueType="num">
                                      <p:cBhvr additive="base">
                                        <p:cTn id="99" dur="700" fill="hold" decel="100000"/>
                                        <p:tgtEl>
                                          <p:spTgt spid="21"/>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750"/>
                                  </p:stCondLst>
                                  <p:childTnLst>
                                    <p:set>
                                      <p:cBhvr>
                                        <p:cTn id="101" dur="1" fill="hold">
                                          <p:stCondLst>
                                            <p:cond delay="0"/>
                                          </p:stCondLst>
                                        </p:cTn>
                                        <p:tgtEl>
                                          <p:spTgt spid="22"/>
                                        </p:tgtEl>
                                        <p:attrNameLst>
                                          <p:attrName>style.visibility</p:attrName>
                                        </p:attrNameLst>
                                      </p:cBhvr>
                                      <p:to>
                                        <p:strVal val="visible"/>
                                      </p:to>
                                    </p:set>
                                    <p:animEffect transition="in" filter="fade">
                                      <p:cBhvr>
                                        <p:cTn id="102" dur="700"/>
                                        <p:tgtEl>
                                          <p:spTgt spid="22"/>
                                        </p:tgtEl>
                                      </p:cBhvr>
                                    </p:animEffect>
                                    <p:anim calcmode="lin" valueType="num">
                                      <p:cBhvr additive="base">
                                        <p:cTn id="103" dur="700" fill="hold" decel="100000"/>
                                        <p:tgtEl>
                                          <p:spTgt spid="22"/>
                                        </p:tgtEl>
                                        <p:attrNameLst>
                                          <p:attrName>ppt_x</p:attrName>
                                        </p:attrNameLst>
                                      </p:cBhvr>
                                      <p:tavLst>
                                        <p:tav tm="0">
                                          <p:val>
                                            <p:strVal val="#ppt_x"/>
                                          </p:val>
                                        </p:tav>
                                        <p:tav tm="100000">
                                          <p:val>
                                            <p:strVal val="#ppt_x"/>
                                          </p:val>
                                        </p:tav>
                                      </p:tavLst>
                                    </p:anim>
                                    <p:anim calcmode="lin" valueType="num">
                                      <p:cBhvr additive="base">
                                        <p:cTn id="104" dur="700" fill="hold" decel="100000"/>
                                        <p:tgtEl>
                                          <p:spTgt spid="22"/>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750"/>
                                  </p:stCondLst>
                                  <p:childTnLst>
                                    <p:set>
                                      <p:cBhvr>
                                        <p:cTn id="106" dur="1" fill="hold">
                                          <p:stCondLst>
                                            <p:cond delay="0"/>
                                          </p:stCondLst>
                                        </p:cTn>
                                        <p:tgtEl>
                                          <p:spTgt spid="23"/>
                                        </p:tgtEl>
                                        <p:attrNameLst>
                                          <p:attrName>style.visibility</p:attrName>
                                        </p:attrNameLst>
                                      </p:cBhvr>
                                      <p:to>
                                        <p:strVal val="visible"/>
                                      </p:to>
                                    </p:set>
                                    <p:animEffect transition="in" filter="fade">
                                      <p:cBhvr>
                                        <p:cTn id="107" dur="700"/>
                                        <p:tgtEl>
                                          <p:spTgt spid="23"/>
                                        </p:tgtEl>
                                      </p:cBhvr>
                                    </p:animEffect>
                                    <p:anim calcmode="lin" valueType="num">
                                      <p:cBhvr additive="base">
                                        <p:cTn id="108" dur="700" fill="hold" decel="100000"/>
                                        <p:tgtEl>
                                          <p:spTgt spid="23"/>
                                        </p:tgtEl>
                                        <p:attrNameLst>
                                          <p:attrName>ppt_x</p:attrName>
                                        </p:attrNameLst>
                                      </p:cBhvr>
                                      <p:tavLst>
                                        <p:tav tm="0">
                                          <p:val>
                                            <p:strVal val="#ppt_x"/>
                                          </p:val>
                                        </p:tav>
                                        <p:tav tm="100000">
                                          <p:val>
                                            <p:strVal val="#ppt_x"/>
                                          </p:val>
                                        </p:tav>
                                      </p:tavLst>
                                    </p:anim>
                                    <p:anim calcmode="lin" valueType="num">
                                      <p:cBhvr additive="base">
                                        <p:cTn id="109" dur="700" fill="hold" decel="100000"/>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Sequence diagram: getting and accepting a recommendation</a:t>
            </a:r>
            <a:endParaRPr lang="en-US" sz="3200" dirty="0"/>
          </a:p>
        </p:txBody>
      </p:sp>
      <p:sp>
        <p:nvSpPr>
          <p:cNvPr id="3" name="A0_0_zoom_seqc"/>
          <p:cNvSpPr/>
          <p:nvPr/>
        </p:nvSpPr>
        <p:spPr>
          <a:xfrm>
            <a:off x="812800" y="1841500"/>
            <a:ext cx="6470650" cy="3937000"/>
          </a:xfrm>
          <a:prstGeom prst="roundRect">
            <a:avLst>
              <a:gd name="adj" fmla="val 1858"/>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4" name="A0_0_zoom_seqi" descr="Sequence diagram between Student, Web App, Server, Database and AI Model, in 12 numbered steps from opening the dashboard to showing the updated schedule">    </p:cNvPr>
          <p:cNvPicPr>
            <a:picLocks noChangeAspect="1"/>
          </p:cNvPicPr>
          <p:nvPr/>
        </p:nvPicPr>
        <p:blipFill>
          <a:blip r:embed="rId1"/>
          <a:stretch>
            <a:fillRect/>
          </a:stretch>
        </p:blipFill>
        <p:spPr>
          <a:xfrm>
            <a:off x="939800" y="2031711"/>
            <a:ext cx="6216650" cy="3556578"/>
          </a:xfrm>
          <a:prstGeom prst="rect">
            <a:avLst/>
          </a:prstGeom>
        </p:spPr>
      </p:pic>
      <p:sp>
        <p:nvSpPr>
          <p:cNvPr id="5" name="A1_0_right_n0c"/>
          <p:cNvSpPr/>
          <p:nvPr/>
        </p:nvSpPr>
        <p:spPr>
          <a:xfrm>
            <a:off x="7588250" y="2095500"/>
            <a:ext cx="3790950" cy="1016000"/>
          </a:xfrm>
          <a:prstGeom prst="roundRect">
            <a:avLst>
              <a:gd name="adj" fmla="val 9000"/>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sp>
        <p:nvSpPr>
          <p:cNvPr id="6" name="A1_0_right_n0t"/>
          <p:cNvSpPr txBox="1"/>
          <p:nvPr/>
        </p:nvSpPr>
        <p:spPr>
          <a:xfrm>
            <a:off x="7791450" y="2286000"/>
            <a:ext cx="3384550" cy="635000"/>
          </a:xfrm>
          <a:prstGeom prst="rect">
            <a:avLst/>
          </a:prstGeom>
          <a:noFill/>
          <a:ln/>
        </p:spPr>
        <p:txBody>
          <a:bodyPr wrap="square" lIns="0" tIns="0" rIns="0" bIns="0" rtlCol="0" anchor="t"/>
          <a:lstStyle/>
          <a:p>
            <a:pPr indent="0" marL="0">
              <a:lnSpc>
                <a:spcPct val="110000"/>
              </a:lnSpc>
              <a:buNone/>
            </a:pPr>
            <a:r>
              <a:rPr lang="en-US" sz="1500" b="1" dirty="0">
                <a:solidFill>
                  <a:srgbClr val="1D2A3A"/>
                </a:solidFill>
                <a:latin typeface="Calibri" pitchFamily="34" charset="0"/>
                <a:ea typeface="Calibri" pitchFamily="34" charset="-122"/>
                <a:cs typeface="Calibri" pitchFamily="34" charset="-120"/>
              </a:rPr>
              <a:t>Steps 1–4: </a:t>
            </a:r>
            <a:pPr indent="0" marL="0">
              <a:lnSpc>
                <a:spcPct val="110000"/>
              </a:lnSpc>
              <a:buNone/>
            </a:pPr>
            <a:r>
              <a:rPr lang="en-US" sz="1500" dirty="0">
                <a:solidFill>
                  <a:srgbClr val="4A5568"/>
                </a:solidFill>
                <a:latin typeface="Calibri" pitchFamily="34" charset="0"/>
                <a:ea typeface="Calibri" pitchFamily="34" charset="-122"/>
                <a:cs typeface="Calibri" pitchFamily="34" charset="-120"/>
              </a:rPr>
              <a:t>the server gets deadlines and study hours</a:t>
            </a:r>
            <a:endParaRPr lang="en-US" sz="1500" dirty="0"/>
          </a:p>
        </p:txBody>
      </p:sp>
      <p:sp>
        <p:nvSpPr>
          <p:cNvPr id="7" name="A2_0_right_n1c"/>
          <p:cNvSpPr/>
          <p:nvPr/>
        </p:nvSpPr>
        <p:spPr>
          <a:xfrm>
            <a:off x="7588250" y="3302000"/>
            <a:ext cx="3790950" cy="1016000"/>
          </a:xfrm>
          <a:prstGeom prst="roundRect">
            <a:avLst>
              <a:gd name="adj" fmla="val 9000"/>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sp>
        <p:nvSpPr>
          <p:cNvPr id="8" name="A2_0_right_n1t"/>
          <p:cNvSpPr txBox="1"/>
          <p:nvPr/>
        </p:nvSpPr>
        <p:spPr>
          <a:xfrm>
            <a:off x="7791450" y="3492500"/>
            <a:ext cx="3384550" cy="635000"/>
          </a:xfrm>
          <a:prstGeom prst="rect">
            <a:avLst/>
          </a:prstGeom>
          <a:noFill/>
          <a:ln/>
        </p:spPr>
        <p:txBody>
          <a:bodyPr wrap="square" lIns="0" tIns="0" rIns="0" bIns="0" rtlCol="0" anchor="t"/>
          <a:lstStyle/>
          <a:p>
            <a:pPr indent="0" marL="0">
              <a:lnSpc>
                <a:spcPct val="110000"/>
              </a:lnSpc>
              <a:buNone/>
            </a:pPr>
            <a:r>
              <a:rPr lang="en-US" sz="1500" b="1" dirty="0">
                <a:solidFill>
                  <a:srgbClr val="1D2A3A"/>
                </a:solidFill>
                <a:latin typeface="Calibri" pitchFamily="34" charset="0"/>
                <a:ea typeface="Calibri" pitchFamily="34" charset="-122"/>
                <a:cs typeface="Calibri" pitchFamily="34" charset="-120"/>
              </a:rPr>
              <a:t>Steps 5–8: </a:t>
            </a:r>
            <a:pPr indent="0" marL="0">
              <a:lnSpc>
                <a:spcPct val="110000"/>
              </a:lnSpc>
              <a:buNone/>
            </a:pPr>
            <a:r>
              <a:rPr lang="en-US" sz="1500" dirty="0">
                <a:solidFill>
                  <a:srgbClr val="4A5568"/>
                </a:solidFill>
                <a:latin typeface="Calibri" pitchFamily="34" charset="0"/>
                <a:ea typeface="Calibri" pitchFamily="34" charset="-122"/>
                <a:cs typeface="Calibri" pitchFamily="34" charset="-120"/>
              </a:rPr>
              <a:t>the AI model writes the advice</a:t>
            </a:r>
            <a:endParaRPr lang="en-US" sz="1500" dirty="0"/>
          </a:p>
        </p:txBody>
      </p:sp>
      <p:sp>
        <p:nvSpPr>
          <p:cNvPr id="9" name="A3_0_right_n2c"/>
          <p:cNvSpPr/>
          <p:nvPr/>
        </p:nvSpPr>
        <p:spPr>
          <a:xfrm>
            <a:off x="7588250" y="4508500"/>
            <a:ext cx="3790950" cy="1016000"/>
          </a:xfrm>
          <a:prstGeom prst="roundRect">
            <a:avLst>
              <a:gd name="adj" fmla="val 9000"/>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sp>
        <p:nvSpPr>
          <p:cNvPr id="10" name="A3_0_right_n2t"/>
          <p:cNvSpPr txBox="1"/>
          <p:nvPr/>
        </p:nvSpPr>
        <p:spPr>
          <a:xfrm>
            <a:off x="7791450" y="4699000"/>
            <a:ext cx="3384550" cy="635000"/>
          </a:xfrm>
          <a:prstGeom prst="rect">
            <a:avLst/>
          </a:prstGeom>
          <a:noFill/>
          <a:ln/>
        </p:spPr>
        <p:txBody>
          <a:bodyPr wrap="square" lIns="0" tIns="0" rIns="0" bIns="0" rtlCol="0" anchor="t"/>
          <a:lstStyle/>
          <a:p>
            <a:pPr indent="0" marL="0">
              <a:lnSpc>
                <a:spcPct val="110000"/>
              </a:lnSpc>
              <a:buNone/>
            </a:pPr>
            <a:r>
              <a:rPr lang="en-US" sz="1500" b="1" dirty="0">
                <a:solidFill>
                  <a:srgbClr val="1D2A3A"/>
                </a:solidFill>
                <a:latin typeface="Calibri" pitchFamily="34" charset="0"/>
                <a:ea typeface="Calibri" pitchFamily="34" charset="-122"/>
                <a:cs typeface="Calibri" pitchFamily="34" charset="-120"/>
              </a:rPr>
              <a:t>Steps 9–12: </a:t>
            </a:r>
            <a:pPr indent="0" marL="0">
              <a:lnSpc>
                <a:spcPct val="110000"/>
              </a:lnSpc>
              <a:buNone/>
            </a:pPr>
            <a:r>
              <a:rPr lang="en-US" sz="1500" dirty="0">
                <a:solidFill>
                  <a:srgbClr val="4A5568"/>
                </a:solidFill>
                <a:latin typeface="Calibri" pitchFamily="34" charset="0"/>
                <a:ea typeface="Calibri" pitchFamily="34" charset="-122"/>
                <a:cs typeface="Calibri" pitchFamily="34" charset="-120"/>
              </a:rPr>
              <a:t>the student accepts and the schedule updates</a:t>
            </a:r>
            <a:endParaRPr lang="en-US" sz="15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600" fill="hold" decel="100000"/>
                                        <p:tgtEl>
                                          <p:spTgt spid="3"/>
                                        </p:tgtEl>
                                        <p:attrNameLst>
                                          <p:attrName>ppt_w</p:attrName>
                                        </p:attrNameLst>
                                      </p:cBhvr>
                                      <p:tavLst>
                                        <p:tav tm="0">
                                          <p:val>
                                            <p:strVal val="0"/>
                                          </p:val>
                                        </p:tav>
                                        <p:tav tm="100000">
                                          <p:val>
                                            <p:strVal val="#ppt_w"/>
                                          </p:val>
                                        </p:tav>
                                      </p:tavLst>
                                    </p:anim>
                                    <p:anim calcmode="lin" valueType="num">
                                      <p:cBhvr additive="base">
                                        <p:cTn id="8" dur="600" fill="hold" decel="100000"/>
                                        <p:tgtEl>
                                          <p:spTgt spid="3"/>
                                        </p:tgtEl>
                                        <p:attrNameLst>
                                          <p:attrName>ppt_h</p:attrName>
                                        </p:attrNameLst>
                                      </p:cBhvr>
                                      <p:tavLst>
                                        <p:tav tm="0">
                                          <p:val>
                                            <p:strVal val="0"/>
                                          </p:val>
                                        </p:tav>
                                        <p:tav tm="100000">
                                          <p:val>
                                            <p:strVal val="#ppt_h"/>
                                          </p:val>
                                        </p:tav>
                                      </p:tavLst>
                                    </p:anim>
                                    <p:animEffect transition="in" filter="fade">
                                      <p:cBhvr>
                                        <p:cTn id="9" dur="6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600" fill="hold" decel="100000"/>
                                        <p:tgtEl>
                                          <p:spTgt spid="4"/>
                                        </p:tgtEl>
                                        <p:attrNameLst>
                                          <p:attrName>ppt_w</p:attrName>
                                        </p:attrNameLst>
                                      </p:cBhvr>
                                      <p:tavLst>
                                        <p:tav tm="0">
                                          <p:val>
                                            <p:strVal val="0"/>
                                          </p:val>
                                        </p:tav>
                                        <p:tav tm="100000">
                                          <p:val>
                                            <p:strVal val="#ppt_w"/>
                                          </p:val>
                                        </p:tav>
                                      </p:tavLst>
                                    </p:anim>
                                    <p:anim calcmode="lin" valueType="num">
                                      <p:cBhvr additive="base">
                                        <p:cTn id="13" dur="600" fill="hold" decel="100000"/>
                                        <p:tgtEl>
                                          <p:spTgt spid="4"/>
                                        </p:tgtEl>
                                        <p:attrNameLst>
                                          <p:attrName>ppt_h</p:attrName>
                                        </p:attrNameLst>
                                      </p:cBhvr>
                                      <p:tavLst>
                                        <p:tav tm="0">
                                          <p:val>
                                            <p:strVal val="0"/>
                                          </p:val>
                                        </p:tav>
                                        <p:tav tm="100000">
                                          <p:val>
                                            <p:strVal val="#ppt_h"/>
                                          </p:val>
                                        </p:tav>
                                      </p:tavLst>
                                    </p:anim>
                                    <p:animEffect transition="in" filter="fade">
                                      <p:cBhvr>
                                        <p:cTn id="14" dur="6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00"/>
                                        <p:tgtEl>
                                          <p:spTgt spid="5"/>
                                        </p:tgtEl>
                                      </p:cBhvr>
                                    </p:animEffect>
                                    <p:anim calcmode="lin" valueType="num">
                                      <p:cBhvr additive="base">
                                        <p:cTn id="20" dur="600" fill="hold" decel="100000"/>
                                        <p:tgtEl>
                                          <p:spTgt spid="5"/>
                                        </p:tgtEl>
                                        <p:attrNameLst>
                                          <p:attrName>ppt_x</p:attrName>
                                        </p:attrNameLst>
                                      </p:cBhvr>
                                      <p:tavLst>
                                        <p:tav tm="0">
                                          <p:val>
                                            <p:strVal val="#ppt_x+.1"/>
                                          </p:val>
                                        </p:tav>
                                        <p:tav tm="100000">
                                          <p:val>
                                            <p:strVal val="#ppt_x"/>
                                          </p:val>
                                        </p:tav>
                                      </p:tavLst>
                                    </p:anim>
                                    <p:anim calcmode="lin" valueType="num">
                                      <p:cBhvr additive="base">
                                        <p:cTn id="21" dur="600" fill="hold" decel="100000"/>
                                        <p:tgtEl>
                                          <p:spTgt spid="5"/>
                                        </p:tgtEl>
                                        <p:attrNameLst>
                                          <p:attrName>ppt_y</p:attrName>
                                        </p:attrNameLst>
                                      </p:cBhvr>
                                      <p:tavLst>
                                        <p:tav tm="0">
                                          <p:val>
                                            <p:strVal val="#ppt_y"/>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00"/>
                                        <p:tgtEl>
                                          <p:spTgt spid="6"/>
                                        </p:tgtEl>
                                      </p:cBhvr>
                                    </p:animEffect>
                                    <p:anim calcmode="lin" valueType="num">
                                      <p:cBhvr additive="base">
                                        <p:cTn id="25" dur="600" fill="hold" decel="100000"/>
                                        <p:tgtEl>
                                          <p:spTgt spid="6"/>
                                        </p:tgtEl>
                                        <p:attrNameLst>
                                          <p:attrName>ppt_x</p:attrName>
                                        </p:attrNameLst>
                                      </p:cBhvr>
                                      <p:tavLst>
                                        <p:tav tm="0">
                                          <p:val>
                                            <p:strVal val="#ppt_x+.1"/>
                                          </p:val>
                                        </p:tav>
                                        <p:tav tm="100000">
                                          <p:val>
                                            <p:strVal val="#ppt_x"/>
                                          </p:val>
                                        </p:tav>
                                      </p:tavLst>
                                    </p:anim>
                                    <p:anim calcmode="lin" valueType="num">
                                      <p:cBhvr additive="base">
                                        <p:cTn id="26" dur="600" fill="hold" decel="100000"/>
                                        <p:tgtEl>
                                          <p:spTgt spid="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additive="base">
                                        <p:cTn id="32" dur="600" fill="hold" decel="100000"/>
                                        <p:tgtEl>
                                          <p:spTgt spid="7"/>
                                        </p:tgtEl>
                                        <p:attrNameLst>
                                          <p:attrName>ppt_x</p:attrName>
                                        </p:attrNameLst>
                                      </p:cBhvr>
                                      <p:tavLst>
                                        <p:tav tm="0">
                                          <p:val>
                                            <p:strVal val="#ppt_x+.1"/>
                                          </p:val>
                                        </p:tav>
                                        <p:tav tm="100000">
                                          <p:val>
                                            <p:strVal val="#ppt_x"/>
                                          </p:val>
                                        </p:tav>
                                      </p:tavLst>
                                    </p:anim>
                                    <p:anim calcmode="lin" valueType="num">
                                      <p:cBhvr additive="base">
                                        <p:cTn id="33" dur="600" fill="hold" decel="100000"/>
                                        <p:tgtEl>
                                          <p:spTgt spid="7"/>
                                        </p:tgtEl>
                                        <p:attrNameLst>
                                          <p:attrName>ppt_y</p:attrName>
                                        </p:attrNameLst>
                                      </p:cBhvr>
                                      <p:tavLst>
                                        <p:tav tm="0">
                                          <p:val>
                                            <p:strVal val="#ppt_y"/>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00"/>
                                        <p:tgtEl>
                                          <p:spTgt spid="8"/>
                                        </p:tgtEl>
                                      </p:cBhvr>
                                    </p:animEffect>
                                    <p:anim calcmode="lin" valueType="num">
                                      <p:cBhvr additive="base">
                                        <p:cTn id="37" dur="600" fill="hold" decel="100000"/>
                                        <p:tgtEl>
                                          <p:spTgt spid="8"/>
                                        </p:tgtEl>
                                        <p:attrNameLst>
                                          <p:attrName>ppt_x</p:attrName>
                                        </p:attrNameLst>
                                      </p:cBhvr>
                                      <p:tavLst>
                                        <p:tav tm="0">
                                          <p:val>
                                            <p:strVal val="#ppt_x+.1"/>
                                          </p:val>
                                        </p:tav>
                                        <p:tav tm="100000">
                                          <p:val>
                                            <p:strVal val="#ppt_x"/>
                                          </p:val>
                                        </p:tav>
                                      </p:tavLst>
                                    </p:anim>
                                    <p:anim calcmode="lin" valueType="num">
                                      <p:cBhvr additive="base">
                                        <p:cTn id="38" dur="600" fill="hold" decel="100000"/>
                                        <p:tgtEl>
                                          <p:spTgt spid="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additive="base">
                                        <p:cTn id="44" dur="600" fill="hold" decel="100000"/>
                                        <p:tgtEl>
                                          <p:spTgt spid="10"/>
                                        </p:tgtEl>
                                        <p:attrNameLst>
                                          <p:attrName>ppt_x</p:attrName>
                                        </p:attrNameLst>
                                      </p:cBhvr>
                                      <p:tavLst>
                                        <p:tav tm="0">
                                          <p:val>
                                            <p:strVal val="#ppt_x+.1"/>
                                          </p:val>
                                        </p:tav>
                                        <p:tav tm="100000">
                                          <p:val>
                                            <p:strVal val="#ppt_x"/>
                                          </p:val>
                                        </p:tav>
                                      </p:tavLst>
                                    </p:anim>
                                    <p:anim calcmode="lin" valueType="num">
                                      <p:cBhvr additive="base">
                                        <p:cTn id="45" dur="600" fill="hold" decel="100000"/>
                                        <p:tgtEl>
                                          <p:spTgt spid="10"/>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additive="base">
                                        <p:cTn id="49" dur="600" fill="hold" decel="100000"/>
                                        <p:tgtEl>
                                          <p:spTgt spid="9"/>
                                        </p:tgtEl>
                                        <p:attrNameLst>
                                          <p:attrName>ppt_x</p:attrName>
                                        </p:attrNameLst>
                                      </p:cBhvr>
                                      <p:tavLst>
                                        <p:tav tm="0">
                                          <p:val>
                                            <p:strVal val="#ppt_x+.1"/>
                                          </p:val>
                                        </p:tav>
                                        <p:tav tm="100000">
                                          <p:val>
                                            <p:strVal val="#ppt_x"/>
                                          </p:val>
                                        </p:tav>
                                      </p:tavLst>
                                    </p:anim>
                                    <p:anim calcmode="lin" valueType="num">
                                      <p:cBhvr additive="base">
                                        <p:cTn id="50" dur="600" fill="hold" decel="100000"/>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State machine diagram: a recommendation’s life</a:t>
            </a:r>
            <a:endParaRPr lang="en-US" sz="3200" dirty="0"/>
          </a:p>
        </p:txBody>
      </p:sp>
      <p:sp>
        <p:nvSpPr>
          <p:cNvPr id="3" name="A0_0_zoom_stc"/>
          <p:cNvSpPr/>
          <p:nvPr/>
        </p:nvSpPr>
        <p:spPr>
          <a:xfrm>
            <a:off x="812800" y="1905000"/>
            <a:ext cx="7035800" cy="3206750"/>
          </a:xfrm>
          <a:prstGeom prst="roundRect">
            <a:avLst>
              <a:gd name="adj" fmla="val 2281"/>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4" name="A0_0_zoom_sti" descr="State machine: Start goes to Pending when created; Pending goes to Accepted when the student accepts or to Dismissed when the student dismisses; both go to End">    </p:cNvPr>
          <p:cNvPicPr>
            <a:picLocks noChangeAspect="1"/>
          </p:cNvPicPr>
          <p:nvPr/>
        </p:nvPicPr>
        <p:blipFill>
          <a:blip r:embed="rId1"/>
          <a:stretch>
            <a:fillRect/>
          </a:stretch>
        </p:blipFill>
        <p:spPr>
          <a:xfrm>
            <a:off x="967653" y="2057400"/>
            <a:ext cx="6726094" cy="2901950"/>
          </a:xfrm>
          <a:prstGeom prst="rect">
            <a:avLst/>
          </a:prstGeom>
        </p:spPr>
      </p:pic>
      <p:sp>
        <p:nvSpPr>
          <p:cNvPr id="5" name="A0_600_right_x0"/>
          <p:cNvSpPr txBox="1"/>
          <p:nvPr/>
        </p:nvSpPr>
        <p:spPr>
          <a:xfrm>
            <a:off x="8153400" y="2540000"/>
            <a:ext cx="3225800" cy="508000"/>
          </a:xfrm>
          <a:prstGeom prst="rect">
            <a:avLst/>
          </a:prstGeom>
          <a:noFill/>
          <a:ln/>
        </p:spPr>
        <p:txBody>
          <a:bodyPr wrap="square" lIns="0" tIns="0" rIns="0" bIns="0" rtlCol="0" anchor="t"/>
          <a:lstStyle/>
          <a:p>
            <a:pPr indent="0" marL="0">
              <a:buNone/>
            </a:pPr>
            <a:r>
              <a:rPr lang="en-US" sz="1500" b="1" dirty="0">
                <a:solidFill>
                  <a:srgbClr val="1D2A3A"/>
                </a:solidFill>
                <a:latin typeface="Calibri" pitchFamily="34" charset="0"/>
                <a:ea typeface="Calibri" pitchFamily="34" charset="-122"/>
                <a:cs typeface="Calibri" pitchFamily="34" charset="-120"/>
              </a:rPr>
              <a:t>Pending: </a:t>
            </a:r>
            <a:pPr indent="0" marL="0">
              <a:buNone/>
            </a:pPr>
            <a:r>
              <a:rPr lang="en-US" sz="1500" dirty="0">
                <a:solidFill>
                  <a:srgbClr val="4A5568"/>
                </a:solidFill>
                <a:latin typeface="Calibri" pitchFamily="34" charset="0"/>
                <a:ea typeface="Calibri" pitchFamily="34" charset="-122"/>
                <a:cs typeface="Calibri" pitchFamily="34" charset="-120"/>
              </a:rPr>
              <a:t>shown, waiting for the student</a:t>
            </a:r>
            <a:endParaRPr lang="en-US" sz="1500" dirty="0"/>
          </a:p>
        </p:txBody>
      </p:sp>
      <p:sp>
        <p:nvSpPr>
          <p:cNvPr id="6" name="A0_850_right_x1"/>
          <p:cNvSpPr txBox="1"/>
          <p:nvPr/>
        </p:nvSpPr>
        <p:spPr>
          <a:xfrm>
            <a:off x="8153400" y="3238500"/>
            <a:ext cx="3225800" cy="508000"/>
          </a:xfrm>
          <a:prstGeom prst="rect">
            <a:avLst/>
          </a:prstGeom>
          <a:noFill/>
          <a:ln/>
        </p:spPr>
        <p:txBody>
          <a:bodyPr wrap="square" lIns="0" tIns="0" rIns="0" bIns="0" rtlCol="0" anchor="t"/>
          <a:lstStyle/>
          <a:p>
            <a:pPr indent="0" marL="0">
              <a:buNone/>
            </a:pPr>
            <a:r>
              <a:rPr lang="en-US" sz="1500" b="1" dirty="0">
                <a:solidFill>
                  <a:srgbClr val="1D2A3A"/>
                </a:solidFill>
                <a:latin typeface="Calibri" pitchFamily="34" charset="0"/>
                <a:ea typeface="Calibri" pitchFamily="34" charset="-122"/>
                <a:cs typeface="Calibri" pitchFamily="34" charset="-120"/>
              </a:rPr>
              <a:t>Accepted: </a:t>
            </a:r>
            <a:pPr indent="0" marL="0">
              <a:buNone/>
            </a:pPr>
            <a:r>
              <a:rPr lang="en-US" sz="1500" dirty="0">
                <a:solidFill>
                  <a:srgbClr val="4A5568"/>
                </a:solidFill>
                <a:latin typeface="Calibri" pitchFamily="34" charset="0"/>
                <a:ea typeface="Calibri" pitchFamily="34" charset="-122"/>
                <a:cs typeface="Calibri" pitchFamily="34" charset="-120"/>
              </a:rPr>
              <a:t>sessions added to the schedule</a:t>
            </a:r>
            <a:endParaRPr lang="en-US" sz="1500" dirty="0"/>
          </a:p>
        </p:txBody>
      </p:sp>
      <p:sp>
        <p:nvSpPr>
          <p:cNvPr id="7" name="A0_1100_right_x2"/>
          <p:cNvSpPr txBox="1"/>
          <p:nvPr/>
        </p:nvSpPr>
        <p:spPr>
          <a:xfrm>
            <a:off x="8153400" y="3937000"/>
            <a:ext cx="3225800" cy="508000"/>
          </a:xfrm>
          <a:prstGeom prst="rect">
            <a:avLst/>
          </a:prstGeom>
          <a:noFill/>
          <a:ln/>
        </p:spPr>
        <p:txBody>
          <a:bodyPr wrap="square" lIns="0" tIns="0" rIns="0" bIns="0" rtlCol="0" anchor="t"/>
          <a:lstStyle/>
          <a:p>
            <a:pPr indent="0" marL="0">
              <a:buNone/>
            </a:pPr>
            <a:r>
              <a:rPr lang="en-US" sz="1500" b="1" dirty="0">
                <a:solidFill>
                  <a:srgbClr val="1D2A3A"/>
                </a:solidFill>
                <a:latin typeface="Calibri" pitchFamily="34" charset="0"/>
                <a:ea typeface="Calibri" pitchFamily="34" charset="-122"/>
                <a:cs typeface="Calibri" pitchFamily="34" charset="-120"/>
              </a:rPr>
              <a:t>Dismissed: </a:t>
            </a:r>
            <a:pPr indent="0" marL="0">
              <a:buNone/>
            </a:pPr>
            <a:r>
              <a:rPr lang="en-US" sz="1500" dirty="0">
                <a:solidFill>
                  <a:srgbClr val="4A5568"/>
                </a:solidFill>
                <a:latin typeface="Calibri" pitchFamily="34" charset="0"/>
                <a:ea typeface="Calibri" pitchFamily="34" charset="-122"/>
                <a:cs typeface="Calibri" pitchFamily="34" charset="-120"/>
              </a:rPr>
              <a:t>hidden from the dashboard</a:t>
            </a:r>
            <a:endParaRPr lang="en-US" sz="15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600" fill="hold" decel="100000"/>
                                        <p:tgtEl>
                                          <p:spTgt spid="3"/>
                                        </p:tgtEl>
                                        <p:attrNameLst>
                                          <p:attrName>ppt_w</p:attrName>
                                        </p:attrNameLst>
                                      </p:cBhvr>
                                      <p:tavLst>
                                        <p:tav tm="0">
                                          <p:val>
                                            <p:strVal val="0"/>
                                          </p:val>
                                        </p:tav>
                                        <p:tav tm="100000">
                                          <p:val>
                                            <p:strVal val="#ppt_w"/>
                                          </p:val>
                                        </p:tav>
                                      </p:tavLst>
                                    </p:anim>
                                    <p:anim calcmode="lin" valueType="num">
                                      <p:cBhvr additive="base">
                                        <p:cTn id="8" dur="600" fill="hold" decel="100000"/>
                                        <p:tgtEl>
                                          <p:spTgt spid="3"/>
                                        </p:tgtEl>
                                        <p:attrNameLst>
                                          <p:attrName>ppt_h</p:attrName>
                                        </p:attrNameLst>
                                      </p:cBhvr>
                                      <p:tavLst>
                                        <p:tav tm="0">
                                          <p:val>
                                            <p:strVal val="0"/>
                                          </p:val>
                                        </p:tav>
                                        <p:tav tm="100000">
                                          <p:val>
                                            <p:strVal val="#ppt_h"/>
                                          </p:val>
                                        </p:tav>
                                      </p:tavLst>
                                    </p:anim>
                                    <p:animEffect transition="in" filter="fade">
                                      <p:cBhvr>
                                        <p:cTn id="9" dur="6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600" fill="hold" decel="100000"/>
                                        <p:tgtEl>
                                          <p:spTgt spid="4"/>
                                        </p:tgtEl>
                                        <p:attrNameLst>
                                          <p:attrName>ppt_w</p:attrName>
                                        </p:attrNameLst>
                                      </p:cBhvr>
                                      <p:tavLst>
                                        <p:tav tm="0">
                                          <p:val>
                                            <p:strVal val="0"/>
                                          </p:val>
                                        </p:tav>
                                        <p:tav tm="100000">
                                          <p:val>
                                            <p:strVal val="#ppt_w"/>
                                          </p:val>
                                        </p:tav>
                                      </p:tavLst>
                                    </p:anim>
                                    <p:anim calcmode="lin" valueType="num">
                                      <p:cBhvr additive="base">
                                        <p:cTn id="13" dur="600" fill="hold" decel="100000"/>
                                        <p:tgtEl>
                                          <p:spTgt spid="4"/>
                                        </p:tgtEl>
                                        <p:attrNameLst>
                                          <p:attrName>ppt_h</p:attrName>
                                        </p:attrNameLst>
                                      </p:cBhvr>
                                      <p:tavLst>
                                        <p:tav tm="0">
                                          <p:val>
                                            <p:strVal val="0"/>
                                          </p:val>
                                        </p:tav>
                                        <p:tav tm="100000">
                                          <p:val>
                                            <p:strVal val="#ppt_h"/>
                                          </p:val>
                                        </p:tav>
                                      </p:tavLst>
                                    </p:anim>
                                    <p:animEffect transition="in" filter="fade">
                                      <p:cBhvr>
                                        <p:cTn id="14" dur="600"/>
                                        <p:tgtEl>
                                          <p:spTgt spid="4"/>
                                        </p:tgtEl>
                                      </p:cBhvr>
                                    </p:animEffect>
                                  </p:childTnLst>
                                </p:cTn>
                              </p:par>
                              <p:par>
                                <p:cTn id="15" presetID="42" presetClass="entr" presetSubtype="0" fill="hold" grpId="0" nodeType="withEffect">
                                  <p:stCondLst>
                                    <p:cond delay="6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decel="100000"/>
                                        <p:tgtEl>
                                          <p:spTgt spid="5"/>
                                        </p:tgtEl>
                                        <p:attrNameLst>
                                          <p:attrName>ppt_x</p:attrName>
                                        </p:attrNameLst>
                                      </p:cBhvr>
                                      <p:tavLst>
                                        <p:tav tm="0">
                                          <p:val>
                                            <p:strVal val="#ppt_x+.1"/>
                                          </p:val>
                                        </p:tav>
                                        <p:tav tm="100000">
                                          <p:val>
                                            <p:strVal val="#ppt_x"/>
                                          </p:val>
                                        </p:tav>
                                      </p:tavLst>
                                    </p:anim>
                                    <p:anim calcmode="lin" valueType="num">
                                      <p:cBhvr additive="base">
                                        <p:cTn id="19" dur="600" fill="hold" decel="100000"/>
                                        <p:tgtEl>
                                          <p:spTgt spid="5"/>
                                        </p:tgtEl>
                                        <p:attrNameLst>
                                          <p:attrName>ppt_y</p:attrName>
                                        </p:attrNameLst>
                                      </p:cBhvr>
                                      <p:tavLst>
                                        <p:tav tm="0">
                                          <p:val>
                                            <p:strVal val="#ppt_y"/>
                                          </p:val>
                                        </p:tav>
                                        <p:tav tm="100000">
                                          <p:val>
                                            <p:strVal val="#ppt_y"/>
                                          </p:val>
                                        </p:tav>
                                      </p:tavLst>
                                    </p:anim>
                                  </p:childTnLst>
                                </p:cTn>
                              </p:par>
                              <p:par>
                                <p:cTn id="20" presetID="42" presetClass="entr" presetSubtype="0" fill="hold" grpId="0" nodeType="withEffect">
                                  <p:stCondLst>
                                    <p:cond delay="85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anim calcmode="lin" valueType="num">
                                      <p:cBhvr additive="base">
                                        <p:cTn id="23" dur="600" fill="hold" decel="100000"/>
                                        <p:tgtEl>
                                          <p:spTgt spid="6"/>
                                        </p:tgtEl>
                                        <p:attrNameLst>
                                          <p:attrName>ppt_x</p:attrName>
                                        </p:attrNameLst>
                                      </p:cBhvr>
                                      <p:tavLst>
                                        <p:tav tm="0">
                                          <p:val>
                                            <p:strVal val="#ppt_x+.1"/>
                                          </p:val>
                                        </p:tav>
                                        <p:tav tm="100000">
                                          <p:val>
                                            <p:strVal val="#ppt_x"/>
                                          </p:val>
                                        </p:tav>
                                      </p:tavLst>
                                    </p:anim>
                                    <p:anim calcmode="lin" valueType="num">
                                      <p:cBhvr additive="base">
                                        <p:cTn id="24" dur="600" fill="hold" decel="100000"/>
                                        <p:tgtEl>
                                          <p:spTgt spid="6"/>
                                        </p:tgtEl>
                                        <p:attrNameLst>
                                          <p:attrName>ppt_y</p:attrName>
                                        </p:attrNameLst>
                                      </p:cBhvr>
                                      <p:tavLst>
                                        <p:tav tm="0">
                                          <p:val>
                                            <p:strVal val="#ppt_y"/>
                                          </p:val>
                                        </p:tav>
                                        <p:tav tm="100000">
                                          <p:val>
                                            <p:strVal val="#ppt_y"/>
                                          </p:val>
                                        </p:tav>
                                      </p:tavLst>
                                    </p:anim>
                                  </p:childTnLst>
                                </p:cTn>
                              </p:par>
                              <p:par>
                                <p:cTn id="25" presetID="42" presetClass="entr" presetSubtype="0" fill="hold" grpId="0" nodeType="withEffect">
                                  <p:stCondLst>
                                    <p:cond delay="110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anim calcmode="lin" valueType="num">
                                      <p:cBhvr additive="base">
                                        <p:cTn id="28" dur="600" fill="hold" decel="100000"/>
                                        <p:tgtEl>
                                          <p:spTgt spid="7"/>
                                        </p:tgtEl>
                                        <p:attrNameLst>
                                          <p:attrName>ppt_x</p:attrName>
                                        </p:attrNameLst>
                                      </p:cBhvr>
                                      <p:tavLst>
                                        <p:tav tm="0">
                                          <p:val>
                                            <p:strVal val="#ppt_x+.1"/>
                                          </p:val>
                                        </p:tav>
                                        <p:tav tm="100000">
                                          <p:val>
                                            <p:strVal val="#ppt_x"/>
                                          </p:val>
                                        </p:tav>
                                      </p:tavLst>
                                    </p:anim>
                                    <p:anim calcmode="lin" valueType="num">
                                      <p:cBhvr additive="base">
                                        <p:cTn id="29" dur="600" fill="hold" decel="100000"/>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160000" cy="762000"/>
          </a:xfrm>
          <a:prstGeom prst="rect">
            <a:avLst/>
          </a:prstGeom>
          <a:noFill/>
          <a:ln/>
        </p:spPr>
        <p:txBody>
          <a:bodyPr wrap="square" lIns="0" tIns="0" rIns="0" bIns="0" rtlCol="0" anchor="t"/>
          <a:lstStyle/>
          <a:p>
            <a:pPr algn="l" indent="0" marL="0">
              <a:buNone/>
            </a:pPr>
            <a:r>
              <a:rPr lang="en-US" sz="3200" b="1" dirty="0">
                <a:solidFill>
                  <a:srgbClr val="1D2A3A"/>
                </a:solidFill>
                <a:latin typeface="Calibri" pitchFamily="34" charset="0"/>
                <a:ea typeface="Calibri" pitchFamily="34" charset="-122"/>
                <a:cs typeface="Calibri" pitchFamily="34" charset="-120"/>
              </a:rPr>
              <a:t>Where the project stands</a:t>
            </a:r>
            <a:endParaRPr lang="en-US" sz="3200" dirty="0"/>
          </a:p>
        </p:txBody>
      </p:sp>
      <p:sp>
        <p:nvSpPr>
          <p:cNvPr id="3" name="A0_200_rise_d0c"/>
          <p:cNvSpPr/>
          <p:nvPr/>
        </p:nvSpPr>
        <p:spPr>
          <a:xfrm>
            <a:off x="812800" y="1524000"/>
            <a:ext cx="5156200" cy="3937000"/>
          </a:xfrm>
          <a:prstGeom prst="roundRect">
            <a:avLst>
              <a:gd name="adj" fmla="val 3252"/>
            </a:avLst>
          </a:prstGeom>
          <a:solidFill>
            <a:srgbClr val="FFFFFF"/>
          </a:solidFill>
          <a:ln w="9525">
            <a:solidFill>
              <a:srgbClr val="DDD9CE"/>
            </a:solidFill>
            <a:prstDash val="solid"/>
          </a:ln>
          <a:effectLst>
            <a:outerShdw sx="100000" sy="100000" kx="0" ky="0" algn="bl" rotWithShape="0" blurRad="177800" dist="63500" dir="5400000">
              <a:srgbClr val="1D2A3A">
                <a:alpha val="10000"/>
              </a:srgbClr>
            </a:outerShdw>
          </a:effectLst>
        </p:spPr>
      </p:sp>
      <p:pic>
        <p:nvPicPr>
          <p:cNvPr id="4" name="A0_200_rise_d0i" descr="preencoded.png">    </p:cNvPr>
          <p:cNvPicPr>
            <a:picLocks noChangeAspect="1"/>
          </p:cNvPicPr>
          <p:nvPr/>
        </p:nvPicPr>
        <p:blipFill>
          <a:blip r:embed="rId1"/>
          <a:stretch>
            <a:fillRect/>
          </a:stretch>
        </p:blipFill>
        <p:spPr>
          <a:xfrm>
            <a:off x="1117600" y="1803400"/>
            <a:ext cx="254000" cy="254000"/>
          </a:xfrm>
          <a:prstGeom prst="rect">
            <a:avLst/>
          </a:prstGeom>
        </p:spPr>
      </p:pic>
      <p:sp>
        <p:nvSpPr>
          <p:cNvPr id="5" name="A0_200_rise_d0h"/>
          <p:cNvSpPr txBox="1"/>
          <p:nvPr/>
        </p:nvSpPr>
        <p:spPr>
          <a:xfrm>
            <a:off x="1473200" y="1816100"/>
            <a:ext cx="3810000" cy="254000"/>
          </a:xfrm>
          <a:prstGeom prst="rect">
            <a:avLst/>
          </a:prstGeom>
          <a:noFill/>
          <a:ln/>
        </p:spPr>
        <p:txBody>
          <a:bodyPr wrap="square" lIns="0" tIns="0" rIns="0" bIns="0" rtlCol="0" anchor="t"/>
          <a:lstStyle/>
          <a:p>
            <a:pPr indent="0" marL="0">
              <a:buNone/>
            </a:pPr>
            <a:r>
              <a:rPr lang="en-US" sz="1500" b="1" spc="100" kern="0" dirty="0">
                <a:solidFill>
                  <a:srgbClr val="2E6AA8"/>
                </a:solidFill>
                <a:latin typeface="Calibri" pitchFamily="34" charset="0"/>
                <a:ea typeface="Calibri" pitchFamily="34" charset="-122"/>
                <a:cs typeface="Calibri" pitchFamily="34" charset="-120"/>
              </a:rPr>
              <a:t>DONE</a:t>
            </a:r>
            <a:endParaRPr lang="en-US" sz="1500" dirty="0"/>
          </a:p>
        </p:txBody>
      </p:sp>
      <p:sp>
        <p:nvSpPr>
          <p:cNvPr id="6" name="A0_200_rise_d0l"/>
          <p:cNvSpPr txBox="1"/>
          <p:nvPr/>
        </p:nvSpPr>
        <p:spPr>
          <a:xfrm>
            <a:off x="1117600" y="2286000"/>
            <a:ext cx="4546600" cy="2984500"/>
          </a:xfrm>
          <a:prstGeom prst="rect">
            <a:avLst/>
          </a:prstGeom>
          <a:noFill/>
          <a:ln/>
        </p:spPr>
        <p:txBody>
          <a:bodyPr wrap="square" lIns="0" tIns="0" rIns="0" bIns="0" rtlCol="0" anchor="t"/>
          <a:lstStyle/>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Project proposal</a:t>
            </a:r>
            <a:endParaRPr lang="en-US" sz="1600" dirty="0"/>
          </a:p>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Software requirements specification</a:t>
            </a:r>
            <a:endParaRPr lang="en-US" sz="1600" dirty="0"/>
          </a:p>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Class diagram and CRC cards</a:t>
            </a:r>
            <a:endParaRPr lang="en-US" sz="1600" dirty="0"/>
          </a:p>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Sequence and state machine diagrams</a:t>
            </a:r>
            <a:endParaRPr lang="en-US" sz="1600" dirty="0"/>
          </a:p>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Early prototype of the main screens and the recommendation rules</a:t>
            </a:r>
            <a:endParaRPr lang="en-US" sz="1600" dirty="0"/>
          </a:p>
        </p:txBody>
      </p:sp>
      <p:sp>
        <p:nvSpPr>
          <p:cNvPr id="7" name="A0_600_rise_d1c"/>
          <p:cNvSpPr/>
          <p:nvPr/>
        </p:nvSpPr>
        <p:spPr>
          <a:xfrm>
            <a:off x="6223000" y="1524000"/>
            <a:ext cx="5156200" cy="3937000"/>
          </a:xfrm>
          <a:prstGeom prst="roundRect">
            <a:avLst>
              <a:gd name="adj" fmla="val 3252"/>
            </a:avLst>
          </a:prstGeom>
          <a:solidFill>
            <a:srgbClr val="FFF6EE"/>
          </a:solidFill>
          <a:ln w="9525">
            <a:solidFill>
              <a:srgbClr val="EBD3C1"/>
            </a:solidFill>
            <a:prstDash val="solid"/>
          </a:ln>
          <a:effectLst>
            <a:outerShdw sx="100000" sy="100000" kx="0" ky="0" algn="bl" rotWithShape="0" blurRad="177800" dist="63500" dir="5400000">
              <a:srgbClr val="1D2A3A">
                <a:alpha val="10000"/>
              </a:srgbClr>
            </a:outerShdw>
          </a:effectLst>
        </p:spPr>
      </p:sp>
      <p:pic>
        <p:nvPicPr>
          <p:cNvPr id="8" name="A0_600_rise_d1i" descr="preencoded.png">    </p:cNvPr>
          <p:cNvPicPr>
            <a:picLocks noChangeAspect="1"/>
          </p:cNvPicPr>
          <p:nvPr/>
        </p:nvPicPr>
        <p:blipFill>
          <a:blip r:embed="rId2"/>
          <a:stretch>
            <a:fillRect/>
          </a:stretch>
        </p:blipFill>
        <p:spPr>
          <a:xfrm>
            <a:off x="6527800" y="1803400"/>
            <a:ext cx="254000" cy="254000"/>
          </a:xfrm>
          <a:prstGeom prst="rect">
            <a:avLst/>
          </a:prstGeom>
        </p:spPr>
      </p:pic>
      <p:sp>
        <p:nvSpPr>
          <p:cNvPr id="9" name="A0_600_rise_d1h"/>
          <p:cNvSpPr txBox="1"/>
          <p:nvPr/>
        </p:nvSpPr>
        <p:spPr>
          <a:xfrm>
            <a:off x="6883400" y="1816100"/>
            <a:ext cx="3810000" cy="254000"/>
          </a:xfrm>
          <a:prstGeom prst="rect">
            <a:avLst/>
          </a:prstGeom>
          <a:noFill/>
          <a:ln/>
        </p:spPr>
        <p:txBody>
          <a:bodyPr wrap="square" lIns="0" tIns="0" rIns="0" bIns="0" rtlCol="0" anchor="t"/>
          <a:lstStyle/>
          <a:p>
            <a:pPr indent="0" marL="0">
              <a:buNone/>
            </a:pPr>
            <a:r>
              <a:rPr lang="en-US" sz="1500" b="1" spc="100" kern="0" dirty="0">
                <a:solidFill>
                  <a:srgbClr val="C8662F"/>
                </a:solidFill>
                <a:latin typeface="Calibri" pitchFamily="34" charset="0"/>
                <a:ea typeface="Calibri" pitchFamily="34" charset="-122"/>
                <a:cs typeface="Calibri" pitchFamily="34" charset="-120"/>
              </a:rPr>
              <a:t>NEXT</a:t>
            </a:r>
            <a:endParaRPr lang="en-US" sz="1500" dirty="0"/>
          </a:p>
        </p:txBody>
      </p:sp>
      <p:sp>
        <p:nvSpPr>
          <p:cNvPr id="10" name="A0_600_rise_d1l"/>
          <p:cNvSpPr txBox="1"/>
          <p:nvPr/>
        </p:nvSpPr>
        <p:spPr>
          <a:xfrm>
            <a:off x="6527800" y="2286000"/>
            <a:ext cx="4546600" cy="2984500"/>
          </a:xfrm>
          <a:prstGeom prst="rect">
            <a:avLst/>
          </a:prstGeom>
          <a:noFill/>
          <a:ln/>
        </p:spPr>
        <p:txBody>
          <a:bodyPr wrap="square" lIns="0" tIns="0" rIns="0" bIns="0" rtlCol="0" anchor="t"/>
          <a:lstStyle/>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Connect the screens to the Express and MongoDB back end</a:t>
            </a:r>
            <a:endParaRPr lang="en-US" sz="1600" dirty="0"/>
          </a:p>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Add student accounts</a:t>
            </a:r>
            <a:endParaRPr lang="en-US" sz="1600" dirty="0"/>
          </a:p>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Plug in Llama 3.2 through Ollama</a:t>
            </a:r>
            <a:endParaRPr lang="en-US" sz="1600" dirty="0"/>
          </a:p>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Test every objective</a:t>
            </a:r>
            <a:endParaRPr lang="en-US" sz="1600" dirty="0"/>
          </a:p>
          <a:p>
            <a:pPr marL="342900" indent="-342900">
              <a:lnSpc>
                <a:spcPct val="110000"/>
              </a:lnSpc>
              <a:spcAft>
                <a:spcPts val="1000"/>
              </a:spcAft>
              <a:buSzPct val="100000"/>
              <a:buChar char="•"/>
            </a:pPr>
            <a:r>
              <a:rPr lang="en-US" sz="1600" dirty="0">
                <a:solidFill>
                  <a:srgbClr val="1D2A3A"/>
                </a:solidFill>
                <a:latin typeface="Calibri" pitchFamily="34" charset="0"/>
                <a:ea typeface="Calibri" pitchFamily="34" charset="-122"/>
                <a:cs typeface="Calibri" pitchFamily="34" charset="-120"/>
              </a:rPr>
              <a:t>Final report and demo</a:t>
            </a:r>
            <a:endParaRPr lang="en-US" sz="1600" dirty="0"/>
          </a:p>
        </p:txBody>
      </p:sp>
      <p:sp>
        <p:nvSpPr>
          <p:cNvPr id="25" name="Slide Number Placeholder 0"/>
          <p:cNvSpPr>
            <a:spLocks noGrp="1"/>
          </p:cNvSpPr>
          <p:nvPr>
            <p:ph type="sldNum" sz="quarter" idx="4294967295"/>
          </p:nvPr>
        </p:nvSpPr>
        <p:spPr>
          <a:xfrm>
            <a:off x="10744200" y="62230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anim calcmode="lin" valueType="num">
                                      <p:cBhvr additive="base">
                                        <p:cTn id="8" dur="7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700" fill="hold" decel="100000"/>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00"/>
                                        <p:tgtEl>
                                          <p:spTgt spid="4"/>
                                        </p:tgtEl>
                                      </p:cBhvr>
                                    </p:animEffect>
                                    <p:anim calcmode="lin" valueType="num">
                                      <p:cBhvr additive="base">
                                        <p:cTn id="13" dur="7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700" fill="hold" decel="100000"/>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700" fill="hold" decel="100000"/>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2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700" fill="hold" decel="100000"/>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6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anim calcmode="lin" valueType="num">
                                      <p:cBhvr additive="base">
                                        <p:cTn id="28" dur="700" fill="hold" decel="100000"/>
                                        <p:tgtEl>
                                          <p:spTgt spid="10"/>
                                        </p:tgtEl>
                                        <p:attrNameLst>
                                          <p:attrName>ppt_x</p:attrName>
                                        </p:attrNameLst>
                                      </p:cBhvr>
                                      <p:tavLst>
                                        <p:tav tm="0">
                                          <p:val>
                                            <p:strVal val="#ppt_x"/>
                                          </p:val>
                                        </p:tav>
                                        <p:tav tm="100000">
                                          <p:val>
                                            <p:strVal val="#ppt_x"/>
                                          </p:val>
                                        </p:tav>
                                      </p:tavLst>
                                    </p:anim>
                                    <p:anim calcmode="lin" valueType="num">
                                      <p:cBhvr additive="base">
                                        <p:cTn id="29" dur="700" fill="hold" decel="100000"/>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6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700"/>
                                        <p:tgtEl>
                                          <p:spTgt spid="7"/>
                                        </p:tgtEl>
                                      </p:cBhvr>
                                    </p:animEffect>
                                    <p:anim calcmode="lin" valueType="num">
                                      <p:cBhvr additive="base">
                                        <p:cTn id="33" dur="700" fill="hold" decel="100000"/>
                                        <p:tgtEl>
                                          <p:spTgt spid="7"/>
                                        </p:tgtEl>
                                        <p:attrNameLst>
                                          <p:attrName>ppt_x</p:attrName>
                                        </p:attrNameLst>
                                      </p:cBhvr>
                                      <p:tavLst>
                                        <p:tav tm="0">
                                          <p:val>
                                            <p:strVal val="#ppt_x"/>
                                          </p:val>
                                        </p:tav>
                                        <p:tav tm="100000">
                                          <p:val>
                                            <p:strVal val="#ppt_x"/>
                                          </p:val>
                                        </p:tav>
                                      </p:tavLst>
                                    </p:anim>
                                    <p:anim calcmode="lin" valueType="num">
                                      <p:cBhvr additive="base">
                                        <p:cTn id="34" dur="700" fill="hold" decel="100000"/>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60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700"/>
                                        <p:tgtEl>
                                          <p:spTgt spid="8"/>
                                        </p:tgtEl>
                                      </p:cBhvr>
                                    </p:animEffect>
                                    <p:anim calcmode="lin" valueType="num">
                                      <p:cBhvr additive="base">
                                        <p:cTn id="38" dur="700" fill="hold" decel="100000"/>
                                        <p:tgtEl>
                                          <p:spTgt spid="8"/>
                                        </p:tgtEl>
                                        <p:attrNameLst>
                                          <p:attrName>ppt_x</p:attrName>
                                        </p:attrNameLst>
                                      </p:cBhvr>
                                      <p:tavLst>
                                        <p:tav tm="0">
                                          <p:val>
                                            <p:strVal val="#ppt_x"/>
                                          </p:val>
                                        </p:tav>
                                        <p:tav tm="100000">
                                          <p:val>
                                            <p:strVal val="#ppt_x"/>
                                          </p:val>
                                        </p:tav>
                                      </p:tavLst>
                                    </p:anim>
                                    <p:anim calcmode="lin" valueType="num">
                                      <p:cBhvr additive="base">
                                        <p:cTn id="39" dur="700" fill="hold" decel="100000"/>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60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700"/>
                                        <p:tgtEl>
                                          <p:spTgt spid="9"/>
                                        </p:tgtEl>
                                      </p:cBhvr>
                                    </p:animEffect>
                                    <p:anim calcmode="lin" valueType="num">
                                      <p:cBhvr additive="base">
                                        <p:cTn id="43" dur="700" fill="hold" decel="100000"/>
                                        <p:tgtEl>
                                          <p:spTgt spid="9"/>
                                        </p:tgtEl>
                                        <p:attrNameLst>
                                          <p:attrName>ppt_x</p:attrName>
                                        </p:attrNameLst>
                                      </p:cBhvr>
                                      <p:tavLst>
                                        <p:tav tm="0">
                                          <p:val>
                                            <p:strVal val="#ppt_x"/>
                                          </p:val>
                                        </p:tav>
                                        <p:tav tm="100000">
                                          <p:val>
                                            <p:strVal val="#ppt_x"/>
                                          </p:val>
                                        </p:tav>
                                      </p:tavLst>
                                    </p:anim>
                                    <p:anim calcmode="lin" valueType="num">
                                      <p:cBhvr additive="base">
                                        <p:cTn id="44" dur="700" fill="hold" decel="100000"/>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0_0_zoom_ring"/>
          <p:cNvSpPr/>
          <p:nvPr/>
        </p:nvSpPr>
        <p:spPr>
          <a:xfrm>
            <a:off x="7493000" y="762000"/>
            <a:ext cx="4064000" cy="4064000"/>
          </a:xfrm>
          <a:prstGeom prst="ellipse">
            <a:avLst/>
          </a:prstGeom>
          <a:ln w="19050">
            <a:solidFill>
              <a:srgbClr val="3E6C9E">
                <a:alpha val="70000"/>
              </a:srgbClr>
            </a:solidFill>
            <a:prstDash val="solid"/>
          </a:ln>
        </p:spPr>
      </p:sp>
      <p:sp>
        <p:nvSpPr>
          <p:cNvPr id="3" name="A0_250_zoom_disc"/>
          <p:cNvSpPr/>
          <p:nvPr/>
        </p:nvSpPr>
        <p:spPr>
          <a:xfrm>
            <a:off x="8763000" y="2032000"/>
            <a:ext cx="1905000" cy="1905000"/>
          </a:xfrm>
          <a:prstGeom prst="ellipse">
            <a:avLst/>
          </a:prstGeom>
          <a:solidFill>
            <a:srgbClr val="2E6AA8">
              <a:alpha val="35000"/>
            </a:srgbClr>
          </a:solidFill>
          <a:ln/>
        </p:spPr>
      </p:sp>
      <p:sp>
        <p:nvSpPr>
          <p:cNvPr id="4" name="A0_500_zoom_dot"/>
          <p:cNvSpPr/>
          <p:nvPr/>
        </p:nvSpPr>
        <p:spPr>
          <a:xfrm>
            <a:off x="10414000" y="1143000"/>
            <a:ext cx="355600" cy="355600"/>
          </a:xfrm>
          <a:prstGeom prst="ellipse">
            <a:avLst/>
          </a:prstGeom>
          <a:solidFill>
            <a:srgbClr val="F2B36B"/>
          </a:solidFill>
          <a:ln/>
        </p:spPr>
      </p:sp>
      <p:sp>
        <p:nvSpPr>
          <p:cNvPr id="5" name="A0_700_rise_title"/>
          <p:cNvSpPr txBox="1"/>
          <p:nvPr/>
        </p:nvSpPr>
        <p:spPr>
          <a:xfrm>
            <a:off x="812800" y="2095500"/>
            <a:ext cx="7302500" cy="1651000"/>
          </a:xfrm>
          <a:prstGeom prst="rect">
            <a:avLst/>
          </a:prstGeom>
          <a:noFill/>
          <a:ln/>
        </p:spPr>
        <p:txBody>
          <a:bodyPr wrap="square" lIns="0" tIns="0" rIns="0" bIns="0" rtlCol="0" anchor="t"/>
          <a:lstStyle/>
          <a:p>
            <a:pPr indent="0" marL="0">
              <a:buNone/>
            </a:pPr>
            <a:r>
              <a:rPr lang="en-US" sz="6000" b="1" dirty="0">
                <a:solidFill>
                  <a:srgbClr val="F6F5F1"/>
                </a:solidFill>
                <a:latin typeface="Calibri" pitchFamily="34" charset="0"/>
                <a:ea typeface="Calibri" pitchFamily="34" charset="-122"/>
                <a:cs typeface="Calibri" pitchFamily="34" charset="-120"/>
              </a:rPr>
              <a:t>Thank you. Questions?</a:t>
            </a:r>
            <a:endParaRPr lang="en-US" sz="6000" dirty="0"/>
          </a:p>
        </p:txBody>
      </p:sp>
      <p:sp>
        <p:nvSpPr>
          <p:cNvPr id="6" name="A0_1000_wipe_bar"/>
          <p:cNvSpPr/>
          <p:nvPr/>
        </p:nvSpPr>
        <p:spPr>
          <a:xfrm>
            <a:off x="812800" y="3810000"/>
            <a:ext cx="1016000" cy="50800"/>
          </a:xfrm>
          <a:prstGeom prst="rect">
            <a:avLst/>
          </a:prstGeom>
          <a:solidFill>
            <a:srgbClr val="F2B36B"/>
          </a:solidFill>
          <a:ln/>
        </p:spPr>
      </p:sp>
      <p:sp>
        <p:nvSpPr>
          <p:cNvPr id="7" name="A0_1200_fade_repo"/>
          <p:cNvSpPr txBox="1"/>
          <p:nvPr/>
        </p:nvSpPr>
        <p:spPr>
          <a:xfrm>
            <a:off x="812800" y="4127500"/>
            <a:ext cx="8255000" cy="34290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Repository: github.com/alibelhrak/GVSU-CIS641-AIStudyAssistant</a:t>
            </a:r>
            <a:endParaRPr lang="en-US" sz="1800" dirty="0"/>
          </a:p>
        </p:txBody>
      </p:sp>
      <p:sp>
        <p:nvSpPr>
          <p:cNvPr id="8" name="A0_1400_fade_port"/>
          <p:cNvSpPr txBox="1"/>
          <p:nvPr/>
        </p:nvSpPr>
        <p:spPr>
          <a:xfrm>
            <a:off x="812800" y="4572000"/>
            <a:ext cx="8255000" cy="34290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Portfolio: alibelhrak.github.io</a:t>
            </a:r>
            <a:endParaRPr lang="en-US" sz="1800" dirty="0"/>
          </a:p>
        </p:txBody>
      </p:sp>
      <p:sp>
        <p:nvSpPr>
          <p:cNvPr id="9" name="Text 7"/>
          <p:cNvSpPr txBox="1"/>
          <p:nvPr/>
        </p:nvSpPr>
        <p:spPr>
          <a:xfrm>
            <a:off x="812800" y="5969000"/>
            <a:ext cx="7620000" cy="279400"/>
          </a:xfrm>
          <a:prstGeom prst="rect">
            <a:avLst/>
          </a:prstGeom>
          <a:noFill/>
          <a:ln/>
        </p:spPr>
        <p:txBody>
          <a:bodyPr wrap="square" lIns="0" tIns="0" rIns="0" bIns="0" rtlCol="0" anchor="t"/>
          <a:lstStyle/>
          <a:p>
            <a:pPr indent="0" marL="0">
              <a:buNone/>
            </a:pPr>
            <a:r>
              <a:rPr lang="en-US" sz="1400" dirty="0">
                <a:solidFill>
                  <a:srgbClr val="8FB8E3"/>
                </a:solidFill>
                <a:latin typeface="Calibri" pitchFamily="34" charset="0"/>
                <a:ea typeface="Calibri" pitchFamily="34" charset="-122"/>
                <a:cs typeface="Calibri" pitchFamily="34" charset="-120"/>
              </a:rPr>
              <a:t>Ali Belhrak · CIS 641 · Midterm Status Update</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600" fill="hold" decel="100000"/>
                                        <p:tgtEl>
                                          <p:spTgt spid="2"/>
                                        </p:tgtEl>
                                        <p:attrNameLst>
                                          <p:attrName>ppt_w</p:attrName>
                                        </p:attrNameLst>
                                      </p:cBhvr>
                                      <p:tavLst>
                                        <p:tav tm="0">
                                          <p:val>
                                            <p:strVal val="0"/>
                                          </p:val>
                                        </p:tav>
                                        <p:tav tm="100000">
                                          <p:val>
                                            <p:strVal val="#ppt_w"/>
                                          </p:val>
                                        </p:tav>
                                      </p:tavLst>
                                    </p:anim>
                                    <p:anim calcmode="lin" valueType="num">
                                      <p:cBhvr additive="base">
                                        <p:cTn id="8" dur="600" fill="hold" decel="100000"/>
                                        <p:tgtEl>
                                          <p:spTgt spid="2"/>
                                        </p:tgtEl>
                                        <p:attrNameLst>
                                          <p:attrName>ppt_h</p:attrName>
                                        </p:attrNameLst>
                                      </p:cBhvr>
                                      <p:tavLst>
                                        <p:tav tm="0">
                                          <p:val>
                                            <p:strVal val="0"/>
                                          </p:val>
                                        </p:tav>
                                        <p:tav tm="100000">
                                          <p:val>
                                            <p:strVal val="#ppt_h"/>
                                          </p:val>
                                        </p:tav>
                                      </p:tavLst>
                                    </p:anim>
                                    <p:animEffect transition="in" filter="fade">
                                      <p:cBhvr>
                                        <p:cTn id="9" dur="600"/>
                                        <p:tgtEl>
                                          <p:spTgt spid="2"/>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600" fill="hold" decel="100000"/>
                                        <p:tgtEl>
                                          <p:spTgt spid="3"/>
                                        </p:tgtEl>
                                        <p:attrNameLst>
                                          <p:attrName>ppt_w</p:attrName>
                                        </p:attrNameLst>
                                      </p:cBhvr>
                                      <p:tavLst>
                                        <p:tav tm="0">
                                          <p:val>
                                            <p:strVal val="0"/>
                                          </p:val>
                                        </p:tav>
                                        <p:tav tm="100000">
                                          <p:val>
                                            <p:strVal val="#ppt_w"/>
                                          </p:val>
                                        </p:tav>
                                      </p:tavLst>
                                    </p:anim>
                                    <p:anim calcmode="lin" valueType="num">
                                      <p:cBhvr additive="base">
                                        <p:cTn id="13" dur="600" fill="hold" decel="100000"/>
                                        <p:tgtEl>
                                          <p:spTgt spid="3"/>
                                        </p:tgtEl>
                                        <p:attrNameLst>
                                          <p:attrName>ppt_h</p:attrName>
                                        </p:attrNameLst>
                                      </p:cBhvr>
                                      <p:tavLst>
                                        <p:tav tm="0">
                                          <p:val>
                                            <p:strVal val="0"/>
                                          </p:val>
                                        </p:tav>
                                        <p:tav tm="100000">
                                          <p:val>
                                            <p:strVal val="#ppt_h"/>
                                          </p:val>
                                        </p:tav>
                                      </p:tavLst>
                                    </p:anim>
                                    <p:animEffect transition="in" filter="fade">
                                      <p:cBhvr>
                                        <p:cTn id="14" dur="600"/>
                                        <p:tgtEl>
                                          <p:spTgt spid="3"/>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600" fill="hold" decel="100000"/>
                                        <p:tgtEl>
                                          <p:spTgt spid="4"/>
                                        </p:tgtEl>
                                        <p:attrNameLst>
                                          <p:attrName>ppt_w</p:attrName>
                                        </p:attrNameLst>
                                      </p:cBhvr>
                                      <p:tavLst>
                                        <p:tav tm="0">
                                          <p:val>
                                            <p:strVal val="0"/>
                                          </p:val>
                                        </p:tav>
                                        <p:tav tm="100000">
                                          <p:val>
                                            <p:strVal val="#ppt_w"/>
                                          </p:val>
                                        </p:tav>
                                      </p:tavLst>
                                    </p:anim>
                                    <p:anim calcmode="lin" valueType="num">
                                      <p:cBhvr additive="base">
                                        <p:cTn id="18" dur="600" fill="hold" decel="100000"/>
                                        <p:tgtEl>
                                          <p:spTgt spid="4"/>
                                        </p:tgtEl>
                                        <p:attrNameLst>
                                          <p:attrName>ppt_h</p:attrName>
                                        </p:attrNameLst>
                                      </p:cBhvr>
                                      <p:tavLst>
                                        <p:tav tm="0">
                                          <p:val>
                                            <p:strVal val="0"/>
                                          </p:val>
                                        </p:tav>
                                        <p:tav tm="100000">
                                          <p:val>
                                            <p:strVal val="#ppt_h"/>
                                          </p:val>
                                        </p:tav>
                                      </p:tavLst>
                                    </p:anim>
                                    <p:animEffect transition="in" filter="fade">
                                      <p:cBhvr>
                                        <p:cTn id="19" dur="600"/>
                                        <p:tgtEl>
                                          <p:spTgt spid="4"/>
                                        </p:tgtEl>
                                      </p:cBhvr>
                                    </p:animEffect>
                                  </p:childTnLst>
                                </p:cTn>
                              </p:par>
                              <p:par>
                                <p:cTn id="20" presetID="42" presetClass="entr" presetSubtype="0" fill="hold" grpId="0" nodeType="withEffect">
                                  <p:stCondLst>
                                    <p:cond delay="7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700"/>
                                        <p:tgtEl>
                                          <p:spTgt spid="5"/>
                                        </p:tgtEl>
                                      </p:cBhvr>
                                    </p:animEffect>
                                    <p:anim calcmode="lin" valueType="num">
                                      <p:cBhvr additive="base">
                                        <p:cTn id="23"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24" dur="700" fill="hold" decel="100000"/>
                                        <p:tgtEl>
                                          <p:spTgt spid="5"/>
                                        </p:tgtEl>
                                        <p:attrNameLst>
                                          <p:attrName>ppt_y</p:attrName>
                                        </p:attrNameLst>
                                      </p:cBhvr>
                                      <p:tavLst>
                                        <p:tav tm="0">
                                          <p:val>
                                            <p:strVal val="#ppt_y+.1"/>
                                          </p:val>
                                        </p:tav>
                                        <p:tav tm="100000">
                                          <p:val>
                                            <p:strVal val="#ppt_y"/>
                                          </p:val>
                                        </p:tav>
                                      </p:tavLst>
                                    </p:anim>
                                  </p:childTnLst>
                                </p:cTn>
                              </p:par>
                              <p:par>
                                <p:cTn id="25" presetID="22" presetClass="entr" presetSubtype="8" fill="hold" grpId="0" nodeType="withEffect">
                                  <p:stCondLst>
                                    <p:cond delay="100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par>
                                <p:cTn id="28" presetID="10" presetClass="entr" presetSubtype="0" fill="hold" grpId="0" nodeType="withEffect">
                                  <p:stCondLst>
                                    <p:cond delay="12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00"/>
                                        <p:tgtEl>
                                          <p:spTgt spid="7"/>
                                        </p:tgtEl>
                                      </p:cBhvr>
                                    </p:animEffect>
                                  </p:childTnLst>
                                </p:cTn>
                              </p:par>
                              <p:par>
                                <p:cTn id="31" presetID="10" presetClass="entr" presetSubtype="0" fill="hold" grpId="0" nodeType="withEffect">
                                  <p:stCondLst>
                                    <p:cond delay="1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theme/theme1.xml><?xml version="1.0" encoding="utf-8"?>
<a:theme xmlns:a="http://schemas.openxmlformats.org/drawingml/2006/main" name="AI Study Assistant">
  <a:themeElements>
    <a:clrScheme name="AI Study Assistant">
      <a:dk1>
        <a:srgbClr val="1D2A3A"/>
      </a:dk1>
      <a:lt1>
        <a:srgbClr val="FFFFFF"/>
      </a:lt1>
      <a:dk2>
        <a:srgbClr val="2C4A6E"/>
      </a:dk2>
      <a:lt2>
        <a:srgbClr val="F6F5F1"/>
      </a:lt2>
      <a:accent1>
        <a:srgbClr val="2E6AA8"/>
      </a:accent1>
      <a:accent2>
        <a:srgbClr val="C8662F"/>
      </a:accent2>
      <a:accent3>
        <a:srgbClr val="F2B36B"/>
      </a:accent3>
      <a:accent4>
        <a:srgbClr val="8FB8E3"/>
      </a:accent4>
      <a:accent5>
        <a:srgbClr val="4A5568"/>
      </a:accent5>
      <a:accent6>
        <a:srgbClr val="3E6C9E"/>
      </a:accent6>
      <a:hlink>
        <a:srgbClr val="2E6AA8"/>
      </a:hlink>
      <a:folHlink>
        <a:srgbClr val="6B4C9A"/>
      </a:folHlink>
    </a:clrScheme>
    <a:fontScheme name="AI Study Assista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Study Assistant Midterm</dc:title>
  <dc:subject>PptxGenJS Presentation</dc:subject>
  <dc:creator>Ali Belhrak</dc:creator>
  <cp:lastModifiedBy>Ali Belhrak</cp:lastModifiedBy>
  <cp:revision>1</cp:revision>
  <dcterms:created xsi:type="dcterms:W3CDTF">2026-10-28T21:26:51Z</dcterms:created>
  <dcterms:modified xsi:type="dcterms:W3CDTF">2026-10-28T21:26:51Z</dcterms:modified>
</cp:coreProperties>
</file>